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f43014f591a4967" /><Relationship Type="http://schemas.openxmlformats.org/officeDocument/2006/relationships/extended-properties" Target="/docProps/app.xml" Id="Re050fef26c034226" /><Relationship Type="http://schemas.openxmlformats.org/officeDocument/2006/relationships/officeDocument" Target="/ppt/presentation.xml" Id="R3dce4bc8a0244464" /></Relationships>
</file>

<file path=ppt/presentation.xml><?xml version="1.0" encoding="utf-8"?>
<p:presentation xmlns:p="http://schemas.openxmlformats.org/presentationml/2006/main">
  <p:sldMasterIdLst>
    <p:sldMasterId xmlns:r="http://schemas.openxmlformats.org/officeDocument/2006/relationships" id="2147483648" r:id="R30a9035f00cf4255"/>
  </p:sldMasterIdLst>
  <p:notesMasterIdLst>
    <p:notesMasterId xmlns:r="http://schemas.openxmlformats.org/officeDocument/2006/relationships" r:id="R5fcef44a91dc46a4"/>
  </p:notesMasterIdLst>
  <p:sldIdLst>
    <p:sldId xmlns:r="http://schemas.openxmlformats.org/officeDocument/2006/relationships" id="256" r:id="R930f5697c954487f"/>
    <p:sldId xmlns:r="http://schemas.openxmlformats.org/officeDocument/2006/relationships" id="257" r:id="Rb45bcf981cf64335"/>
    <p:sldId xmlns:r="http://schemas.openxmlformats.org/officeDocument/2006/relationships" id="258" r:id="R5b0f4160e76243fb"/>
    <p:sldId xmlns:r="http://schemas.openxmlformats.org/officeDocument/2006/relationships" id="259" r:id="R196111256915493f"/>
    <p:sldId xmlns:r="http://schemas.openxmlformats.org/officeDocument/2006/relationships" id="260" r:id="R91785c85f28c4be8"/>
    <p:sldId xmlns:r="http://schemas.openxmlformats.org/officeDocument/2006/relationships" id="261" r:id="R2de13a6772db4c38"/>
    <p:sldId xmlns:r="http://schemas.openxmlformats.org/officeDocument/2006/relationships" id="262" r:id="R0df661878b7a44ac"/>
    <p:sldId xmlns:r="http://schemas.openxmlformats.org/officeDocument/2006/relationships" id="263" r:id="Re99292228dcf4eb1"/>
    <p:sldId xmlns:r="http://schemas.openxmlformats.org/officeDocument/2006/relationships" id="264" r:id="R710028ce27a94dbc"/>
    <p:sldId xmlns:r="http://schemas.openxmlformats.org/officeDocument/2006/relationships" id="265" r:id="Rfd1d62d02ee14a32"/>
    <p:sldId xmlns:r="http://schemas.openxmlformats.org/officeDocument/2006/relationships" id="266" r:id="Rf3b77074d6904c64"/>
    <p:sldId xmlns:r="http://schemas.openxmlformats.org/officeDocument/2006/relationships" id="267" r:id="Rf2d2a38a489b4d91"/>
    <p:sldId xmlns:r="http://schemas.openxmlformats.org/officeDocument/2006/relationships" id="268" r:id="R84bcf647bf7349d1"/>
    <p:sldId xmlns:r="http://schemas.openxmlformats.org/officeDocument/2006/relationships" id="269" r:id="R5847742e93564e47"/>
    <p:sldId xmlns:r="http://schemas.openxmlformats.org/officeDocument/2006/relationships" id="270" r:id="R03009728fec14811"/>
    <p:sldId xmlns:r="http://schemas.openxmlformats.org/officeDocument/2006/relationships" id="271" r:id="Rdca537b3c00d4c59"/>
    <p:sldId xmlns:r="http://schemas.openxmlformats.org/officeDocument/2006/relationships" id="272" r:id="R4fd435f2d3044394"/>
    <p:sldId xmlns:r="http://schemas.openxmlformats.org/officeDocument/2006/relationships" id="273" r:id="R2d9a1dbb6fad427a"/>
    <p:sldId xmlns:r="http://schemas.openxmlformats.org/officeDocument/2006/relationships" id="274" r:id="Rcc0226df4ac746bd"/>
    <p:sldId xmlns:r="http://schemas.openxmlformats.org/officeDocument/2006/relationships" id="275" r:id="R600c838f7f554f65"/>
    <p:sldId xmlns:r="http://schemas.openxmlformats.org/officeDocument/2006/relationships" id="276" r:id="Rab0d02e2374f425c"/>
    <p:sldId xmlns:r="http://schemas.openxmlformats.org/officeDocument/2006/relationships" id="277" r:id="R9c87692bb9dd4649"/>
    <p:sldId xmlns:r="http://schemas.openxmlformats.org/officeDocument/2006/relationships" id="278" r:id="Ra9aa16ee21bd4e97"/>
    <p:sldId xmlns:r="http://schemas.openxmlformats.org/officeDocument/2006/relationships" id="279" r:id="R08c9fee64e8e498f"/>
    <p:sldId xmlns:r="http://schemas.openxmlformats.org/officeDocument/2006/relationships" id="280" r:id="Rd7f26a45e20048d2"/>
    <p:sldId xmlns:r="http://schemas.openxmlformats.org/officeDocument/2006/relationships" id="281" r:id="Rac225b8ac4b846dc"/>
    <p:sldId xmlns:r="http://schemas.openxmlformats.org/officeDocument/2006/relationships" id="282" r:id="R73965398f3d44624"/>
    <p:sldId xmlns:r="http://schemas.openxmlformats.org/officeDocument/2006/relationships" id="283" r:id="R1af5a3f8fa9e4980"/>
    <p:sldId xmlns:r="http://schemas.openxmlformats.org/officeDocument/2006/relationships" id="284" r:id="R99f9f80a184e4168"/>
    <p:sldId xmlns:r="http://schemas.openxmlformats.org/officeDocument/2006/relationships" id="285" r:id="R9cdf184ff93143f1"/>
    <p:sldId xmlns:r="http://schemas.openxmlformats.org/officeDocument/2006/relationships" id="286" r:id="R093a6b833c6444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bfd7c9ad9e4d71" /><Relationship Type="http://schemas.openxmlformats.org/officeDocument/2006/relationships/slideMaster" Target="/ppt/slideMasters/slideMaster1.xml" Id="R30a9035f00cf4255" /><Relationship Type="http://schemas.openxmlformats.org/officeDocument/2006/relationships/notesMaster" Target="/ppt/notesMasters/notesMaster1.xml" Id="R5fcef44a91dc46a4" /><Relationship Type="http://schemas.openxmlformats.org/officeDocument/2006/relationships/presProps" Target="/ppt/presProps.xml" Id="R62b8ea04d2bc48bc" /><Relationship Type="http://schemas.openxmlformats.org/officeDocument/2006/relationships/tableStyles" Target="/ppt/tableStyles.xml" Id="R946e5e7d0bd04ecc" /><Relationship Type="http://schemas.openxmlformats.org/officeDocument/2006/relationships/slide" Target="/ppt/slides/slide1.xml" Id="R930f5697c954487f" /><Relationship Type="http://schemas.openxmlformats.org/officeDocument/2006/relationships/slide" Target="/ppt/slides/slide2.xml" Id="Rb45bcf981cf64335" /><Relationship Type="http://schemas.openxmlformats.org/officeDocument/2006/relationships/slide" Target="/ppt/slides/slide3.xml" Id="R5b0f4160e76243fb" /><Relationship Type="http://schemas.openxmlformats.org/officeDocument/2006/relationships/slide" Target="/ppt/slides/slide4.xml" Id="R196111256915493f" /><Relationship Type="http://schemas.openxmlformats.org/officeDocument/2006/relationships/slide" Target="/ppt/slides/slide5.xml" Id="R91785c85f28c4be8" /><Relationship Type="http://schemas.openxmlformats.org/officeDocument/2006/relationships/slide" Target="/ppt/slides/slide6.xml" Id="R2de13a6772db4c38" /><Relationship Type="http://schemas.openxmlformats.org/officeDocument/2006/relationships/slide" Target="/ppt/slides/slide7.xml" Id="R0df661878b7a44ac" /><Relationship Type="http://schemas.openxmlformats.org/officeDocument/2006/relationships/slide" Target="/ppt/slides/slide8.xml" Id="Re99292228dcf4eb1" /><Relationship Type="http://schemas.openxmlformats.org/officeDocument/2006/relationships/slide" Target="/ppt/slides/slide9.xml" Id="R710028ce27a94dbc" /><Relationship Type="http://schemas.openxmlformats.org/officeDocument/2006/relationships/slide" Target="/ppt/slides/slide10.xml" Id="Rfd1d62d02ee14a32" /><Relationship Type="http://schemas.openxmlformats.org/officeDocument/2006/relationships/slide" Target="/ppt/slides/slide11.xml" Id="Rf3b77074d6904c64" /><Relationship Type="http://schemas.openxmlformats.org/officeDocument/2006/relationships/slide" Target="/ppt/slides/slide12.xml" Id="Rf2d2a38a489b4d91" /><Relationship Type="http://schemas.openxmlformats.org/officeDocument/2006/relationships/slide" Target="/ppt/slides/slide13.xml" Id="R84bcf647bf7349d1" /><Relationship Type="http://schemas.openxmlformats.org/officeDocument/2006/relationships/slide" Target="/ppt/slides/slide14.xml" Id="R5847742e93564e47" /><Relationship Type="http://schemas.openxmlformats.org/officeDocument/2006/relationships/slide" Target="/ppt/slides/slide15.xml" Id="R03009728fec14811" /><Relationship Type="http://schemas.openxmlformats.org/officeDocument/2006/relationships/slide" Target="/ppt/slides/slide16.xml" Id="Rdca537b3c00d4c59" /><Relationship Type="http://schemas.openxmlformats.org/officeDocument/2006/relationships/slide" Target="/ppt/slides/slide17.xml" Id="R4fd435f2d3044394" /><Relationship Type="http://schemas.openxmlformats.org/officeDocument/2006/relationships/slide" Target="/ppt/slides/slide18.xml" Id="R2d9a1dbb6fad427a" /><Relationship Type="http://schemas.openxmlformats.org/officeDocument/2006/relationships/slide" Target="/ppt/slides/slide19.xml" Id="Rcc0226df4ac746bd" /><Relationship Type="http://schemas.openxmlformats.org/officeDocument/2006/relationships/slide" Target="/ppt/slides/slide20.xml" Id="R600c838f7f554f65" /><Relationship Type="http://schemas.openxmlformats.org/officeDocument/2006/relationships/slide" Target="/ppt/slides/slide21.xml" Id="Rab0d02e2374f425c" /><Relationship Type="http://schemas.openxmlformats.org/officeDocument/2006/relationships/slide" Target="/ppt/slides/slide22.xml" Id="R9c87692bb9dd4649" /><Relationship Type="http://schemas.openxmlformats.org/officeDocument/2006/relationships/slide" Target="/ppt/slides/slide23.xml" Id="Ra9aa16ee21bd4e97" /><Relationship Type="http://schemas.openxmlformats.org/officeDocument/2006/relationships/slide" Target="/ppt/slides/slide24.xml" Id="R08c9fee64e8e498f" /><Relationship Type="http://schemas.openxmlformats.org/officeDocument/2006/relationships/slide" Target="/ppt/slides/slide25.xml" Id="Rd7f26a45e20048d2" /><Relationship Type="http://schemas.openxmlformats.org/officeDocument/2006/relationships/slide" Target="/ppt/slides/slide26.xml" Id="Rac225b8ac4b846dc" /><Relationship Type="http://schemas.openxmlformats.org/officeDocument/2006/relationships/slide" Target="/ppt/slides/slide27.xml" Id="R73965398f3d44624" /><Relationship Type="http://schemas.openxmlformats.org/officeDocument/2006/relationships/slide" Target="/ppt/slides/slide28.xml" Id="R1af5a3f8fa9e4980" /><Relationship Type="http://schemas.openxmlformats.org/officeDocument/2006/relationships/slide" Target="/ppt/slides/slide29.xml" Id="R99f9f80a184e4168" /><Relationship Type="http://schemas.openxmlformats.org/officeDocument/2006/relationships/slide" Target="/ppt/slides/slide30.xml" Id="R9cdf184ff93143f1" /><Relationship Type="http://schemas.openxmlformats.org/officeDocument/2006/relationships/slide" Target="/ppt/slides/slide31.xml" Id="R093a6b833c6444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104fbc442140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132c2fd82b426f" /><Relationship Type="http://schemas.openxmlformats.org/officeDocument/2006/relationships/notesMaster" Target="/ppt/notesMasters/notesMaster1.xml" Id="Re139d128533140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a8ef4246504ed2" /><Relationship Type="http://schemas.openxmlformats.org/officeDocument/2006/relationships/notesMaster" Target="/ppt/notesMasters/notesMaster1.xml" Id="R3e723fbbac2c49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0d4738f9d24cca" /><Relationship Type="http://schemas.openxmlformats.org/officeDocument/2006/relationships/notesMaster" Target="/ppt/notesMasters/notesMaster1.xml" Id="R46bc5008540141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da4a4da7034588" /><Relationship Type="http://schemas.openxmlformats.org/officeDocument/2006/relationships/notesMaster" Target="/ppt/notesMasters/notesMaster1.xml" Id="R98daf222c8124b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843e80f73d4128" /><Relationship Type="http://schemas.openxmlformats.org/officeDocument/2006/relationships/notesMaster" Target="/ppt/notesMasters/notesMaster1.xml" Id="R97b68c45da2a41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3aa4a8283f4bbf" /><Relationship Type="http://schemas.openxmlformats.org/officeDocument/2006/relationships/notesMaster" Target="/ppt/notesMasters/notesMaster1.xml" Id="Rd6197586f61a4e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924d8f70b940ee" /><Relationship Type="http://schemas.openxmlformats.org/officeDocument/2006/relationships/notesMaster" Target="/ppt/notesMasters/notesMaster1.xml" Id="R31297ac1e6e14d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61faa504044eec" /><Relationship Type="http://schemas.openxmlformats.org/officeDocument/2006/relationships/notesMaster" Target="/ppt/notesMasters/notesMaster1.xml" Id="R0003f731a65a4d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fd4be9e6704433" /><Relationship Type="http://schemas.openxmlformats.org/officeDocument/2006/relationships/notesMaster" Target="/ppt/notesMasters/notesMaster1.xml" Id="R4fb9a6b747a444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1febada7244a08" /><Relationship Type="http://schemas.openxmlformats.org/officeDocument/2006/relationships/notesMaster" Target="/ppt/notesMasters/notesMaster1.xml" Id="R130c079af1d541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23049f3a754a2c" /><Relationship Type="http://schemas.openxmlformats.org/officeDocument/2006/relationships/notesMaster" Target="/ppt/notesMasters/notesMaster1.xml" Id="Rfcfb8c46cede4e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2622053f19419d" /><Relationship Type="http://schemas.openxmlformats.org/officeDocument/2006/relationships/notesMaster" Target="/ppt/notesMasters/notesMaster1.xml" Id="R7ba1dde1f4ec46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c08c698e944101" /><Relationship Type="http://schemas.openxmlformats.org/officeDocument/2006/relationships/notesMaster" Target="/ppt/notesMasters/notesMaster1.xml" Id="R9c457a2fa3504bb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525971fc6e4d14" /><Relationship Type="http://schemas.openxmlformats.org/officeDocument/2006/relationships/notesMaster" Target="/ppt/notesMasters/notesMaster1.xml" Id="R3fd4fe923c9f4f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58757eaa5a455b" /><Relationship Type="http://schemas.openxmlformats.org/officeDocument/2006/relationships/notesMaster" Target="/ppt/notesMasters/notesMaster1.xml" Id="Rd0be7783922b47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b43f7f89b8452c" /><Relationship Type="http://schemas.openxmlformats.org/officeDocument/2006/relationships/notesMaster" Target="/ppt/notesMasters/notesMaster1.xml" Id="R60d7ff8af3b140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1892394ab04635" /><Relationship Type="http://schemas.openxmlformats.org/officeDocument/2006/relationships/notesMaster" Target="/ppt/notesMasters/notesMaster1.xml" Id="R8217808ee28f49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8ba81f1bf84948" /><Relationship Type="http://schemas.openxmlformats.org/officeDocument/2006/relationships/notesMaster" Target="/ppt/notesMasters/notesMaster1.xml" Id="Re646aa3cce2240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dfcd067b6540c7" /><Relationship Type="http://schemas.openxmlformats.org/officeDocument/2006/relationships/notesMaster" Target="/ppt/notesMasters/notesMaster1.xml" Id="R635d7186756c45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a625ea386a4f15" /><Relationship Type="http://schemas.openxmlformats.org/officeDocument/2006/relationships/notesMaster" Target="/ppt/notesMasters/notesMaster1.xml" Id="R040a541dc45d420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4b024dd13aa4516" /><Relationship Type="http://schemas.openxmlformats.org/officeDocument/2006/relationships/notesMaster" Target="/ppt/notesMasters/notesMaster1.xml" Id="R55d7350c49934f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be0b910957241c7" /><Relationship Type="http://schemas.openxmlformats.org/officeDocument/2006/relationships/notesMaster" Target="/ppt/notesMasters/notesMaster1.xml" Id="Ree5cbce409e4410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d9c92518564425f" /><Relationship Type="http://schemas.openxmlformats.org/officeDocument/2006/relationships/notesMaster" Target="/ppt/notesMasters/notesMaster1.xml" Id="R4393c7fdba6a4f7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58b659fac2946ff" /><Relationship Type="http://schemas.openxmlformats.org/officeDocument/2006/relationships/notesMaster" Target="/ppt/notesMasters/notesMaster1.xml" Id="R6edef1d36d8040a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db5ee5376cb4d7d" /><Relationship Type="http://schemas.openxmlformats.org/officeDocument/2006/relationships/notesMaster" Target="/ppt/notesMasters/notesMaster1.xml" Id="R7236d29dae054d0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c0c7e4ef484b90" /><Relationship Type="http://schemas.openxmlformats.org/officeDocument/2006/relationships/notesMaster" Target="/ppt/notesMasters/notesMaster1.xml" Id="R308f3cc3d5bf45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ec2ad11016e41fb" /><Relationship Type="http://schemas.openxmlformats.org/officeDocument/2006/relationships/notesMaster" Target="/ppt/notesMasters/notesMaster1.xml" Id="Rc6f4232c618b4ae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36f04ee71234e99" /><Relationship Type="http://schemas.openxmlformats.org/officeDocument/2006/relationships/notesMaster" Target="/ppt/notesMasters/notesMaster1.xml" Id="Ra9c5600f2b494b2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d1ee3fe41f441f7" /><Relationship Type="http://schemas.openxmlformats.org/officeDocument/2006/relationships/notesMaster" Target="/ppt/notesMasters/notesMaster1.xml" Id="R014a4fc4e62c430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a7961ee5d1147da" /><Relationship Type="http://schemas.openxmlformats.org/officeDocument/2006/relationships/notesMaster" Target="/ppt/notesMasters/notesMaster1.xml" Id="R137a6b00651f486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0fcf257d5274f72" /><Relationship Type="http://schemas.openxmlformats.org/officeDocument/2006/relationships/notesMaster" Target="/ppt/notesMasters/notesMaster1.xml" Id="Rbea13a30973549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author, degree and supervisors exactly as stated in the thesis title-page settings.</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/Users/anighot/Documents/Thesis_New/conformal-prediction-thesis/thesis_latex/TeXFiles/000_Settings.tex</a:t>
            </a:r>
          </a:p>
          <a:p xmlns:a="http://schemas.openxmlformats.org/drawingml/2006/main">
            <a:r>
              <a:t>/Users/anighot/Documents/Thesis_New/conformal-prediction-thesis/thesis_latex/TeXFiles/001_Titlepage.tex</a:t>
            </a:r>
          </a:p>
          <a:p xmlns:a="http://schemas.openxmlformats.org/drawingml/2006/main">
            <a:r>
              <a:t/>
            </a:r>
          </a:p>
          <a:p xmlns:a="http://schemas.openxmlformats.org/drawingml/2006/main">
            <a:r>
              <a:t>Verification: Title, author, degree, faculty and supervisor names match the saved LaTeX settings. No defence date is invented.</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motivation concerns reconstruction at one observed option surface. The GNO is the existing point predictor. The conformal layer supplies uncertainty around those predictions.</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/Users/anighot/Documents/Thesis_New/conformal-prediction-thesis/thesis_latex/TeXFiles/020_Introduction.tex</a:t>
            </a:r>
          </a:p>
          <a:p xmlns:a="http://schemas.openxmlformats.org/drawingml/2006/main">
            <a:r>
              <a:t>/Users/anighot/Documents/Thesis_New/conformal-prediction-thesis/Neural_Operator_Implied_Volatility.pdf</a:t>
            </a:r>
          </a:p>
          <a:p xmlns:a="http://schemas.openxmlformats.org/drawingml/2006/main">
            <a:r>
              <a:t>https://arxiv.org/abs/2406.11520v1</a:t>
            </a:r>
          </a:p>
          <a:p xmlns:a="http://schemas.openxmlformats.org/drawingml/2006/main">
            <a:r>
              <a:t/>
            </a:r>
          </a:p>
          <a:p xmlns:a="http://schemas.openxmlformats.org/drawingml/2006/main">
            <a:r>
              <a:t>Verification: The GNO paper describes irregular observations, changing spatial configurations and single-evaluation smoothing. No runtime benchmark is claimed.</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picture uses the Prediction trace from the final saved surface_15_interactive.html, whose title identifies 3 March 2026. rho=sqrt(tau), k=log(K/F), z=k/rho. The current files provide date-only collection and expiry fields, so tau equals calendar days divided by 365. F is estimated from put-call parity. The 3D image is a scientific plot of the saved 30 by 30 grid, not a new experimental run.</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/Users/anighot/Documents/Thesis_New/conformal-prediction-thesis/thesis_latex/TeXFiles/050_Methodology.tex</a:t>
            </a:r>
          </a:p>
          <a:p xmlns:a="http://schemas.openxmlformats.org/drawingml/2006/main">
            <a:r>
              <a:t>/Users/anighot/Documents/Thesis_New/conformal-prediction-thesis/thesis_latex/TeXFiles/060_Implementation.tex</a:t>
            </a:r>
          </a:p>
          <a:p xmlns:a="http://schemas.openxmlformats.org/drawingml/2006/main">
            <a:r>
              <a:t>/Users/anighot/Documents/Thesis_New/conformal-prediction-thesis/volatility_smoothing/conformal/notebooks/conformal_prediction.ipynb (cell 18)</a:t>
            </a:r>
          </a:p>
          <a:p xmlns:a="http://schemas.openxmlformats.org/drawingml/2006/main">
            <a:r>
              <a:t>/Users/anighot/Documents/Thesis_New/conformal-prediction-thesis/volatility_smoothing/visualizations/surface_15_interactive.html</a:t>
            </a:r>
          </a:p>
          <a:p xmlns:a="http://schemas.openxmlformats.org/drawingml/2006/main">
            <a:r>
              <a:t/>
            </a:r>
          </a:p>
          <a:p xmlns:a="http://schemas.openxmlformats.org/drawingml/2006/main">
            <a:r>
              <a:t>Verification: Replaced the stale 29 January image with the current saved grid. Axis arrays, positive finite values and collection-date label checked directly.</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research question shown on the slide. Reconstruction-error heterogeneity is visible in the spatial results. This study measures contemporaneous reconstruction uncertainty, with a fixed pretrained model.</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/Users/anighot/Documents/Thesis_New/conformal-prediction-thesis/thesis_latex/TeXFiles/020_Introduction.tex</a:t>
            </a:r>
          </a:p>
          <a:p xmlns:a="http://schemas.openxmlformats.org/drawingml/2006/main">
            <a:r>
              <a:t>/Users/anighot/Documents/Thesis_New/conformal-prediction-thesis/thesis_latex/TeXFiles/070_ExperimentsResults.tex</a:t>
            </a:r>
          </a:p>
          <a:p xmlns:a="http://schemas.openxmlformats.org/drawingml/2006/main">
            <a:r>
              <a:t/>
            </a:r>
          </a:p>
          <a:p xmlns:a="http://schemas.openxmlformats.org/drawingml/2006/main">
            <a:r>
              <a:t>Verification: No causal attribution to liquidity is made because the experiment does not identify causes of regional errors.</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implemented research objectives. The final thesis narrows the proposed no-arbitrage projection to the implemented fixed-k calendar and total-variance convexity constraints, consistent with the professor’s clarification route.</a:t>
            </a:r>
          </a:p>
          <a:p xmlns:a="http://schemas.openxmlformats.org/drawingml/2006/main">
            <a:r>
              <a:t/>
            </a:r>
          </a:p>
          <a:p xmlns:a="http://schemas.openxmlformats.org/drawingml/2006/main">
            <a:r>
              <a:t>Verified sources:</a:t>
            </a:r>
          </a:p>
          <a:p xmlns:a="http://schemas.openxmlformats.org/drawingml/2006/main">
            <a:r>
              <a:t>/Users/anighot/Documents/Thesis_New/conformal-prediction-thesis/Exposee_conformal_prediction.pdf</a:t>
            </a:r>
          </a:p>
          <a:p xmlns:a="http://schemas.openxmlformats.org/drawingml/2006/main">
            <a:r>
              <a:t>/Users/anighot/Documents/Thesis_New/conformal-prediction-thesis/thesis_latex/TeXFiles/050_Methodology.tex</a:t>
            </a:r>
          </a:p>
          <a:p xmlns:a="http://schemas.openxmlformats.org/drawingml/2006/main">
            <a:r>
              <a:t>/Users/anighot/Documents/Thesis_New/conformal-prediction-thesis/thesis_latex/TeXFiles/090_Conclusion.tex</a:t>
            </a:r>
          </a:p>
          <a:p xmlns:a="http://schemas.openxmlformats.org/drawingml/2006/main">
            <a:r>
              <a:t/>
            </a:r>
          </a:p>
          <a:p xmlns:a="http://schemas.openxmlformats.org/drawingml/2006/main">
            <a:r>
              <a:t>Verification: The slide uses total-variance convexity terminology rather than the old discrete butterfly label.</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existing GNO contribution from the thesis contribution. The experiment loads train/store/9448705/checkpoints/checkpoint_final.pt, sets inference mode and does not retrain it.</a:t>
            </a:r>
          </a:p>
          <a:p xmlns:a="http://schemas.openxmlformats.org/drawingml/2006/main">
            <a:r>
              <a:t/>
            </a:r>
          </a:p>
          <a:p xmlns:a="http://schemas.openxmlformats.org/drawingml/2006/main">
            <a:r>
              <a:t>Verified sources:</a:t>
            </a:r>
          </a:p>
          <a:p xmlns:a="http://schemas.openxmlformats.org/drawingml/2006/main">
            <a:r>
              <a:t>https://arxiv.org/abs/2406.11520v1</a:t>
            </a:r>
          </a:p>
          <a:p xmlns:a="http://schemas.openxmlformats.org/drawingml/2006/main">
            <a:r>
              <a:t>/Users/anighot/Documents/Thesis_New/conformal-prediction-thesis/thesis_latex/TeXFiles/060_Implementation.tex</a:t>
            </a:r>
          </a:p>
          <a:p xmlns:a="http://schemas.openxmlformats.org/drawingml/2006/main">
            <a:r>
              <a:t>/Users/anighot/Documents/Thesis_New/conformal-prediction-thesis/thesis_latex/TeXFiles/070_ExperimentsResults.tex</a:t>
            </a:r>
          </a:p>
          <a:p xmlns:a="http://schemas.openxmlformats.org/drawingml/2006/main">
            <a:r>
              <a:t>/Users/anighot/Documents/Thesis_New/conformal-prediction-thesis/volatility_smoothing/conformal/notebooks/conformal_prediction.ipynb (cells 4, 11)</a:t>
            </a:r>
          </a:p>
          <a:p xmlns:a="http://schemas.openxmlformats.org/drawingml/2006/main">
            <a:r>
              <a:t/>
            </a:r>
          </a:p>
          <a:p xmlns:a="http://schemas.openxmlformats.org/drawingml/2006/main">
            <a:r>
              <a:t>Verification: Model count 102,529 appears in executed notebook cell 11. The checkpoint and inference-only workflow match the code.</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standard split-conformal statement is marginal over exchangeable calibration and new scores. Exchangeability is a distributional symmetry, stronger than chronological ordering. It is not established for these dependent SPX observations. Shrinkage and post-processing also prevent interpreting the final pipeline as an unchanged standard conformal set. No exact temporal, region-conditional or simultaneous full-surface guarantee is claimed.</a:t>
            </a:r>
          </a:p>
          <a:p xmlns:a="http://schemas.openxmlformats.org/drawingml/2006/main">
            <a:r>
              <a:t/>
            </a:r>
          </a:p>
          <a:p xmlns:a="http://schemas.openxmlformats.org/drawingml/2006/main">
            <a:r>
              <a:t>Verified sources:</a:t>
            </a:r>
          </a:p>
          <a:p xmlns:a="http://schemas.openxmlformats.org/drawingml/2006/main">
            <a:r>
              <a:t>https://arxiv.org/abs/2107.07511</a:t>
            </a:r>
          </a:p>
          <a:p xmlns:a="http://schemas.openxmlformats.org/drawingml/2006/main">
            <a:r>
              <a:t>https://arxiv.org/abs/2202.13415</a:t>
            </a:r>
          </a:p>
          <a:p xmlns:a="http://schemas.openxmlformats.org/drawingml/2006/main">
            <a:r>
              <a:t>/Users/anighot/Documents/Thesis_New/conformal-prediction-thesis/thesis_latex/TeXFiles/050_Methodology.tex</a:t>
            </a:r>
          </a:p>
          <a:p xmlns:a="http://schemas.openxmlformats.org/drawingml/2006/main">
            <a:r>
              <a:t>/Users/anighot/Documents/Thesis_New/conformal-prediction-thesis/thesis_latex/TeXFiles/080_AnalysisDiscussion.tex</a:t>
            </a:r>
          </a:p>
          <a:p xmlns:a="http://schemas.openxmlformats.org/drawingml/2006/main">
            <a:r>
              <a:t/>
            </a:r>
          </a:p>
          <a:p xmlns:a="http://schemas.openxmlformats.org/drawingml/2006/main">
            <a:r>
              <a:t>Verification: The theoretical statement is explicitly distinguished from the empirical 90% target and the actual adapted pipeline.</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WRDSOptionsDataset name describes the compatible file schema. OpenBB/Cboe supplied the observations. Ten excluded file labels comprise eight weekend dates and the two holiday dates listed in the saved configuration. The final retained dates are irregular, not a complete daily time series.</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/Users/anighot/Documents/Thesis_New/conformal-prediction-thesis/thesis_latex/TeXFiles/060_Implementation.tex</a:t>
            </a:r>
          </a:p>
          <a:p xmlns:a="http://schemas.openxmlformats.org/drawingml/2006/main">
            <a:r>
              <a:t>/Users/anighot/Documents/Thesis_New/conformal-prediction-thesis/volatility_smoothing/conformal/notebooks/conformal_prediction.ipynb (cells 4, 10, 13)</a:t>
            </a:r>
          </a:p>
          <a:p xmlns:a="http://schemas.openxmlformats.org/drawingml/2006/main">
            <a:r>
              <a:t/>
            </a:r>
          </a:p>
          <a:p xmlns:a="http://schemas.openxmlformats.org/drawingml/2006/main">
            <a:r>
              <a:t>Verification: 56 minus 10 equals 46. 15 plus 31 equals 46. All period endpoints match the executed notebook.</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deterministic split uses seed 2026 plus surface index and a fixed 4 by 4 coordinate partition. Rounding and singleton bins make 80/20 approximate. Only context IVs enter the GNO. Target coordinates are query inputs, while target labels determine subsequent residuals and empirical coverage. The chronological window update prevents the current target labels entering their own calibration threshold.</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/Users/anighot/Documents/Thesis_New/conformal-prediction-thesis/volatility_smoothing/conformal/evaluation.py</a:t>
            </a:r>
          </a:p>
          <a:p xmlns:a="http://schemas.openxmlformats.org/drawingml/2006/main">
            <a:r>
              <a:t>/Users/anighot/Documents/Thesis_New/conformal-prediction-thesis/volatility_smoothing/conformal/notebooks/conformal_prediction.ipynb (cells 4, 6, 8, 13)</a:t>
            </a:r>
          </a:p>
          <a:p xmlns:a="http://schemas.openxmlformats.org/drawingml/2006/main">
            <a:r>
              <a:t>/Users/anighot/Documents/Thesis_New/conformal-prediction-thesis/thesis_latex/TeXFiles/070_ExperimentsResults.tex</a:t>
            </a:r>
          </a:p>
          <a:p xmlns:a="http://schemas.openxmlformats.org/drawingml/2006/main">
            <a:r>
              <a:t>/Users/anighot/Documents/Thesis_New/conformal-prediction-thesis/output/score_b_spatial_bins.csv</a:t>
            </a:r>
          </a:p>
          <a:p xmlns:a="http://schemas.openxmlformats.org/drawingml/2006/main">
            <a:r>
              <a:t/>
            </a:r>
          </a:p>
          <a:p xmlns:a="http://schemas.openxmlformats.org/drawingml/2006/main">
            <a:r>
              <a:t>Verification: The spatial CSV populations sum to 65,791. The notebook adds scores after recording each evaluation result.</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Vega weight abbreviates a numerical denominator floor: mean V is floored at 1e-12 in code. For calibration and band construction, the shared helper evaluates V only at predicted IV. The market IV enters Score B only through its residual. Score A uses dollar prices reconstructed from the stored market IV and model IV with the same forward and discount factor. It is not a direct bid-ask containment measure.</a:t>
            </a:r>
          </a:p>
          <a:p xmlns:a="http://schemas.openxmlformats.org/drawingml/2006/main">
            <a:r>
              <a:t/>
            </a:r>
          </a:p>
          <a:p xmlns:a="http://schemas.openxmlformats.org/drawingml/2006/main">
            <a:r>
              <a:t>Verified sources:</a:t>
            </a:r>
          </a:p>
          <a:p xmlns:a="http://schemas.openxmlformats.org/drawingml/2006/main">
            <a:r>
              <a:t>/Users/anighot/Documents/Thesis_New/conformal-prediction-thesis/Exposee_conformal_prediction.pdf</a:t>
            </a:r>
          </a:p>
          <a:p xmlns:a="http://schemas.openxmlformats.org/drawingml/2006/main">
            <a:r>
              <a:t>/Users/anighot/Documents/Thesis_New/conformal-prediction-thesis/thesis_latex/TeXFiles/050_Methodology.tex</a:t>
            </a:r>
          </a:p>
          <a:p xmlns:a="http://schemas.openxmlformats.org/drawingml/2006/main">
            <a:r>
              <a:t>/Users/anighot/Documents/Thesis_New/conformal-prediction-thesis/volatility_smoothing/conformal/nonconformity_scores.py</a:t>
            </a:r>
          </a:p>
          <a:p xmlns:a="http://schemas.openxmlformats.org/drawingml/2006/main">
            <a:r>
              <a:t/>
            </a:r>
          </a:p>
          <a:p xmlns:a="http://schemas.openxmlformats.org/drawingml/2006/main">
            <a:r>
              <a:t>Verification: Both score formulas match compute_scores_from_data and the shared prediction_vega_weights implementation. Spread units are dollars.</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experiment uses ExactOrderStatisticMondrian from the notebook. The window counts available observations rather than consecutive days. With n scores, rank r=ceil((n+1)(1-alpha)) selects the rth smallest score if r&lt;=n, otherwise an infinite threshold. For bins with at least ten scores, 30% global and 70% raw local thresholds produce the applied threshold. Shrinkage is an empirical regularisation, not an exact conditional-coverage theorem.</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/Users/anighot/Documents/Thesis_New/conformal-prediction-thesis/volatility_smoothing/conformal/notebooks/conformal_prediction.ipynb (cells 4, 6, 8)</a:t>
            </a:r>
          </a:p>
          <a:p xmlns:a="http://schemas.openxmlformats.org/drawingml/2006/main">
            <a:r>
              <a:t>/Users/anighot/Documents/Thesis_New/conformal-prediction-thesis/thesis_latex/TeXFiles/050_Methodology.tex</a:t>
            </a:r>
          </a:p>
          <a:p xmlns:a="http://schemas.openxmlformats.org/drawingml/2006/main">
            <a:r>
              <a:t>/Users/anighot/Documents/Thesis_New/conformal-prediction-thesis/thesis_latex/TeXFiles/060_Implementation.tex</a:t>
            </a:r>
          </a:p>
          <a:p xmlns:a="http://schemas.openxmlformats.org/drawingml/2006/main">
            <a:r>
              <a:t/>
            </a:r>
          </a:p>
          <a:p xmlns:a="http://schemas.openxmlformats.org/drawingml/2006/main">
            <a:r>
              <a:t>Verification: Alpha 0.1, L 5, grid 4 by 4, shrinkage .3 and minimum 10 match the locked notebook configuration.</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formulas describe quote-level bands before interpolation and optimisation. q is either the global or assigned Mondrian threshold. Score A uses an IV root bracket of 1e-4 to 5.0, with defined clipping rules when endpoints are outside the attainable bracket. Score B directly inverts the calibrated weighted IV residual, with a positivity floor on the lower endpoint. Post-processing can move the band away from the prediction.</a:t>
            </a:r>
          </a:p>
          <a:p xmlns:a="http://schemas.openxmlformats.org/drawingml/2006/main">
            <a:r>
              <a:t/>
            </a:r>
          </a:p>
          <a:p xmlns:a="http://schemas.openxmlformats.org/drawingml/2006/main">
            <a:r>
              <a:t>Verified sources:</a:t>
            </a:r>
          </a:p>
          <a:p xmlns:a="http://schemas.openxmlformats.org/drawingml/2006/main">
            <a:r>
              <a:t>/Users/anighot/Documents/Thesis_New/conformal-prediction-thesis/Exposee_conformal_prediction.pdf</a:t>
            </a:r>
          </a:p>
          <a:p xmlns:a="http://schemas.openxmlformats.org/drawingml/2006/main">
            <a:r>
              <a:t>/Users/anighot/Documents/Thesis_New/conformal-prediction-thesis/thesis_latex/TeXFiles/050_Methodology.tex</a:t>
            </a:r>
          </a:p>
          <a:p xmlns:a="http://schemas.openxmlformats.org/drawingml/2006/main">
            <a:r>
              <a:t>/Users/anighot/Documents/Thesis_New/conformal-prediction-thesis/volatility_smoothing/conformal/prediction_bands.py</a:t>
            </a:r>
          </a:p>
          <a:p xmlns:a="http://schemas.openxmlformats.org/drawingml/2006/main">
            <a:r>
              <a:t>/Users/anighot/Documents/Thesis_New/conformal-prediction-thesis/volatility_smoothing/conformal/notebooks/conformal_prediction.ipynb (cell 6)</a:t>
            </a:r>
          </a:p>
          <a:p xmlns:a="http://schemas.openxmlformats.org/drawingml/2006/main">
            <a:r>
              <a:t/>
            </a:r>
          </a:p>
          <a:p xmlns:a="http://schemas.openxmlformats.org/drawingml/2006/main">
            <a:r>
              <a:t>Verification: Band formulas and numerical limits checked against PredictionBands and vega_iv_bands.</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grid uses unique target rho values rounded to four decimals and 50 evenly spaced z values over the target range. Linear interpolation uses nearest fill outside the scattered convex hull. A sparse joint L1 linear program in total variance enforces fixed-k calendar monotonicity, chord convexity in z, a positive variance floor and ordering. Mapping back uses linear interpolation and falls back to original endpoints if unavailable. At fixed k=rho*z, the matching shorter-maturity coordinate is z_short=(rho_long/rho_short)z_long. Total-variance convexity is distinct from call-price convexity in strike, as the professor emphasised.</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/Users/anighot/Documents/Thesis_New/conformal-prediction-thesis/thesis_latex/TeXFiles/050_Methodology.tex</a:t>
            </a:r>
          </a:p>
          <a:p xmlns:a="http://schemas.openxmlformats.org/drawingml/2006/main">
            <a:r>
              <a:t>/Users/anighot/Documents/Thesis_New/conformal-prediction-thesis/volatility_smoothing/conformal/no_arbitrage_projection.py</a:t>
            </a:r>
          </a:p>
          <a:p xmlns:a="http://schemas.openxmlformats.org/drawingml/2006/main">
            <a:r>
              <a:t>/Users/anighot/Documents/Thesis_New/conformal-prediction-thesis/volatility_smoothing/conformal/notebooks/conformal_prediction.ipynb (cell 8)</a:t>
            </a:r>
          </a:p>
          <a:p xmlns:a="http://schemas.openxmlformats.org/drawingml/2006/main">
            <a:r>
              <a:t>/Users/anighot/Documents/Thesis_New/conformal-prediction-thesis/Neural_Operator_Implied_Volatility.pdf</a:t>
            </a:r>
          </a:p>
          <a:p xmlns:a="http://schemas.openxmlformats.org/drawingml/2006/main">
            <a:r>
              <a:t/>
            </a:r>
          </a:p>
          <a:p xmlns:a="http://schemas.openxmlformats.org/drawingml/2006/main">
            <a:r>
              <a:t>Verification: Projection objective, coordinate map, grid construction and fallback rules checked directly in code.</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slice at fixed rho=0.5018301606178284, selected as the saved visualisation-grid column closest to .5. It uses every second saved z position, giving 15 uniformly spaced positions for legibility. The displayed slice ends at z approximately .423 rather than the last saved .492 position. The lower, prediction and upper values come directly from the current three surface traces. The visualisation grid is interpolated for display and differs from the projection and quote-evaluation grids. This is an example of the surface output, not a separate coverage estimate.</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/Users/anighot/Documents/Thesis_New/conformal-prediction-thesis/volatility_smoothing/visualizations/surface_15_interactive.html</a:t>
            </a:r>
          </a:p>
          <a:p xmlns:a="http://schemas.openxmlformats.org/drawingml/2006/main">
            <a:r>
              <a:t>/Users/anighot/Documents/Thesis_New/conformal-prediction-thesis/volatility_smoothing/conformal/notebooks/conformal_prediction.ipynb (cell 18)</a:t>
            </a:r>
          </a:p>
          <a:p xmlns:a="http://schemas.openxmlformats.org/drawingml/2006/main">
            <a:r>
              <a:t/>
            </a:r>
          </a:p>
          <a:p xmlns:a="http://schemas.openxmlformats.org/drawingml/2006/main">
            <a:r>
              <a:t>Verification: All three series and the coordinate label match the saved HTML trace arrays. Uniform x spacing preserves the geometry of the category-based line chart. No synthetic band values are used.</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means are averages of per-surface metrics over 31 evaluation surfaces. Score B reaches 92.8633089546449% final Mondrian coverage with width .027187115840182. Score A reaches 84.265377076179% with width .067806214624377. Their width ratio is approximately 2.494. pp means percentage points. This does not isolate an intrinsic causal effect of the score because band inversion and subsequent projection differ in their response.</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/Users/anighot/Documents/Thesis_New/conformal-prediction-thesis/volatility_smoothing/conformal/notebooks/conformal_prediction.ipynb (cells 21, 26)</a:t>
            </a:r>
          </a:p>
          <a:p xmlns:a="http://schemas.openxmlformats.org/drawingml/2006/main">
            <a:r>
              <a:t>/Users/anighot/Documents/Thesis_New/conformal-prediction-thesis/output/score_b_prediction_vega_results.json</a:t>
            </a:r>
          </a:p>
          <a:p xmlns:a="http://schemas.openxmlformats.org/drawingml/2006/main">
            <a:r>
              <a:t>/Users/anighot/Documents/Thesis_New/conformal-prediction-thesis/thesis_latex/TeXFiles/070_ExperimentsResults.tex</a:t>
            </a:r>
          </a:p>
          <a:p xmlns:a="http://schemas.openxmlformats.org/drawingml/2006/main">
            <a:r>
              <a:t/>
            </a:r>
          </a:p>
          <a:p xmlns:a="http://schemas.openxmlformats.org/drawingml/2006/main">
            <a:r>
              <a:t>Verification: Headline values calculated from exact stage JSON. SDs checked against cell 21. Width ratio recomputed from exact means.</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 chart uses saved post-projection Score B global and Mondrian percentages for all 31 evaluation surfaces. The horizontal axis is sequence index, so irregular dates are not displayed as equally spaced calendar times. Below-target Mondrian indices are 18, 28 and 42. Mondrian raises mean coverage by 2.02 pp but does not reduce temporal variation relative to global calibration.</a:t>
            </a:r>
          </a:p>
          <a:p xmlns:a="http://schemas.openxmlformats.org/drawingml/2006/main">
            <a:r>
              <a:t/>
            </a:r>
          </a:p>
          <a:p xmlns:a="http://schemas.openxmlformats.org/drawingml/2006/main">
            <a:r>
              <a:t>Verified sources:</a:t>
            </a:r>
          </a:p>
          <a:p xmlns:a="http://schemas.openxmlformats.org/drawingml/2006/main">
            <a:r>
              <a:t>/Users/anighot/Documents/Thesis_New/conformal-prediction-thesis/output/score_b_prediction_vega_results.json</a:t>
            </a:r>
          </a:p>
          <a:p xmlns:a="http://schemas.openxmlformats.org/drawingml/2006/main">
            <a:r>
              <a:t>/Users/anighot/Documents/Thesis_New/conformal-prediction-thesis/volatility_smoothing/conformal/notebooks/conformal_prediction.ipynb (cells 15, 21)</a:t>
            </a:r>
          </a:p>
          <a:p xmlns:a="http://schemas.openxmlformats.org/drawingml/2006/main">
            <a:r>
              <a:t>/Users/anighot/Documents/Thesis_New/conformal-prediction-thesis/thesis_latex/TeXFiles/080_AnalysisDiscussion.tex</a:t>
            </a:r>
          </a:p>
          <a:p xmlns:a="http://schemas.openxmlformats.org/drawingml/2006/main">
            <a:r>
              <a:t/>
            </a:r>
          </a:p>
          <a:p xmlns:a="http://schemas.openxmlformats.org/drawingml/2006/main">
            <a:r>
              <a:t>Verification: All 31 chart rows match the JSON. Recounted three Mondrian and ten global shortfalls. Mean differences use the reported two-decimal summaries.</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interpolation-only stage makes the same quote-to-grid-to-quote round trip and uses the same fallbacks as the projected stage, while omitting optimisation. All stages evaluate identical target quotes. Score A coverage rises from 90.19 to 91.45% during interpolation, then falls to 84.27%. Its average width rises in the second transition, but GNO containment falls from 99.90 to 91.03%. The backup endpoint slide gives movements and containment. Thus the observed deterioration belongs substantially to post-processing response.</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/Users/anighot/Documents/Thesis_New/conformal-prediction-thesis/volatility_smoothing/conformal/notebooks/conformal_prediction.ipynb (cell 26)</a:t>
            </a:r>
          </a:p>
          <a:p xmlns:a="http://schemas.openxmlformats.org/drawingml/2006/main">
            <a:r>
              <a:t>/Users/anighot/Documents/Thesis_New/conformal-prediction-thesis/volatility_smoothing/conformal/projection_effects.py</a:t>
            </a:r>
          </a:p>
          <a:p xmlns:a="http://schemas.openxmlformats.org/drawingml/2006/main">
            <a:r>
              <a:t>/Users/anighot/Documents/Thesis_New/conformal-prediction-thesis/thesis_latex/TeXFiles/070_ExperimentsResults.tex</a:t>
            </a:r>
          </a:p>
          <a:p xmlns:a="http://schemas.openxmlformats.org/drawingml/2006/main">
            <a:r>
              <a:t/>
            </a:r>
          </a:p>
          <a:p xmlns:a="http://schemas.openxmlformats.org/drawingml/2006/main">
            <a:r>
              <a:t>Verification: Stage chart and width values derive directly from exact PROJECTION_STAGES_JSON. No inference from mean width alone.</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coverage entry averages the within-bin coverage over populated evaluation surfaces with equal surface weight. Every one of the 16 bins is populated on all 31 surfaces. Counts sum targets across surfaces, so they differ from the weighting used for mean coverage. Orange cells are below the 90% target. The leftmost z bin remains below target at every maturity range. The backup spatial slide reports matching global coverage and mean widths.</a:t>
            </a:r>
          </a:p>
          <a:p xmlns:a="http://schemas.openxmlformats.org/drawingml/2006/main">
            <a:r>
              <a:t/>
            </a:r>
          </a:p>
          <a:p xmlns:a="http://schemas.openxmlformats.org/drawingml/2006/main">
            <a:r>
              <a:t>Verified sources:</a:t>
            </a:r>
          </a:p>
          <a:p xmlns:a="http://schemas.openxmlformats.org/drawingml/2006/main">
            <a:r>
              <a:t>/Users/anighot/Documents/Thesis_New/conformal-prediction-thesis/output/score_b_spatial_bins.csv</a:t>
            </a:r>
          </a:p>
          <a:p xmlns:a="http://schemas.openxmlformats.org/drawingml/2006/main">
            <a:r>
              <a:t>/Users/anighot/Documents/Thesis_New/conformal-prediction-thesis/volatility_smoothing/conformal/notebooks/conformal_prediction.ipynb (cells 6, 8, 24)</a:t>
            </a:r>
          </a:p>
          <a:p xmlns:a="http://schemas.openxmlformats.org/drawingml/2006/main">
            <a:r>
              <a:t>/Users/anighot/Documents/Thesis_New/conformal-prediction-thesis/thesis_latex/TeXFiles/070_ExperimentsResults.tex</a:t>
            </a:r>
          </a:p>
          <a:p xmlns:a="http://schemas.openxmlformats.org/drawingml/2006/main">
            <a:r>
              <a:t/>
            </a:r>
          </a:p>
          <a:p xmlns:a="http://schemas.openxmlformats.org/drawingml/2006/main">
            <a:r>
              <a:t>Verification: All 16 percentages and four displayed target populations are read directly from the saved CSV. Bin edge precision is preserved.</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two rows sum fixed-k calendar and total-variance chord-convexity violations on both grid bounds over all evaluation surfaces. The supplementary finite-difference GNO But functional tests a different condition and is not a projection constraint. Its after counts remain 7,432 and 2,730. Crossings are evaluated after mapping back to held-out quotes. No statement of validity at every continuous-domain point is made.</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/Users/anighot/Documents/Thesis_New/conformal-prediction-thesis/volatility_smoothing/conformal/notebooks/conformal_prediction.ipynb (cells 6, 21)</a:t>
            </a:r>
          </a:p>
          <a:p xmlns:a="http://schemas.openxmlformats.org/drawingml/2006/main">
            <a:r>
              <a:t>/Users/anighot/Documents/Thesis_New/conformal-prediction-thesis/output/score_b_prediction_vega_results.json</a:t>
            </a:r>
          </a:p>
          <a:p xmlns:a="http://schemas.openxmlformats.org/drawingml/2006/main">
            <a:r>
              <a:t>/Users/anighot/Documents/Thesis_New/conformal-prediction-thesis/thesis_latex/TeXFiles/070_ExperimentsResults.tex</a:t>
            </a:r>
          </a:p>
          <a:p xmlns:a="http://schemas.openxmlformats.org/drawingml/2006/main">
            <a:r>
              <a:t>/Users/anighot/Documents/Thesis_New/conformal-prediction-thesis/Neural_Operator_Implied_Volatility.pdf</a:t>
            </a:r>
          </a:p>
          <a:p xmlns:a="http://schemas.openxmlformats.org/drawingml/2006/main">
            <a:r>
              <a:t/>
            </a:r>
          </a:p>
          <a:p xmlns:a="http://schemas.openxmlformats.org/drawingml/2006/main">
            <a:r>
              <a:t>Verification: Counts agree between executed cell 21 and result summary. B before counts additionally re-summed from all 31 result rows.</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L=5, 4 by 4 bins, lambda=.3. Alternatives change L to 3 or 7, bins to 3 by 3 or 5 by 5, or lambda to .1 or .5. The common fixed 4 by 4 context-target masks ensure changing Mondrian grids does not change targets. The reference gives 91.13% coverage and width .02832. The check is pre-projection and development-only. It is not exhaustive robustness evidence or a full model-selection study.</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/Users/anighot/Documents/Thesis_New/conformal-prediction-thesis/volatility_smoothing/conformal/notebooks/parameter_sensitivity.ipynb</a:t>
            </a:r>
          </a:p>
          <a:p xmlns:a="http://schemas.openxmlformats.org/drawingml/2006/main">
            <a:r>
              <a:t>/Users/anighot/Documents/Thesis_New/conformal-prediction-thesis/thesis_latex/TeXFiles/080_AnalysisDiscussion.tex</a:t>
            </a:r>
          </a:p>
          <a:p xmlns:a="http://schemas.openxmlformats.org/drawingml/2006/main">
            <a:r>
              <a:t/>
            </a:r>
          </a:p>
          <a:p xmlns:a="http://schemas.openxmlformats.org/drawingml/2006/main">
            <a:r>
              <a:t>Verification: The seven executed validation rows give the displayed coverage and width extrema. No final evaluation data are used by the sensitivity notebook.</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positive conclusion is empirical and specific. Score B performs better on the selected aggregate metrics. A higher mean does not ensure coverage within every spatial bin or every surface. Dataset timestamp precision is also limited, and independent surface bootstrap intervals do not model serial dependence. No new comparison to SVI, GARCH, dropout, ensembles or trading profit is asserted.</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/Users/anighot/Documents/Thesis_New/conformal-prediction-thesis/thesis_latex/TeXFiles/080_AnalysisDiscussion.tex</a:t>
            </a:r>
          </a:p>
          <a:p xmlns:a="http://schemas.openxmlformats.org/drawingml/2006/main">
            <a:r>
              <a:t>/Users/anighot/Documents/Thesis_New/conformal-prediction-thesis/thesis_latex/TeXFiles/090_Conclusion.tex</a:t>
            </a:r>
          </a:p>
          <a:p xmlns:a="http://schemas.openxmlformats.org/drawingml/2006/main">
            <a:r>
              <a:t>/Users/anighot/Documents/Thesis_New/conformal-prediction-thesis/volatility_smoothing/conformal/notebooks/conformal_prediction.ipynb (cells 21, 24, 26)</a:t>
            </a:r>
          </a:p>
          <a:p xmlns:a="http://schemas.openxmlformats.org/drawingml/2006/main">
            <a:r>
              <a:t/>
            </a:r>
          </a:p>
          <a:p xmlns:a="http://schemas.openxmlformats.org/drawingml/2006/main">
            <a:r>
              <a:t>Verification: Each interpretation is linked to the displayed results or an explicit methodological limitation.</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items are proposed research, not completed experiments. They address sample generalisation, temporal dependence, the difference between enforced constraints and butterfly validity, and uncertainty of the reported aggregate summaries.</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/Users/anighot/Documents/Thesis_New/conformal-prediction-thesis/thesis_latex/TeXFiles/080_AnalysisDiscussion.tex</a:t>
            </a:r>
          </a:p>
          <a:p xmlns:a="http://schemas.openxmlformats.org/drawingml/2006/main">
            <a:r>
              <a:t>https://arxiv.org/abs/2202.13415</a:t>
            </a:r>
          </a:p>
          <a:p xmlns:a="http://schemas.openxmlformats.org/drawingml/2006/main">
            <a:r>
              <a:t/>
            </a:r>
          </a:p>
          <a:p xmlns:a="http://schemas.openxmlformats.org/drawingml/2006/main">
            <a:r>
              <a:t>Verification: Future work matches thesis Section 6.4 and does not imply those studies have already been performed.</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Summarise the implemented contribution, strongest numerical finding and important limits. The statement applies to the selected SPX sample, fixed checkpoint and evaluation masks. Mean coverage above the nominal level does not imply a formal guarantee for this dependent, regularised and projected pipeline.</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/Users/anighot/Documents/Thesis_New/conformal-prediction-thesis/thesis_latex/TeXFiles/090_Conclusion.tex</a:t>
            </a:r>
          </a:p>
          <a:p xmlns:a="http://schemas.openxmlformats.org/drawingml/2006/main">
            <a:r>
              <a:t>/Users/anighot/Documents/Thesis_New/conformal-prediction-thesis/volatility_smoothing/conformal/notebooks/conformal_prediction.ipynb (cells 21, 24, 26)</a:t>
            </a:r>
          </a:p>
          <a:p xmlns:a="http://schemas.openxmlformats.org/drawingml/2006/main">
            <a:r>
              <a:t/>
            </a:r>
          </a:p>
          <a:p xmlns:a="http://schemas.openxmlformats.org/drawingml/2006/main">
            <a:r>
              <a:t>Verification: Final headline reproduces the exact same rounded stage values as slides 14–17.</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the main defence sequence. The following slides provide references and technical backup for questions.</a:t>
            </a:r>
          </a:p>
          <a:p xmlns:a="http://schemas.openxmlformats.org/drawingml/2006/main">
            <a:r>
              <a:t/>
            </a:r>
          </a:p>
          <a:p xmlns:a="http://schemas.openxmlformats.org/drawingml/2006/main">
            <a:r>
              <a:t>Verified sources:</a:t>
            </a:r>
          </a:p>
          <a:p xmlns:a="http://schemas.openxmlformats.org/drawingml/2006/main">
            <a:r>
              <a:t/>
            </a:r>
          </a:p>
          <a:p xmlns:a="http://schemas.openxmlformats.org/drawingml/2006/main">
            <a:r>
              <a:t/>
            </a:r>
          </a:p>
          <a:p xmlns:a="http://schemas.openxmlformats.org/drawingml/2006/main">
            <a:r>
              <a:t>Verification: </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primary references for the main talk. Full method and empirical source locations appear in the relevant slide notes. The base-paper version is explicitly v1, matching the thesis notation and equations.</a:t>
            </a:r>
          </a:p>
          <a:p xmlns:a="http://schemas.openxmlformats.org/drawingml/2006/main">
            <a:r>
              <a:t/>
            </a:r>
          </a:p>
          <a:p xmlns:a="http://schemas.openxmlformats.org/drawingml/2006/main">
            <a:r>
              <a:t>Verified sources:</a:t>
            </a:r>
          </a:p>
          <a:p xmlns:a="http://schemas.openxmlformats.org/drawingml/2006/main">
            <a:r>
              <a:t>https://arxiv.org/abs/2406.11520v1</a:t>
            </a:r>
          </a:p>
          <a:p xmlns:a="http://schemas.openxmlformats.org/drawingml/2006/main">
            <a:r>
              <a:t>https://doi.org/10.1561/2200000101</a:t>
            </a:r>
          </a:p>
          <a:p xmlns:a="http://schemas.openxmlformats.org/drawingml/2006/main">
            <a:r>
              <a:t>https://doi.org/10.1214/23-AOS2276</a:t>
            </a:r>
          </a:p>
          <a:p xmlns:a="http://schemas.openxmlformats.org/drawingml/2006/main">
            <a:r>
              <a:t>/Users/anighot/Documents/Thesis_New/conformal-prediction-thesis/thesis_latex/bibliography.bib</a:t>
            </a:r>
          </a:p>
          <a:p xmlns:a="http://schemas.openxmlformats.org/drawingml/2006/main">
            <a:r>
              <a:t>/Users/anighot/Documents/Thesis_New/conformal-prediction-thesis/volatility_smoothing/conformal/notebooks/conformal_prediction.ipynb</a:t>
            </a:r>
          </a:p>
          <a:p xmlns:a="http://schemas.openxmlformats.org/drawingml/2006/main">
            <a:r>
              <a:t>/Users/anighot/Documents/Thesis_New/conformal-prediction-thesis/output/score_b_prediction_vega_results.json</a:t>
            </a:r>
          </a:p>
          <a:p xmlns:a="http://schemas.openxmlformats.org/drawingml/2006/main">
            <a:r>
              <a:t>/Users/anighot/Documents/Thesis_New/conformal-prediction-thesis/output/score_b_spatial_bins.csv</a:t>
            </a:r>
          </a:p>
          <a:p xmlns:a="http://schemas.openxmlformats.org/drawingml/2006/main">
            <a:r>
              <a:t/>
            </a:r>
          </a:p>
          <a:p xmlns:a="http://schemas.openxmlformats.org/drawingml/2006/main">
            <a:r>
              <a:t>Verification: Author names, titles, years and bibliographic metadata checked against the thesis bibliography and primary paper records.</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phi is the standard-normal density. The helper clips predicted IV at 1e-8 for the d1 calculation, floors mean forward-normalised Vega at 1e-12, then floors the relative weight at 1. Both calibration scores and bands call the same helper. Market IV enters only the residual. This implements the professor’s first requested correction. The normalisation is per target set, so no standard independent-score theorem is inferred automatically.</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/Users/anighot/Documents/Thesis_New/conformal-prediction-thesis/volatility_smoothing/conformal/nonconformity_scores.py</a:t>
            </a:r>
          </a:p>
          <a:p xmlns:a="http://schemas.openxmlformats.org/drawingml/2006/main">
            <a:r>
              <a:t>/Users/anighot/Documents/Thesis_New/conformal-prediction-thesis/volatility_smoothing/conformal/notebooks/conformal_prediction.ipynb (cell 6)</a:t>
            </a:r>
          </a:p>
          <a:p xmlns:a="http://schemas.openxmlformats.org/drawingml/2006/main">
            <a:r>
              <a:t>/Users/anighot/Documents/Thesis_New/conformal-prediction-thesis/thesis_latex/TeXFiles/050_Methodology.tex</a:t>
            </a:r>
          </a:p>
          <a:p xmlns:a="http://schemas.openxmlformats.org/drawingml/2006/main">
            <a:r>
              <a:t/>
            </a:r>
          </a:p>
          <a:p xmlns:a="http://schemas.openxmlformats.org/drawingml/2006/main">
            <a:r>
              <a:t>Verification: Formula including denominator floor checked line by line against the helper. The same helper is called from scoring and band construction.</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exact helper used by the reported experiment. It uses an order statistic rather than a linearly interpolated sample quantile. It returns infinity if the requested rank is unavailable, including the empty set. The Mondrian subclass applies this helper before its disclosed shrinkage and global fallback.</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/Users/anighot/Documents/Thesis_New/conformal-prediction-thesis/volatility_smoothing/conformal/notebooks/conformal_prediction.ipynb (cell 6)</a:t>
            </a:r>
          </a:p>
          <a:p xmlns:a="http://schemas.openxmlformats.org/drawingml/2006/main">
            <a:r>
              <a:t>/Users/anighot/Documents/Thesis_New/conformal-prediction-thesis/thesis_latex/TeXFiles/050_Methodology.tex</a:t>
            </a:r>
          </a:p>
          <a:p xmlns:a="http://schemas.openxmlformats.org/drawingml/2006/main">
            <a:r>
              <a:t>https://arxiv.org/abs/2107.07511</a:t>
            </a:r>
          </a:p>
          <a:p xmlns:a="http://schemas.openxmlformats.org/drawingml/2006/main">
            <a:r>
              <a:t/>
            </a:r>
          </a:p>
          <a:p xmlns:a="http://schemas.openxmlformats.org/drawingml/2006/main">
            <a:r>
              <a:t>Verification: n=8 gives ceil(8.1)=9&gt;8, hence infinity. n=9 gives rank9 and the maximum. The notebook contains assertions for both cases.</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Collection dates are retrieval completion dates. Midnight is only the parser representation, not an assertion of actual observation or settlement at midnight. Put-call parity regression groups collection date and expiry, using up to three strikes from each of Pmid&gt;Cmid and Pmid&lt;=Cmid, selecting first ascending strikes. am_settlement=1 is a compatibility field, not a verified contract classification. Date-only maturity precision is especially material for short-dated contracts.</a:t>
            </a:r>
          </a:p>
          <a:p xmlns:a="http://schemas.openxmlformats.org/drawingml/2006/main">
            <a:r>
              <a:t/>
            </a:r>
          </a:p>
          <a:p xmlns:a="http://schemas.openxmlformats.org/drawingml/2006/main">
            <a:r>
              <a:t>Verified sources:</a:t>
            </a:r>
          </a:p>
          <a:p xmlns:a="http://schemas.openxmlformats.org/drawingml/2006/main">
            <a:r>
              <a:t>/Users/anighot/Documents/Thesis_New/conformal-prediction-thesis/thesis_latex/TeXFiles/060_Implementation.tex</a:t>
            </a:r>
          </a:p>
          <a:p xmlns:a="http://schemas.openxmlformats.org/drawingml/2006/main">
            <a:r>
              <a:t>/Users/anighot/Documents/Thesis_New/conformal-prediction-thesis/volatility_smoothing/utils/options_data.py</a:t>
            </a:r>
          </a:p>
          <a:p xmlns:a="http://schemas.openxmlformats.org/drawingml/2006/main">
            <a:r>
              <a:t>/Users/anighot/Documents/Thesis_New/conformal-prediction-thesis/volatility_smoothing/data/fetch_daily_spx.py</a:t>
            </a:r>
          </a:p>
          <a:p xmlns:a="http://schemas.openxmlformats.org/drawingml/2006/main">
            <a:r>
              <a:t/>
            </a:r>
          </a:p>
          <a:p xmlns:a="http://schemas.openxmlformats.org/drawingml/2006/main">
            <a:r>
              <a:t>Verification: Date convention and parity coefficients match options_data.py add_time_to_maturity and imply_borrow, plus the saved thesis data section.</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bins shown have 1,639, 1,085, 469 and 279 targets aggregated across all 31 surfaces. Within-bin coverage and mean width are averaged over surfaces rather than pooled over every quote. Global means here refer to globally calibrated bands measured in each bin. Mondrian widths are larger in all four bins. The comparison is observed and does not establish exact conditional validity.</a:t>
            </a:r>
          </a:p>
          <a:p xmlns:a="http://schemas.openxmlformats.org/drawingml/2006/main">
            <a:r>
              <a:t/>
            </a:r>
          </a:p>
          <a:p xmlns:a="http://schemas.openxmlformats.org/drawingml/2006/main">
            <a:r>
              <a:t>Verified sources:</a:t>
            </a:r>
          </a:p>
          <a:p xmlns:a="http://schemas.openxmlformats.org/drawingml/2006/main">
            <a:r>
              <a:t>/Users/anighot/Documents/Thesis_New/conformal-prediction-thesis/output/score_b_spatial_bins.csv</a:t>
            </a:r>
          </a:p>
          <a:p xmlns:a="http://schemas.openxmlformats.org/drawingml/2006/main">
            <a:r>
              <a:t>/Users/anighot/Documents/Thesis_New/conformal-prediction-thesis/volatility_smoothing/conformal/notebooks/conformal_prediction.ipynb (cell 24)</a:t>
            </a:r>
          </a:p>
          <a:p xmlns:a="http://schemas.openxmlformats.org/drawingml/2006/main">
            <a:r>
              <a:t>/Users/anighot/Documents/Thesis_New/conformal-prediction-thesis/thesis_latex/TeXFiles/070_ExperimentsResults.tex</a:t>
            </a:r>
          </a:p>
          <a:p xmlns:a="http://schemas.openxmlformats.org/drawingml/2006/main">
            <a:r>
              <a:t/>
            </a:r>
          </a:p>
          <a:p xmlns:a="http://schemas.openxmlformats.org/drawingml/2006/main">
            <a:r>
              <a:t>Verification: All 24 table entries derive directly from the saved CSV. Target counts are integers, coverages use two decimals and widths five.</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Movement means are averages of within-surface mean absolute shifts. GNO containment means the fraction of quote-level intervals containing the fixed point prediction, distinct from coverage of the market IV. Lost and gained counts aggregate quotes, whereas the coverage plots average surfaces. Score A lower endpoints undergo substantial local displacement despite a modest signed mean shift and increasing average width.</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/Users/anighot/Documents/Thesis_New/conformal-prediction-thesis/volatility_smoothing/conformal/notebooks/conformal_prediction.ipynb (cell 26)</a:t>
            </a:r>
          </a:p>
          <a:p xmlns:a="http://schemas.openxmlformats.org/drawingml/2006/main">
            <a:r>
              <a:t>/Users/anighot/Documents/Thesis_New/conformal-prediction-thesis/volatility_smoothing/conformal/projection_effects.py</a:t>
            </a:r>
          </a:p>
          <a:p xmlns:a="http://schemas.openxmlformats.org/drawingml/2006/main">
            <a:r>
              <a:t>/Users/anighot/Documents/Thesis_New/conformal-prediction-thesis/thesis_latex/TeXFiles/070_ExperimentsResults.tex</a:t>
            </a:r>
          </a:p>
          <a:p xmlns:a="http://schemas.openxmlformats.org/drawingml/2006/main">
            <a:r>
              <a:t/>
            </a:r>
          </a:p>
          <a:p xmlns:a="http://schemas.openxmlformats.org/drawingml/2006/main">
            <a:r>
              <a:t>Verification: All shifts, containment fractions and transition counts match the exact stage JSON emitted by the executed notebook.</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surface bootstrap uses seed 2026 and independent resampling of complete surfaces. It preserves cross-sectional grouping but does not model temporal dependence. Its interval is an empirical summary of this sample, not an exact time-series confidence guarantee. For widths W, mean_t((Wpost_t-Wpre_t)/Wpre_t) equals .09878830 for Score A, whereas (mean Wpost - mean Wpre)/mean Wpre is approximately .1152635. Decimal IV width .027187 corresponds to 2.7187 volatility percentage points.</a:t>
            </a:r>
          </a:p>
          <a:p xmlns:a="http://schemas.openxmlformats.org/drawingml/2006/main">
            <a:r>
              <a:t/>
            </a:r>
          </a:p>
          <a:p xmlns:a="http://schemas.openxmlformats.org/drawingml/2006/main">
            <a:r>
              <a:t>Verified sources:</a:t>
            </a:r>
          </a:p>
          <a:p xmlns:a="http://schemas.openxmlformats.org/drawingml/2006/main">
            <a:r>
              <a:t>/Users/anighot/Documents/Thesis_New/conformal-prediction-thesis/volatility_smoothing/conformal/notebooks/conformal_prediction.ipynb (cells 4, 21)</a:t>
            </a:r>
          </a:p>
          <a:p xmlns:a="http://schemas.openxmlformats.org/drawingml/2006/main">
            <a:r>
              <a:t>/Users/anighot/Documents/Thesis_New/conformal-prediction-thesis/volatility_smoothing/conformal/evaluation.py</a:t>
            </a:r>
          </a:p>
          <a:p xmlns:a="http://schemas.openxmlformats.org/drawingml/2006/main">
            <a:r>
              <a:t>/Users/anighot/Documents/Thesis_New/conformal-prediction-thesis/thesis_latex/TeXFiles/070_ExperimentsResults.tex</a:t>
            </a:r>
          </a:p>
          <a:p xmlns:a="http://schemas.openxmlformats.org/drawingml/2006/main">
            <a:r>
              <a:t/>
            </a:r>
          </a:p>
          <a:p xmlns:a="http://schemas.openxmlformats.org/drawingml/2006/main">
            <a:r>
              <a:t>Verification: Bootstrap parameters and bounds match the locked notebook and summary output. The 11.53% ratio recomputed from exact stage means. The two averaging operations are explicitly distinguished.</a:t>
            </a:r>
          </a:p>
          <a:p xmlns:a="http://schemas.openxmlformats.org/drawingml/2006/main">
            <a:r>
              <a:t>All coverage and width means give each evaluation surface equal weight unless stated otherwise. IV widths use decimal volatility units. Empirical conclusions apply to this dataset and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9d4449a3ae43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e5d5523f0240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6f2934d2c747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020fd82c2743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4ffff5e58647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c3e5d3293141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9320DE-B62E-4BE0-8813-87A2785F84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BB2A19-FA97-41DF-A271-C1B1167573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C0E2FE-A3C5-49C0-8D65-696CD4E4E93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8A8735-C769-455B-B84E-0BC3FBB01A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DEBC16-9C7A-4867-93CC-3E5FF8F5C18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D3F7EA-2761-4850-9EB0-406BEF902F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05A9FE-34E1-467C-B99F-CEEA4F8D9D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95D3AB7-38C7-4DEF-AE78-062C3EFE9B6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73F0B-0BA4-4134-AFF7-84BE164371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7CCB88-24B8-479E-B96B-D22F4BA3A5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bfb330e4b144ac" /><Relationship Type="http://schemas.openxmlformats.org/officeDocument/2006/relationships/slideLayout" Target="/ppt/slideLayouts/slideLayout1.xml" Id="R1e3ae5e1ed6f4c15" /><Relationship Type="http://schemas.openxmlformats.org/officeDocument/2006/relationships/slideLayout" Target="/ppt/slideLayouts/slideLayout2.xml" Id="R07a5d7a73d294973" /><Relationship Type="http://schemas.openxmlformats.org/officeDocument/2006/relationships/slideLayout" Target="/ppt/slideLayouts/slideLayout3.xml" Id="R24643ef5172a42b1" /><Relationship Type="http://schemas.openxmlformats.org/officeDocument/2006/relationships/slideLayout" Target="/ppt/slideLayouts/slideLayout4.xml" Id="Raf84b9c473b34641" /><Relationship Type="http://schemas.openxmlformats.org/officeDocument/2006/relationships/slideLayout" Target="/ppt/slideLayouts/slideLayout5.xml" Id="Ra65fc3aad4604dc7" /><Relationship Type="http://schemas.openxmlformats.org/officeDocument/2006/relationships/slideLayout" Target="/ppt/slideLayouts/slideLayout6.xml" Id="R1016eaf649434e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3ae5e1ed6f4c15"/>
    <p:sldLayoutId xmlns:r="http://schemas.openxmlformats.org/officeDocument/2006/relationships" id="2147483650" r:id="R07a5d7a73d294973"/>
    <p:sldLayoutId xmlns:r="http://schemas.openxmlformats.org/officeDocument/2006/relationships" id="2147483651" r:id="R24643ef5172a42b1"/>
    <p:sldLayoutId xmlns:r="http://schemas.openxmlformats.org/officeDocument/2006/relationships" id="2147483652" r:id="Raf84b9c473b34641"/>
    <p:sldLayoutId xmlns:r="http://schemas.openxmlformats.org/officeDocument/2006/relationships" id="2147483653" r:id="Ra65fc3aad4604dc7"/>
    <p:sldLayoutId xmlns:r="http://schemas.openxmlformats.org/officeDocument/2006/relationships" id="2147483654" r:id="R1016eaf649434e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ea4e78b21b14344" /><Relationship Type="http://schemas.openxmlformats.org/officeDocument/2006/relationships/image" Target="/ppt/media/image.png" Id="R4760931a26db441d" /><Relationship Type="http://schemas.openxmlformats.org/officeDocument/2006/relationships/notesSlide" Target="/ppt/notesSlides/notesSlide1.xml" Id="Re4e548496f204d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fd9d2bd60a4af3" /><Relationship Type="http://schemas.openxmlformats.org/officeDocument/2006/relationships/image" Target="/ppt/media/image2.png" Id="R7985182b88c249c7" /><Relationship Type="http://schemas.openxmlformats.org/officeDocument/2006/relationships/notesSlide" Target="/ppt/notesSlides/notesSlide2.xml" Id="R236003aad62d43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34b2c6f1814d23" /><Relationship Type="http://schemas.openxmlformats.org/officeDocument/2006/relationships/image" Target="/ppt/media/image3.png" Id="R81a50915f55c45f5" /><Relationship Type="http://schemas.openxmlformats.org/officeDocument/2006/relationships/image" Target="/ppt/media/image4.png" Id="R99101193da2f4524" /><Relationship Type="http://schemas.openxmlformats.org/officeDocument/2006/relationships/notesSlide" Target="/ppt/notesSlides/notesSlide3.xml" Id="Rd79ff1b4072d44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19835d75724323" /><Relationship Type="http://schemas.openxmlformats.org/officeDocument/2006/relationships/image" Target="/ppt/media/image5.png" Id="R82f3867b7b264211" /><Relationship Type="http://schemas.openxmlformats.org/officeDocument/2006/relationships/notesSlide" Target="/ppt/notesSlides/notesSlide4.xml" Id="R2307e6868f074d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3c9f1d13fd4dc5" /><Relationship Type="http://schemas.openxmlformats.org/officeDocument/2006/relationships/image" Target="/ppt/media/image6.png" Id="R32ca794d7517475a" /><Relationship Type="http://schemas.openxmlformats.org/officeDocument/2006/relationships/notesSlide" Target="/ppt/notesSlides/notesSlide5.xml" Id="R36bc6340272a4e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65b2b2f39f4e69" /><Relationship Type="http://schemas.openxmlformats.org/officeDocument/2006/relationships/image" Target="/ppt/media/image7.png" Id="R226aceed76b84f6b" /><Relationship Type="http://schemas.openxmlformats.org/officeDocument/2006/relationships/notesSlide" Target="/ppt/notesSlides/notesSlide6.xml" Id="R53ac1ab8024842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38afb6d05c41a3" /><Relationship Type="http://schemas.openxmlformats.org/officeDocument/2006/relationships/image" Target="/ppt/media/image8.png" Id="R20b5621543964406" /><Relationship Type="http://schemas.openxmlformats.org/officeDocument/2006/relationships/notesSlide" Target="/ppt/notesSlides/notesSlide7.xml" Id="R2d79f3b45bca4c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a3e76d526bc4a2b" /><Relationship Type="http://schemas.openxmlformats.org/officeDocument/2006/relationships/image" Target="/ppt/media/image9.png" Id="Raaa63bbc824441ea" /><Relationship Type="http://schemas.openxmlformats.org/officeDocument/2006/relationships/notesSlide" Target="/ppt/notesSlides/notesSlide8.xml" Id="R404d0e084a0f43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31541c1e164fb5" /><Relationship Type="http://schemas.openxmlformats.org/officeDocument/2006/relationships/image" Target="/ppt/media/image10.png" Id="Ra72ce5762ebf4027" /><Relationship Type="http://schemas.openxmlformats.org/officeDocument/2006/relationships/notesSlide" Target="/ppt/notesSlides/notesSlide9.xml" Id="Rd5e2fe9cf1204a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052511007e34c0c" /><Relationship Type="http://schemas.openxmlformats.org/officeDocument/2006/relationships/image" Target="/ppt/media/image11.png" Id="R2eab88b119664fa7" /><Relationship Type="http://schemas.openxmlformats.org/officeDocument/2006/relationships/notesSlide" Target="/ppt/notesSlides/notesSlide10.xml" Id="Rb41acd6c416546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7f43746cde74124" /><Relationship Type="http://schemas.openxmlformats.org/officeDocument/2006/relationships/image" Target="/ppt/media/image12.png" Id="Rae1fd338d0834bb3" /><Relationship Type="http://schemas.openxmlformats.org/officeDocument/2006/relationships/notesSlide" Target="/ppt/notesSlides/notesSlide11.xml" Id="Ra0f950dac59e4e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f2c87355e444856" /><Relationship Type="http://schemas.openxmlformats.org/officeDocument/2006/relationships/image" Target="/ppt/media/image13.png" Id="R8de5f9ad194e40a2" /><Relationship Type="http://schemas.openxmlformats.org/officeDocument/2006/relationships/notesSlide" Target="/ppt/notesSlides/notesSlide12.xml" Id="R03aa24a788924d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344ef682dc64ed4" /><Relationship Type="http://schemas.openxmlformats.org/officeDocument/2006/relationships/image" Target="/ppt/media/image14.png" Id="R3d2a106894444778" /><Relationship Type="http://schemas.openxmlformats.org/officeDocument/2006/relationships/notesSlide" Target="/ppt/notesSlides/notesSlide13.xml" Id="R3c6460047be441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a2170d0dded42ed" /><Relationship Type="http://schemas.openxmlformats.org/officeDocument/2006/relationships/image" Target="/ppt/media/image15.png" Id="R8e5b79c0354f4d17" /><Relationship Type="http://schemas.openxmlformats.org/officeDocument/2006/relationships/chart" Target="/ppt/slides/charts/chart1.xml" Id="R5420edf1e4b54c75" /><Relationship Type="http://schemas.openxmlformats.org/officeDocument/2006/relationships/notesSlide" Target="/ppt/notesSlides/notesSlide14.xml" Id="R2e082050087841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4ae66f04dd484c" /><Relationship Type="http://schemas.openxmlformats.org/officeDocument/2006/relationships/image" Target="/ppt/media/image16.png" Id="Rfff9957f51b04dc1" /><Relationship Type="http://schemas.openxmlformats.org/officeDocument/2006/relationships/notesSlide" Target="/ppt/notesSlides/notesSlide15.xml" Id="R46cd958e62984b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664b8cbedef4424" /><Relationship Type="http://schemas.openxmlformats.org/officeDocument/2006/relationships/image" Target="/ppt/media/image17.png" Id="Rc38d1ef4a6e143e3" /><Relationship Type="http://schemas.openxmlformats.org/officeDocument/2006/relationships/chart" Target="/ppt/slides/charts/chart2.xml" Id="Rcbc1cca40d184094" /><Relationship Type="http://schemas.openxmlformats.org/officeDocument/2006/relationships/notesSlide" Target="/ppt/notesSlides/notesSlide16.xml" Id="R40e25087d9f84a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49568839f834c7b" /><Relationship Type="http://schemas.openxmlformats.org/officeDocument/2006/relationships/image" Target="/ppt/media/image18.png" Id="R38923f5c31384bb3" /><Relationship Type="http://schemas.openxmlformats.org/officeDocument/2006/relationships/chart" Target="/ppt/slides/charts/chart3.xml" Id="R5d3bc4cfdbd441cf" /><Relationship Type="http://schemas.openxmlformats.org/officeDocument/2006/relationships/notesSlide" Target="/ppt/notesSlides/notesSlide17.xml" Id="R41ae7b61109c4d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4a4ec60eabb446f" /><Relationship Type="http://schemas.openxmlformats.org/officeDocument/2006/relationships/image" Target="/ppt/media/image19.png" Id="R8c3cc26d2aa64fcb" /><Relationship Type="http://schemas.openxmlformats.org/officeDocument/2006/relationships/notesSlide" Target="/ppt/notesSlides/notesSlide18.xml" Id="R0b99054a05ae4b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98fc7a7cfa74265" /><Relationship Type="http://schemas.openxmlformats.org/officeDocument/2006/relationships/image" Target="/ppt/media/image20.png" Id="Rae5bfb8f96304a91" /><Relationship Type="http://schemas.openxmlformats.org/officeDocument/2006/relationships/notesSlide" Target="/ppt/notesSlides/notesSlide19.xml" Id="R2686a5795c804e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1ead98dc705427f" /><Relationship Type="http://schemas.openxmlformats.org/officeDocument/2006/relationships/image" Target="/ppt/media/image21.png" Id="R427ce016882440fb" /><Relationship Type="http://schemas.openxmlformats.org/officeDocument/2006/relationships/notesSlide" Target="/ppt/notesSlides/notesSlide20.xml" Id="R8dbd1bc6f2054b9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b785fd057534bb3" /><Relationship Type="http://schemas.openxmlformats.org/officeDocument/2006/relationships/image" Target="/ppt/media/image22.png" Id="R75087d9e533348f3" /><Relationship Type="http://schemas.openxmlformats.org/officeDocument/2006/relationships/notesSlide" Target="/ppt/notesSlides/notesSlide21.xml" Id="Rd3e6136ad4f7430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0ec8f6e6008460c" /><Relationship Type="http://schemas.openxmlformats.org/officeDocument/2006/relationships/image" Target="/ppt/media/image23.png" Id="R1187c0d56b904eb3" /><Relationship Type="http://schemas.openxmlformats.org/officeDocument/2006/relationships/notesSlide" Target="/ppt/notesSlides/notesSlide22.xml" Id="R824bfd60f46142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fc22709a1e34a29" /><Relationship Type="http://schemas.openxmlformats.org/officeDocument/2006/relationships/image" Target="/ppt/media/image24.png" Id="Rbf4da66dee784f25" /><Relationship Type="http://schemas.openxmlformats.org/officeDocument/2006/relationships/notesSlide" Target="/ppt/notesSlides/notesSlide23.xml" Id="R0a4571a5e51d48a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cef87ce93cd4fd2" /><Relationship Type="http://schemas.openxmlformats.org/officeDocument/2006/relationships/image" Target="/ppt/media/image25.png" Id="R213497180eae462c" /><Relationship Type="http://schemas.openxmlformats.org/officeDocument/2006/relationships/notesSlide" Target="/ppt/notesSlides/notesSlide24.xml" Id="R0084f1abc8234b1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d3367ed976d454e" /><Relationship Type="http://schemas.openxmlformats.org/officeDocument/2006/relationships/image" Target="/ppt/media/image26.png" Id="Rab1183e7c0d94040" /><Relationship Type="http://schemas.openxmlformats.org/officeDocument/2006/relationships/notesSlide" Target="/ppt/notesSlides/notesSlide25.xml" Id="Rfae221fe76db481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3462e8b58b04546" /><Relationship Type="http://schemas.openxmlformats.org/officeDocument/2006/relationships/image" Target="/ppt/media/image27.png" Id="Rf91e618ca76941f7" /><Relationship Type="http://schemas.openxmlformats.org/officeDocument/2006/relationships/notesSlide" Target="/ppt/notesSlides/notesSlide26.xml" Id="Rfd081abd0f5c45b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180ce51ad7d440a" /><Relationship Type="http://schemas.openxmlformats.org/officeDocument/2006/relationships/image" Target="/ppt/media/image28.png" Id="R28a063b13b2449c5" /><Relationship Type="http://schemas.openxmlformats.org/officeDocument/2006/relationships/notesSlide" Target="/ppt/notesSlides/notesSlide27.xml" Id="Rc21d1a7c16dc48a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7d20b17955b41cc" /><Relationship Type="http://schemas.openxmlformats.org/officeDocument/2006/relationships/image" Target="/ppt/media/image29.png" Id="Rf4ae04c280004917" /><Relationship Type="http://schemas.openxmlformats.org/officeDocument/2006/relationships/notesSlide" Target="/ppt/notesSlides/notesSlide28.xml" Id="R892a585b6cb04c6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3466161f9594236" /><Relationship Type="http://schemas.openxmlformats.org/officeDocument/2006/relationships/image" Target="/ppt/media/image30.png" Id="R17596f33d3f8422b" /><Relationship Type="http://schemas.openxmlformats.org/officeDocument/2006/relationships/notesSlide" Target="/ppt/notesSlides/notesSlide29.xml" Id="Ra4f9707c0014469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e870d611c534cb9" /><Relationship Type="http://schemas.openxmlformats.org/officeDocument/2006/relationships/image" Target="/ppt/media/image31.png" Id="Rd2ab414b9f0e453c" /><Relationship Type="http://schemas.openxmlformats.org/officeDocument/2006/relationships/notesSlide" Target="/ppt/notesSlides/notesSlide30.xml" Id="R0214c22b40d245c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2fd0c91dbc74624" /><Relationship Type="http://schemas.openxmlformats.org/officeDocument/2006/relationships/image" Target="/ppt/media/image32.png" Id="R9d390c31d6c047ee" /><Relationship Type="http://schemas.openxmlformats.org/officeDocument/2006/relationships/notesSlide" Target="/ppt/notesSlides/notesSlide31.xml" Id="Rc65bad3e426d43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Lower bound</c:v>
          </c:tx>
          <c:spPr>
            <a:ln xmlns:a="http://schemas.openxmlformats.org/drawingml/2006/main" w="19050">
              <a:solidFill>
                <a:srgbClr val="4776C9"/>
              </a:solidFill>
              <a:prstDash val="dash"/>
            </a:ln>
          </c:spPr>
          <c:marker>
            <c:symbol val="none"/>
          </c:marker>
          <c:cat>
            <c:numRef>
              <c:f>'Chart Data'!$A$2:$A$16</c:f>
              <c:numCache>
                <c:formatCode>General</c:formatCode>
                <c:ptCount val="15"/>
                <c:pt idx="0">
                  <c:v>-1.50</c:v>
                </c:pt>
                <c:pt idx="1">
                  <c:v>-1.36</c:v>
                </c:pt>
                <c:pt idx="2">
                  <c:v>-1.23</c:v>
                </c:pt>
                <c:pt idx="3">
                  <c:v>-1.09</c:v>
                </c:pt>
                <c:pt idx="4">
                  <c:v>-0.95</c:v>
                </c:pt>
                <c:pt idx="5">
                  <c:v>-0.81</c:v>
                </c:pt>
                <c:pt idx="6">
                  <c:v>-0.68</c:v>
                </c:pt>
                <c:pt idx="7">
                  <c:v>-0.54</c:v>
                </c:pt>
                <c:pt idx="8">
                  <c:v>-0.40</c:v>
                </c:pt>
                <c:pt idx="9">
                  <c:v>-0.26</c:v>
                </c:pt>
                <c:pt idx="10">
                  <c:v>-0.13</c:v>
                </c:pt>
                <c:pt idx="11">
                  <c:v>0.01</c:v>
                </c:pt>
                <c:pt idx="12">
                  <c:v>0.15</c:v>
                </c:pt>
                <c:pt idx="13">
                  <c:v>0.29</c:v>
                </c:pt>
                <c:pt idx="14">
                  <c:v>0.42</c:v>
                </c:pt>
              </c:numCache>
            </c:numRef>
          </c:cat>
          <c:val>
            <c:numRef>
              <c:f>'Chart Data'!$B$2:$B$16</c:f>
              <c:numCache>
                <c:formatCode>0.00</c:formatCode>
                <c:ptCount val="15"/>
                <c:pt idx="0">
                  <c:v>0.58555676</c:v>
                </c:pt>
                <c:pt idx="1">
                  <c:v>0.53299018</c:v>
                </c:pt>
                <c:pt idx="2">
                  <c:v>0.49751545</c:v>
                </c:pt>
                <c:pt idx="3">
                  <c:v>0.46555328</c:v>
                </c:pt>
                <c:pt idx="4">
                  <c:v>0.4333073</c:v>
                </c:pt>
                <c:pt idx="5">
                  <c:v>0.40060012</c:v>
                </c:pt>
                <c:pt idx="6">
                  <c:v>0.36556047</c:v>
                </c:pt>
                <c:pt idx="7">
                  <c:v>0.32650945</c:v>
                </c:pt>
                <c:pt idx="8">
                  <c:v>0.28671792</c:v>
                </c:pt>
                <c:pt idx="9">
                  <c:v>0.24501878</c:v>
                </c:pt>
                <c:pt idx="10">
                  <c:v>0.20338259</c:v>
                </c:pt>
                <c:pt idx="11">
                  <c:v>0.15376004</c:v>
                </c:pt>
                <c:pt idx="12">
                  <c:v>0.10742403</c:v>
                </c:pt>
                <c:pt idx="13">
                  <c:v>0.11019093</c:v>
                </c:pt>
                <c:pt idx="14">
                  <c:v>0.13054451</c:v>
                </c:pt>
              </c:numCache>
            </c:numRef>
          </c:val>
        </c:ser>
        <c:ser>
          <c:idx val="1"/>
          <c:order val="1"/>
          <c:tx>
            <c:v>GNO prediction</c:v>
          </c:tx>
          <c:spPr>
            <a:ln xmlns:a="http://schemas.openxmlformats.org/drawingml/2006/main" w="28575">
              <a:solidFill>
                <a:srgbClr val="151515"/>
              </a:solidFill>
            </a:ln>
          </c:spPr>
          <c:marker>
            <c:symbol val="none"/>
          </c:marker>
          <c:cat>
            <c:numRef>
              <c:f>'Chart Data'!$C$2:$C$16</c:f>
              <c:numCache>
                <c:formatCode>General</c:formatCode>
                <c:ptCount val="15"/>
                <c:pt idx="0">
                  <c:v>-1.50</c:v>
                </c:pt>
                <c:pt idx="1">
                  <c:v>-1.36</c:v>
                </c:pt>
                <c:pt idx="2">
                  <c:v>-1.23</c:v>
                </c:pt>
                <c:pt idx="3">
                  <c:v>-1.09</c:v>
                </c:pt>
                <c:pt idx="4">
                  <c:v>-0.95</c:v>
                </c:pt>
                <c:pt idx="5">
                  <c:v>-0.81</c:v>
                </c:pt>
                <c:pt idx="6">
                  <c:v>-0.68</c:v>
                </c:pt>
                <c:pt idx="7">
                  <c:v>-0.54</c:v>
                </c:pt>
                <c:pt idx="8">
                  <c:v>-0.40</c:v>
                </c:pt>
                <c:pt idx="9">
                  <c:v>-0.26</c:v>
                </c:pt>
                <c:pt idx="10">
                  <c:v>-0.13</c:v>
                </c:pt>
                <c:pt idx="11">
                  <c:v>0.01</c:v>
                </c:pt>
                <c:pt idx="12">
                  <c:v>0.15</c:v>
                </c:pt>
                <c:pt idx="13">
                  <c:v>0.29</c:v>
                </c:pt>
                <c:pt idx="14">
                  <c:v>0.42</c:v>
                </c:pt>
              </c:numCache>
            </c:numRef>
          </c:cat>
          <c:val>
            <c:numRef>
              <c:f>'Chart Data'!$D$2:$D$16</c:f>
              <c:numCache>
                <c:formatCode>0.00</c:formatCode>
                <c:ptCount val="15"/>
                <c:pt idx="0">
                  <c:v>0.60732961</c:v>
                </c:pt>
                <c:pt idx="1">
                  <c:v>0.56264525</c:v>
                </c:pt>
                <c:pt idx="2">
                  <c:v>0.52791184</c:v>
                </c:pt>
                <c:pt idx="3">
                  <c:v>0.49941448</c:v>
                </c:pt>
                <c:pt idx="4">
                  <c:v>0.4594844</c:v>
                </c:pt>
                <c:pt idx="5">
                  <c:v>0.41767698</c:v>
                </c:pt>
                <c:pt idx="6">
                  <c:v>0.38887902</c:v>
                </c:pt>
                <c:pt idx="7">
                  <c:v>0.34398783</c:v>
                </c:pt>
                <c:pt idx="8">
                  <c:v>0.29942582</c:v>
                </c:pt>
                <c:pt idx="9">
                  <c:v>0.25739686</c:v>
                </c:pt>
                <c:pt idx="10">
                  <c:v>0.21201196</c:v>
                </c:pt>
                <c:pt idx="11">
                  <c:v>0.160903</c:v>
                </c:pt>
                <c:pt idx="12">
                  <c:v>0.12055784</c:v>
                </c:pt>
                <c:pt idx="13">
                  <c:v>0.12367419</c:v>
                </c:pt>
                <c:pt idx="14">
                  <c:v>0.14839577</c:v>
                </c:pt>
              </c:numCache>
            </c:numRef>
          </c:val>
        </c:ser>
        <c:ser>
          <c:idx val="2"/>
          <c:order val="2"/>
          <c:tx>
            <c:v>Upper bound</c:v>
          </c:tx>
          <c:spPr>
            <a:ln xmlns:a="http://schemas.openxmlformats.org/drawingml/2006/main" w="19050">
              <a:solidFill>
                <a:srgbClr val="16817D"/>
              </a:solidFill>
              <a:prstDash val="dash"/>
            </a:ln>
          </c:spPr>
          <c:marker>
            <c:symbol val="none"/>
          </c:marker>
          <c:cat>
            <c:numRef>
              <c:f>'Chart Data'!$E$2:$E$16</c:f>
              <c:numCache>
                <c:formatCode>General</c:formatCode>
                <c:ptCount val="15"/>
                <c:pt idx="0">
                  <c:v>-1.50</c:v>
                </c:pt>
                <c:pt idx="1">
                  <c:v>-1.36</c:v>
                </c:pt>
                <c:pt idx="2">
                  <c:v>-1.23</c:v>
                </c:pt>
                <c:pt idx="3">
                  <c:v>-1.09</c:v>
                </c:pt>
                <c:pt idx="4">
                  <c:v>-0.95</c:v>
                </c:pt>
                <c:pt idx="5">
                  <c:v>-0.81</c:v>
                </c:pt>
                <c:pt idx="6">
                  <c:v>-0.68</c:v>
                </c:pt>
                <c:pt idx="7">
                  <c:v>-0.54</c:v>
                </c:pt>
                <c:pt idx="8">
                  <c:v>-0.40</c:v>
                </c:pt>
                <c:pt idx="9">
                  <c:v>-0.26</c:v>
                </c:pt>
                <c:pt idx="10">
                  <c:v>-0.13</c:v>
                </c:pt>
                <c:pt idx="11">
                  <c:v>0.01</c:v>
                </c:pt>
                <c:pt idx="12">
                  <c:v>0.15</c:v>
                </c:pt>
                <c:pt idx="13">
                  <c:v>0.29</c:v>
                </c:pt>
                <c:pt idx="14">
                  <c:v>0.42</c:v>
                </c:pt>
              </c:numCache>
            </c:numRef>
          </c:cat>
          <c:val>
            <c:numRef>
              <c:f>'Chart Data'!$F$2:$F$16</c:f>
              <c:numCache>
                <c:formatCode>0.00</c:formatCode>
                <c:ptCount val="15"/>
                <c:pt idx="0">
                  <c:v>0.63964083</c:v>
                </c:pt>
                <c:pt idx="1">
                  <c:v>0.59400389</c:v>
                </c:pt>
                <c:pt idx="2">
                  <c:v>0.55880813</c:v>
                </c:pt>
                <c:pt idx="3">
                  <c:v>0.52149588</c:v>
                </c:pt>
                <c:pt idx="4">
                  <c:v>0.48233028</c:v>
                </c:pt>
                <c:pt idx="5">
                  <c:v>0.44531874</c:v>
                </c:pt>
                <c:pt idx="6">
                  <c:v>0.40496759</c:v>
                </c:pt>
                <c:pt idx="7">
                  <c:v>0.36065006</c:v>
                </c:pt>
                <c:pt idx="8">
                  <c:v>0.31220292</c:v>
                </c:pt>
                <c:pt idx="9">
                  <c:v>0.26928133</c:v>
                </c:pt>
                <c:pt idx="10">
                  <c:v>0.22059016</c:v>
                </c:pt>
                <c:pt idx="11">
                  <c:v>0.16824482</c:v>
                </c:pt>
                <c:pt idx="12">
                  <c:v>0.13369742</c:v>
                </c:pt>
                <c:pt idx="13">
                  <c:v>0.13718264</c:v>
                </c:pt>
                <c:pt idx="14">
                  <c:v>0.15758116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Normalised log-moneyness 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05050"/>
                </a:solidFill>
                <a:latin typeface="Arial"/>
                <a:ea typeface="Arial"/>
                <a:cs typeface="Arial"/>
              </a:defRPr>
            </a:pPr>
          </a:p>
        </c:txPr>
        <c:crossAx val="48672768"/>
      </c:catAx>
      <c:valAx>
        <c:axId val="48672768"/>
        <c:scaling>
          <c:orientation val="minMax"/>
          <c:max val="0.7"/>
          <c:min val="0.1"/>
        </c:scaling>
        <c:delete val="0"/>
        <c:axPos val="l"/>
        <c:majorGridlines>
          <c:spPr>
            <a:ln xmlns:a="http://schemas.openxmlformats.org/drawingml/2006/main" w="9525">
              <a:solidFill>
                <a:srgbClr val="D5DC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Implied volatility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05050"/>
                </a:solidFill>
                <a:latin typeface="Arial"/>
                <a:ea typeface="Arial"/>
                <a:cs typeface="Arial"/>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5151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Global</c:v>
          </c:tx>
          <c:spPr>
            <a:ln xmlns:a="http://schemas.openxmlformats.org/drawingml/2006/main" w="19050">
              <a:solidFill>
                <a:srgbClr val="505050"/>
              </a:solidFill>
            </a:ln>
          </c:spPr>
          <c:marker>
            <c:symbol val="none"/>
          </c:marker>
          <c:cat>
            <c:numRef>
              <c:f>'Chart Data'!$A$2:$A$32</c:f>
              <c:numCache>
                <c:formatCode>General</c:formatCode>
                <c:ptCount val="31"/>
                <c:pt idx="0">
                  <c:v>15</c:v>
                </c:pt>
                <c:pt idx="1">
                  <c:v>16</c:v>
                </c:pt>
                <c:pt idx="2">
                  <c:v>17</c:v>
                </c:pt>
                <c:pt idx="3">
                  <c:v>18</c:v>
                </c:pt>
                <c:pt idx="4">
                  <c:v>19</c:v>
                </c:pt>
                <c:pt idx="5">
                  <c:v>20</c:v>
                </c:pt>
                <c:pt idx="6">
                  <c:v>21</c:v>
                </c:pt>
                <c:pt idx="7">
                  <c:v>22</c:v>
                </c:pt>
                <c:pt idx="8">
                  <c:v>23</c:v>
                </c:pt>
                <c:pt idx="9">
                  <c:v>24</c:v>
                </c:pt>
                <c:pt idx="10">
                  <c:v>25</c:v>
                </c:pt>
                <c:pt idx="11">
                  <c:v>26</c:v>
                </c:pt>
                <c:pt idx="12">
                  <c:v>27</c:v>
                </c:pt>
                <c:pt idx="13">
                  <c:v>28</c:v>
                </c:pt>
                <c:pt idx="14">
                  <c:v>29</c:v>
                </c:pt>
                <c:pt idx="15">
                  <c:v>30</c:v>
                </c:pt>
                <c:pt idx="16">
                  <c:v>31</c:v>
                </c:pt>
                <c:pt idx="17">
                  <c:v>32</c:v>
                </c:pt>
                <c:pt idx="18">
                  <c:v>33</c:v>
                </c:pt>
                <c:pt idx="19">
                  <c:v>34</c:v>
                </c:pt>
                <c:pt idx="20">
                  <c:v>35</c:v>
                </c:pt>
                <c:pt idx="21">
                  <c:v>36</c:v>
                </c:pt>
                <c:pt idx="22">
                  <c:v>37</c:v>
                </c:pt>
                <c:pt idx="23">
                  <c:v>38</c:v>
                </c:pt>
                <c:pt idx="24">
                  <c:v>39</c:v>
                </c:pt>
                <c:pt idx="25">
                  <c:v>40</c:v>
                </c:pt>
                <c:pt idx="26">
                  <c:v>41</c:v>
                </c:pt>
                <c:pt idx="27">
                  <c:v>42</c:v>
                </c:pt>
                <c:pt idx="28">
                  <c:v>43</c:v>
                </c:pt>
                <c:pt idx="29">
                  <c:v>44</c:v>
                </c:pt>
                <c:pt idx="30">
                  <c:v>45</c:v>
                </c:pt>
              </c:numCache>
            </c:numRef>
          </c:cat>
          <c:val>
            <c:numRef>
              <c:f>'Chart Data'!$B$2:$B$32</c:f>
              <c:numCache>
                <c:formatCode>0%</c:formatCode>
                <c:ptCount val="31"/>
                <c:pt idx="0">
                  <c:v>0.8812</c:v>
                </c:pt>
                <c:pt idx="1">
                  <c:v>0.9117</c:v>
                </c:pt>
                <c:pt idx="2">
                  <c:v>0.912</c:v>
                </c:pt>
                <c:pt idx="3">
                  <c:v>0.8939</c:v>
                </c:pt>
                <c:pt idx="4">
                  <c:v>0.9372</c:v>
                </c:pt>
                <c:pt idx="5">
                  <c:v>0.8961</c:v>
                </c:pt>
                <c:pt idx="6">
                  <c:v>0.9273</c:v>
                </c:pt>
                <c:pt idx="7">
                  <c:v>0.9217</c:v>
                </c:pt>
                <c:pt idx="8">
                  <c:v>0.9265</c:v>
                </c:pt>
                <c:pt idx="9">
                  <c:v>0.8959</c:v>
                </c:pt>
                <c:pt idx="10">
                  <c:v>0.9087</c:v>
                </c:pt>
                <c:pt idx="11">
                  <c:v>0.905</c:v>
                </c:pt>
                <c:pt idx="12">
                  <c:v>0.9339</c:v>
                </c:pt>
                <c:pt idx="13">
                  <c:v>0.9011</c:v>
                </c:pt>
                <c:pt idx="14">
                  <c:v>0.8969</c:v>
                </c:pt>
                <c:pt idx="15">
                  <c:v>0.9202</c:v>
                </c:pt>
                <c:pt idx="16">
                  <c:v>0.9041</c:v>
                </c:pt>
                <c:pt idx="17">
                  <c:v>0.9005</c:v>
                </c:pt>
                <c:pt idx="18">
                  <c:v>0.9023</c:v>
                </c:pt>
                <c:pt idx="19">
                  <c:v>0.9072</c:v>
                </c:pt>
                <c:pt idx="20">
                  <c:v>0.8801</c:v>
                </c:pt>
                <c:pt idx="21">
                  <c:v>0.8926</c:v>
                </c:pt>
                <c:pt idx="22">
                  <c:v>0.9364</c:v>
                </c:pt>
                <c:pt idx="23">
                  <c:v>0.9457</c:v>
                </c:pt>
                <c:pt idx="24">
                  <c:v>0.9014</c:v>
                </c:pt>
                <c:pt idx="25">
                  <c:v>0.9159</c:v>
                </c:pt>
                <c:pt idx="26">
                  <c:v>0.8919</c:v>
                </c:pt>
                <c:pt idx="27">
                  <c:v>0.8898</c:v>
                </c:pt>
                <c:pt idx="28">
                  <c:v>0.9047</c:v>
                </c:pt>
                <c:pt idx="29">
                  <c:v>0.9242</c:v>
                </c:pt>
                <c:pt idx="30">
                  <c:v>0.8952</c:v>
                </c:pt>
              </c:numCache>
            </c:numRef>
          </c:val>
          <c:smooth val="0"/>
        </c:ser>
        <c:ser>
          <c:idx val="1"/>
          <c:order val="1"/>
          <c:tx>
            <c:v>Mondrian</c:v>
          </c:tx>
          <c:spPr>
            <a:ln xmlns:a="http://schemas.openxmlformats.org/drawingml/2006/main" w="28575">
              <a:solidFill>
                <a:srgbClr val="4776C9"/>
              </a:solidFill>
            </a:ln>
          </c:spPr>
          <c:marker>
            <c:symbol val="circle"/>
            <c:size val="5"/>
            <c:spPr>
              <a:solidFill xmlns:a="http://schemas.openxmlformats.org/drawingml/2006/main">
                <a:srgbClr val="4776C9"/>
              </a:solidFill>
            </c:spPr>
          </c:marker>
          <c:cat>
            <c:numRef>
              <c:f>'Chart Data'!$C$2:$C$32</c:f>
              <c:numCache>
                <c:formatCode>General</c:formatCode>
                <c:ptCount val="31"/>
                <c:pt idx="0">
                  <c:v>15</c:v>
                </c:pt>
                <c:pt idx="1">
                  <c:v>16</c:v>
                </c:pt>
                <c:pt idx="2">
                  <c:v>17</c:v>
                </c:pt>
                <c:pt idx="3">
                  <c:v>18</c:v>
                </c:pt>
                <c:pt idx="4">
                  <c:v>19</c:v>
                </c:pt>
                <c:pt idx="5">
                  <c:v>20</c:v>
                </c:pt>
                <c:pt idx="6">
                  <c:v>21</c:v>
                </c:pt>
                <c:pt idx="7">
                  <c:v>22</c:v>
                </c:pt>
                <c:pt idx="8">
                  <c:v>23</c:v>
                </c:pt>
                <c:pt idx="9">
                  <c:v>24</c:v>
                </c:pt>
                <c:pt idx="10">
                  <c:v>25</c:v>
                </c:pt>
                <c:pt idx="11">
                  <c:v>26</c:v>
                </c:pt>
                <c:pt idx="12">
                  <c:v>27</c:v>
                </c:pt>
                <c:pt idx="13">
                  <c:v>28</c:v>
                </c:pt>
                <c:pt idx="14">
                  <c:v>29</c:v>
                </c:pt>
                <c:pt idx="15">
                  <c:v>30</c:v>
                </c:pt>
                <c:pt idx="16">
                  <c:v>31</c:v>
                </c:pt>
                <c:pt idx="17">
                  <c:v>32</c:v>
                </c:pt>
                <c:pt idx="18">
                  <c:v>33</c:v>
                </c:pt>
                <c:pt idx="19">
                  <c:v>34</c:v>
                </c:pt>
                <c:pt idx="20">
                  <c:v>35</c:v>
                </c:pt>
                <c:pt idx="21">
                  <c:v>36</c:v>
                </c:pt>
                <c:pt idx="22">
                  <c:v>37</c:v>
                </c:pt>
                <c:pt idx="23">
                  <c:v>38</c:v>
                </c:pt>
                <c:pt idx="24">
                  <c:v>39</c:v>
                </c:pt>
                <c:pt idx="25">
                  <c:v>40</c:v>
                </c:pt>
                <c:pt idx="26">
                  <c:v>41</c:v>
                </c:pt>
                <c:pt idx="27">
                  <c:v>42</c:v>
                </c:pt>
                <c:pt idx="28">
                  <c:v>43</c:v>
                </c:pt>
                <c:pt idx="29">
                  <c:v>44</c:v>
                </c:pt>
                <c:pt idx="30">
                  <c:v>45</c:v>
                </c:pt>
              </c:numCache>
            </c:numRef>
          </c:cat>
          <c:val>
            <c:numRef>
              <c:f>'Chart Data'!$D$2:$D$32</c:f>
              <c:numCache>
                <c:formatCode>0%</c:formatCode>
                <c:ptCount val="31"/>
                <c:pt idx="0">
                  <c:v>0.9142</c:v>
                </c:pt>
                <c:pt idx="1">
                  <c:v>0.916</c:v>
                </c:pt>
                <c:pt idx="2">
                  <c:v>0.9436</c:v>
                </c:pt>
                <c:pt idx="3">
                  <c:v>0.8934</c:v>
                </c:pt>
                <c:pt idx="4">
                  <c:v>0.965</c:v>
                </c:pt>
                <c:pt idx="5">
                  <c:v>0.9124</c:v>
                </c:pt>
                <c:pt idx="6">
                  <c:v>0.9558</c:v>
                </c:pt>
                <c:pt idx="7">
                  <c:v>0.9445</c:v>
                </c:pt>
                <c:pt idx="8">
                  <c:v>0.9458</c:v>
                </c:pt>
                <c:pt idx="9">
                  <c:v>0.9181</c:v>
                </c:pt>
                <c:pt idx="10">
                  <c:v>0.9447</c:v>
                </c:pt>
                <c:pt idx="11">
                  <c:v>0.9493</c:v>
                </c:pt>
                <c:pt idx="12">
                  <c:v>0.9481</c:v>
                </c:pt>
                <c:pt idx="13">
                  <c:v>0.8932</c:v>
                </c:pt>
                <c:pt idx="14">
                  <c:v>0.9136</c:v>
                </c:pt>
                <c:pt idx="15">
                  <c:v>0.9351</c:v>
                </c:pt>
                <c:pt idx="16">
                  <c:v>0.9341</c:v>
                </c:pt>
                <c:pt idx="17">
                  <c:v>0.936</c:v>
                </c:pt>
                <c:pt idx="18">
                  <c:v>0.9402</c:v>
                </c:pt>
                <c:pt idx="19">
                  <c:v>0.9314</c:v>
                </c:pt>
                <c:pt idx="20">
                  <c:v>0.9125</c:v>
                </c:pt>
                <c:pt idx="21">
                  <c:v>0.9224</c:v>
                </c:pt>
                <c:pt idx="22">
                  <c:v>0.9545</c:v>
                </c:pt>
                <c:pt idx="23">
                  <c:v>0.9588</c:v>
                </c:pt>
                <c:pt idx="24">
                  <c:v>0.9104</c:v>
                </c:pt>
                <c:pt idx="25">
                  <c:v>0.9202</c:v>
                </c:pt>
                <c:pt idx="26">
                  <c:v>0.9301</c:v>
                </c:pt>
                <c:pt idx="27">
                  <c:v>0.8903</c:v>
                </c:pt>
                <c:pt idx="28">
                  <c:v>0.9096</c:v>
                </c:pt>
                <c:pt idx="29">
                  <c:v>0.9202</c:v>
                </c:pt>
                <c:pt idx="30">
                  <c:v>0.9242</c:v>
                </c:pt>
              </c:numCache>
            </c:numRef>
          </c:val>
          <c:smooth val="0"/>
        </c:ser>
        <c:ser>
          <c:idx val="2"/>
          <c:order val="2"/>
          <c:tx>
            <c:v>90% target</c:v>
          </c:tx>
          <c:spPr>
            <a:ln xmlns:a="http://schemas.openxmlformats.org/drawingml/2006/main" w="14288">
              <a:solidFill>
                <a:srgbClr val="BB6842"/>
              </a:solidFill>
              <a:prstDash val="dash"/>
            </a:ln>
          </c:spPr>
          <c:marker>
            <c:symbol val="none"/>
          </c:marker>
          <c:cat>
            <c:numRef>
              <c:f>'Chart Data'!$E$2:$E$32</c:f>
              <c:numCache>
                <c:formatCode>General</c:formatCode>
                <c:ptCount val="31"/>
                <c:pt idx="0">
                  <c:v>15</c:v>
                </c:pt>
                <c:pt idx="1">
                  <c:v>16</c:v>
                </c:pt>
                <c:pt idx="2">
                  <c:v>17</c:v>
                </c:pt>
                <c:pt idx="3">
                  <c:v>18</c:v>
                </c:pt>
                <c:pt idx="4">
                  <c:v>19</c:v>
                </c:pt>
                <c:pt idx="5">
                  <c:v>20</c:v>
                </c:pt>
                <c:pt idx="6">
                  <c:v>21</c:v>
                </c:pt>
                <c:pt idx="7">
                  <c:v>22</c:v>
                </c:pt>
                <c:pt idx="8">
                  <c:v>23</c:v>
                </c:pt>
                <c:pt idx="9">
                  <c:v>24</c:v>
                </c:pt>
                <c:pt idx="10">
                  <c:v>25</c:v>
                </c:pt>
                <c:pt idx="11">
                  <c:v>26</c:v>
                </c:pt>
                <c:pt idx="12">
                  <c:v>27</c:v>
                </c:pt>
                <c:pt idx="13">
                  <c:v>28</c:v>
                </c:pt>
                <c:pt idx="14">
                  <c:v>29</c:v>
                </c:pt>
                <c:pt idx="15">
                  <c:v>30</c:v>
                </c:pt>
                <c:pt idx="16">
                  <c:v>31</c:v>
                </c:pt>
                <c:pt idx="17">
                  <c:v>32</c:v>
                </c:pt>
                <c:pt idx="18">
                  <c:v>33</c:v>
                </c:pt>
                <c:pt idx="19">
                  <c:v>34</c:v>
                </c:pt>
                <c:pt idx="20">
                  <c:v>35</c:v>
                </c:pt>
                <c:pt idx="21">
                  <c:v>36</c:v>
                </c:pt>
                <c:pt idx="22">
                  <c:v>37</c:v>
                </c:pt>
                <c:pt idx="23">
                  <c:v>38</c:v>
                </c:pt>
                <c:pt idx="24">
                  <c:v>39</c:v>
                </c:pt>
                <c:pt idx="25">
                  <c:v>40</c:v>
                </c:pt>
                <c:pt idx="26">
                  <c:v>41</c:v>
                </c:pt>
                <c:pt idx="27">
                  <c:v>42</c:v>
                </c:pt>
                <c:pt idx="28">
                  <c:v>43</c:v>
                </c:pt>
                <c:pt idx="29">
                  <c:v>44</c:v>
                </c:pt>
                <c:pt idx="30">
                  <c:v>45</c:v>
                </c:pt>
              </c:numCache>
            </c:numRef>
          </c:cat>
          <c:val>
            <c:numRef>
              <c:f>'Chart Data'!$F$2:$F$32</c:f>
              <c:numCache>
                <c:formatCode>0%</c:formatCode>
                <c:ptCount val="31"/>
                <c:pt idx="0">
                  <c:v>0.9</c:v>
                </c:pt>
                <c:pt idx="1">
                  <c:v>0.9</c:v>
                </c:pt>
                <c:pt idx="2">
                  <c:v>0.9</c:v>
                </c:pt>
                <c:pt idx="3">
                  <c:v>0.9</c:v>
                </c:pt>
                <c:pt idx="4">
                  <c:v>0.9</c:v>
                </c:pt>
                <c:pt idx="5">
                  <c:v>0.9</c:v>
                </c:pt>
                <c:pt idx="6">
                  <c:v>0.9</c:v>
                </c:pt>
                <c:pt idx="7">
                  <c:v>0.9</c:v>
                </c:pt>
                <c:pt idx="8">
                  <c:v>0.9</c:v>
                </c:pt>
                <c:pt idx="9">
                  <c:v>0.9</c:v>
                </c:pt>
                <c:pt idx="10">
                  <c:v>0.9</c:v>
                </c:pt>
                <c:pt idx="11">
                  <c:v>0.9</c:v>
                </c:pt>
                <c:pt idx="12">
                  <c:v>0.9</c:v>
                </c:pt>
                <c:pt idx="13">
                  <c:v>0.9</c:v>
                </c:pt>
                <c:pt idx="14">
                  <c:v>0.9</c:v>
                </c:pt>
                <c:pt idx="15">
                  <c:v>0.9</c:v>
                </c:pt>
                <c:pt idx="16">
                  <c:v>0.9</c:v>
                </c:pt>
                <c:pt idx="17">
                  <c:v>0.9</c:v>
                </c:pt>
                <c:pt idx="18">
                  <c:v>0.9</c:v>
                </c:pt>
                <c:pt idx="19">
                  <c:v>0.9</c:v>
                </c:pt>
                <c:pt idx="20">
                  <c:v>0.9</c:v>
                </c:pt>
                <c:pt idx="21">
                  <c:v>0.9</c:v>
                </c:pt>
                <c:pt idx="22">
                  <c:v>0.9</c:v>
                </c:pt>
                <c:pt idx="23">
                  <c:v>0.9</c:v>
                </c:pt>
                <c:pt idx="24">
                  <c:v>0.9</c:v>
                </c:pt>
                <c:pt idx="25">
                  <c:v>0.9</c:v>
                </c:pt>
                <c:pt idx="26">
                  <c:v>0.9</c:v>
                </c:pt>
                <c:pt idx="27">
                  <c:v>0.9</c:v>
                </c:pt>
                <c:pt idx="28">
                  <c:v>0.9</c:v>
                </c:pt>
                <c:pt idx="29">
                  <c:v>0.9</c:v>
                </c:pt>
                <c:pt idx="30">
                  <c:v>0.9</c:v>
                </c:pt>
              </c:numCache>
            </c:numRef>
          </c:val>
          <c:smooth val="0"/>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51515"/>
                  </a:solidFill>
                  <a:latin typeface="Arial"/>
                  <a:ea typeface="Arial"/>
                  <a:cs typeface="Arial"/>
                </a:defRPr>
              </a:pPr>
            </a:p>
          </c:txPr>
          <c:dLblPos val="t"/>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Evaluation surface index (chronological)</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5DCE6"/>
            </a:solidFill>
          </a:ln>
        </c:spPr>
        <c:txPr>
          <a:bodyPr xmlns:a="http://schemas.openxmlformats.org/drawingml/2006/main" anchorCtr="1"/>
          <a:lstStyle xmlns:a="http://schemas.openxmlformats.org/drawingml/2006/main"/>
          <a:p xmlns:a="http://schemas.openxmlformats.org/drawingml/2006/main">
            <a:pPr>
              <a:defRPr sz="1350">
                <a:solidFill>
                  <a:srgbClr val="505050"/>
                </a:solidFill>
                <a:latin typeface="Arial"/>
                <a:ea typeface="Arial"/>
                <a:cs typeface="Arial"/>
              </a:defRPr>
            </a:pPr>
          </a:p>
        </c:txPr>
        <c:crossAx val="48672768"/>
      </c:catAx>
      <c:valAx>
        <c:axId val="48672768"/>
        <c:scaling>
          <c:orientation val="minMax"/>
          <c:max val="1"/>
          <c:min val="0.84"/>
        </c:scaling>
        <c:delete val="0"/>
        <c:axPos val="l"/>
        <c:majorGridlines>
          <c:spPr>
            <a:ln xmlns:a="http://schemas.openxmlformats.org/drawingml/2006/main" w="9525">
              <a:solidFill>
                <a:srgbClr val="D5DC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Coverage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05050"/>
                </a:solidFill>
                <a:latin typeface="Arial"/>
                <a:ea typeface="Arial"/>
                <a:cs typeface="Arial"/>
              </a:defRPr>
            </a:pPr>
          </a:p>
        </c:txPr>
        <c:crossAx val="48650112"/>
        <c:crossBetween val="between"/>
        <c:majorUnit val="0.04"/>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5151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Score A</c:v>
          </c:tx>
          <c:spPr>
            <a:ln xmlns:a="http://schemas.openxmlformats.org/drawingml/2006/main" w="28575">
              <a:solidFill>
                <a:srgbClr val="BB6842"/>
              </a:solidFill>
            </a:ln>
          </c:spPr>
          <c:marker>
            <c:symbol val="circle"/>
            <c:size val="8"/>
            <c:spPr>
              <a:solidFill xmlns:a="http://schemas.openxmlformats.org/drawingml/2006/main">
                <a:srgbClr val="BB6842"/>
              </a:solidFill>
            </c:spPr>
          </c:mark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BB6842"/>
                    </a:solidFill>
                    <a:latin typeface="Arial"/>
                    <a:ea typeface="Arial"/>
                    <a:cs typeface="Arial"/>
                  </a:defRPr>
                </a:pPr>
              </a:p>
            </c:txPr>
            <c:dLblPos val="b"/>
            <c:showLegendKey val="0"/>
            <c:showVal val="1"/>
            <c:showCatName val="0"/>
            <c:showSerName val="0"/>
            <c:showPercent val="0"/>
            <c:showBubbleSize val="0"/>
            <c:showLeaderLines val="0"/>
          </c:dLbls>
          <c:cat>
            <c:strRef>
              <c:f>'Chart Data'!$A$2:$A$4</c:f>
              <c:strCache>
                <c:ptCount val="3"/>
                <c:pt idx="0">
                  <c:v>Direct quote bands</c:v>
                </c:pt>
                <c:pt idx="1">
                  <c:v>Interpolation only</c:v>
                </c:pt>
                <c:pt idx="2">
                  <c:v>After optimisation</c:v>
                </c:pt>
              </c:strCache>
            </c:strRef>
          </c:cat>
          <c:val>
            <c:numRef>
              <c:f>'Chart Data'!$B$2:$B$4</c:f>
              <c:numCache>
                <c:formatCode>0%</c:formatCode>
                <c:ptCount val="3"/>
                <c:pt idx="0">
                  <c:v>0.90191403</c:v>
                </c:pt>
                <c:pt idx="1">
                  <c:v>0.91449661</c:v>
                </c:pt>
                <c:pt idx="2">
                  <c:v>0.84265377</c:v>
                </c:pt>
              </c:numCache>
            </c:numRef>
          </c:val>
          <c:smooth val="0"/>
        </c:ser>
        <c:ser>
          <c:idx val="1"/>
          <c:order val="1"/>
          <c:tx>
            <c:v>Score B</c:v>
          </c:tx>
          <c:spPr>
            <a:ln xmlns:a="http://schemas.openxmlformats.org/drawingml/2006/main" w="28575">
              <a:solidFill>
                <a:srgbClr val="4776C9"/>
              </a:solidFill>
            </a:ln>
          </c:spPr>
          <c:marker>
            <c:symbol val="circle"/>
            <c:size val="8"/>
            <c:spPr>
              <a:solidFill xmlns:a="http://schemas.openxmlformats.org/drawingml/2006/main">
                <a:srgbClr val="4776C9"/>
              </a:solidFill>
            </c:spPr>
          </c:mark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4776C9"/>
                    </a:solidFill>
                    <a:latin typeface="Arial"/>
                    <a:ea typeface="Arial"/>
                    <a:cs typeface="Arial"/>
                  </a:defRPr>
                </a:pPr>
              </a:p>
            </c:txPr>
            <c:dLblPos val="t"/>
            <c:showLegendKey val="0"/>
            <c:showVal val="1"/>
            <c:showCatName val="0"/>
            <c:showSerName val="0"/>
            <c:showPercent val="0"/>
            <c:showBubbleSize val="0"/>
            <c:showLeaderLines val="0"/>
          </c:dLbls>
          <c:cat>
            <c:strRef>
              <c:f>'Chart Data'!$C$2:$C$4</c:f>
              <c:strCache>
                <c:ptCount val="3"/>
                <c:pt idx="0">
                  <c:v>Direct quote bands</c:v>
                </c:pt>
                <c:pt idx="1">
                  <c:v>Interpolation only</c:v>
                </c:pt>
                <c:pt idx="2">
                  <c:v>After optimisation</c:v>
                </c:pt>
              </c:strCache>
            </c:strRef>
          </c:cat>
          <c:val>
            <c:numRef>
              <c:f>'Chart Data'!$D$2:$D$4</c:f>
              <c:numCache>
                <c:formatCode>0%</c:formatCode>
                <c:ptCount val="3"/>
                <c:pt idx="0">
                  <c:v>0.91117547</c:v>
                </c:pt>
                <c:pt idx="1">
                  <c:v>0.92059061</c:v>
                </c:pt>
                <c:pt idx="2">
                  <c:v>0.92863309</c:v>
                </c:pt>
              </c:numCache>
            </c:numRef>
          </c:val>
          <c:smooth val="0"/>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51515"/>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DCE6"/>
            </a:solidFill>
          </a:ln>
        </c:spPr>
        <c:txPr>
          <a:bodyPr xmlns:a="http://schemas.openxmlformats.org/drawingml/2006/main" anchorCtr="1"/>
          <a:lstStyle xmlns:a="http://schemas.openxmlformats.org/drawingml/2006/main"/>
          <a:p xmlns:a="http://schemas.openxmlformats.org/drawingml/2006/main">
            <a:pPr>
              <a:defRPr sz="1350">
                <a:solidFill>
                  <a:srgbClr val="505050"/>
                </a:solidFill>
                <a:latin typeface="Arial"/>
                <a:ea typeface="Arial"/>
                <a:cs typeface="Arial"/>
              </a:defRPr>
            </a:pPr>
          </a:p>
        </c:txPr>
        <c:crossAx val="48672768"/>
      </c:catAx>
      <c:valAx>
        <c:axId val="48672768"/>
        <c:scaling>
          <c:orientation val="minMax"/>
          <c:max val="0.96"/>
          <c:min val="0.8"/>
        </c:scaling>
        <c:delete val="0"/>
        <c:axPos val="l"/>
        <c:majorGridlines>
          <c:spPr>
            <a:ln xmlns:a="http://schemas.openxmlformats.org/drawingml/2006/main" w="9525">
              <a:solidFill>
                <a:srgbClr val="D5DC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Coverage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05050"/>
                </a:solidFill>
                <a:latin typeface="Arial"/>
                <a:ea typeface="Arial"/>
                <a:cs typeface="Arial"/>
              </a:defRPr>
            </a:pPr>
          </a:p>
        </c:txPr>
        <c:crossAx val="48650112"/>
        <c:crossBetween val="between"/>
        <c:majorUnit val="0.04"/>
      </c:valAx>
      <c:spPr>
        <a:solidFill xmlns:a="http://schemas.openxmlformats.org/drawingml/2006/main">
          <a:srgbClr val="FFFFFF"/>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5151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5B8AAF1-C888-48D3-99E1-2A28589FE99A}"/>
              </a:ext>
            </a:extLst>
          </p:cNvPr>
          <p:cNvPicPr>
            <a:picLocks xmlns:a="http://schemas.openxmlformats.org/drawingml/2006/main" noChangeAspect="1"/>
          </p:cNvPicPr>
          <p:nvPr/>
        </p:nvPicPr>
        <p:blipFill>
          <a:blip xmlns:r="http://schemas.openxmlformats.org/officeDocument/2006/relationships" xmlns:a="http://schemas.openxmlformats.org/drawingml/2006/main" r:embed="R4760931a26db441d"/>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A1ED0C-6663-4C4F-9846-355717CBED42}"/>
              </a:ext>
            </a:extLst>
          </p:cNvPr>
          <p:cNvSpPr>
            <a:spLocks xmlns:a="http://schemas.openxmlformats.org/drawingml/2006/main" noGrp="1"/>
          </p:cNvSpPr>
          <p:nvPr/>
        </p:nvSpPr>
        <p:spPr>
          <a:xfrm xmlns:a="http://schemas.openxmlformats.org/drawingml/2006/main">
            <a:off x="1381125" y="1476375"/>
            <a:ext cx="9429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700" b="1" i="0">
                <a:solidFill>
                  <a:srgbClr val="4776C9"/>
                </a:solidFill>
                <a:latin typeface="Arial"/>
                <a:ea typeface="Arial"/>
                <a:cs typeface="Arial"/>
              </a:defRPr>
            </a:defPPr>
            <a:lvl1pPr algn="ctr">
              <a:defRPr sz="2700" b="1" i="0">
                <a:solidFill>
                  <a:srgbClr val="4776C9"/>
                </a:solidFill>
                <a:latin typeface="Arial"/>
                <a:ea typeface="Arial"/>
                <a:cs typeface="Arial"/>
              </a:defRPr>
            </a:lvl1pPr>
            <a:lvl2pPr algn="ctr">
              <a:defRPr sz="2700" b="1" i="0">
                <a:solidFill>
                  <a:srgbClr val="4776C9"/>
                </a:solidFill>
                <a:latin typeface="Arial"/>
                <a:ea typeface="Arial"/>
                <a:cs typeface="Arial"/>
              </a:defRPr>
            </a:lvl2pPr>
            <a:lvl3pPr algn="ctr">
              <a:defRPr sz="2700" b="1" i="0">
                <a:solidFill>
                  <a:srgbClr val="4776C9"/>
                </a:solidFill>
                <a:latin typeface="Arial"/>
                <a:ea typeface="Arial"/>
                <a:cs typeface="Arial"/>
              </a:defRPr>
            </a:lvl3pPr>
            <a:lvl4pPr algn="ctr">
              <a:defRPr sz="2700" b="1" i="0">
                <a:solidFill>
                  <a:srgbClr val="4776C9"/>
                </a:solidFill>
                <a:latin typeface="Arial"/>
                <a:ea typeface="Arial"/>
                <a:cs typeface="Arial"/>
              </a:defRPr>
            </a:lvl4pPr>
            <a:lvl5pPr algn="ctr">
              <a:defRPr sz="2700" b="1" i="0">
                <a:solidFill>
                  <a:srgbClr val="4776C9"/>
                </a:solidFill>
                <a:latin typeface="Arial"/>
                <a:ea typeface="Arial"/>
                <a:cs typeface="Arial"/>
              </a:defRPr>
            </a:lvl5pPr>
            <a:lvl6pPr algn="ctr">
              <a:defRPr sz="2700" b="1" i="0">
                <a:solidFill>
                  <a:srgbClr val="4776C9"/>
                </a:solidFill>
                <a:latin typeface="Arial"/>
                <a:ea typeface="Arial"/>
                <a:cs typeface="Arial"/>
              </a:defRPr>
            </a:lvl6pPr>
            <a:lvl7pPr algn="ctr">
              <a:defRPr sz="2700" b="1" i="0">
                <a:solidFill>
                  <a:srgbClr val="4776C9"/>
                </a:solidFill>
                <a:latin typeface="Arial"/>
                <a:ea typeface="Arial"/>
                <a:cs typeface="Arial"/>
              </a:defRPr>
            </a:lvl7pPr>
            <a:lvl8pPr algn="ctr">
              <a:defRPr sz="2700" b="1" i="0">
                <a:solidFill>
                  <a:srgbClr val="4776C9"/>
                </a:solidFill>
                <a:latin typeface="Arial"/>
                <a:ea typeface="Arial"/>
                <a:cs typeface="Arial"/>
              </a:defRPr>
            </a:lvl8pPr>
            <a:lvl9pPr algn="ctr">
              <a:defRPr sz="2700" b="1" i="0">
                <a:solidFill>
                  <a:srgbClr val="4776C9"/>
                </a:solidFill>
                <a:latin typeface="Arial"/>
                <a:ea typeface="Arial"/>
                <a:cs typeface="Arial"/>
              </a:defRPr>
            </a:lvl9pPr>
          </a:lstStyle>
          <a:p xmlns:a="http://schemas.openxmlformats.org/drawingml/2006/main">
            <a:pPr algn="ctr">
              <a:buNone/>
              <a:defRPr sz="2700" b="1" i="0">
                <a:solidFill>
                  <a:srgbClr val="4776C9"/>
                </a:solidFill>
                <a:latin typeface="Arial"/>
                <a:ea typeface="Arial"/>
                <a:cs typeface="Arial"/>
              </a:defRPr>
            </a:pPr>
            <a:r>
              <a:rPr sz="2700" b="1" i="0">
                <a:solidFill>
                  <a:srgbClr val="4776C9"/>
                </a:solidFill>
                <a:latin typeface="Arial"/>
                <a:ea typeface="Arial"/>
                <a:cs typeface="Arial"/>
              </a:rPr>
              <a:t>Conformal Uncertainty for Operator Deep</a:t>
            </a:r>
          </a:p>
          <a:p xmlns:a="http://schemas.openxmlformats.org/drawingml/2006/main">
            <a:pPr algn="ctr">
              <a:buNone/>
              <a:defRPr sz="2700" b="1" i="0">
                <a:solidFill>
                  <a:srgbClr val="4776C9"/>
                </a:solidFill>
                <a:latin typeface="Arial"/>
                <a:ea typeface="Arial"/>
                <a:cs typeface="Arial"/>
              </a:defRPr>
            </a:pPr>
            <a:r>
              <a:rPr sz="2700" b="1" i="0">
                <a:solidFill>
                  <a:srgbClr val="4776C9"/>
                </a:solidFill>
                <a:latin typeface="Arial"/>
                <a:ea typeface="Arial"/>
                <a:cs typeface="Arial"/>
              </a:rPr>
              <a:t>Smoothing of Implied-Volatility Surfaces</a:t>
            </a:r>
          </a:p>
        </p:txBody>
      </p:sp>
      <p:sp>
        <p:nvSpPr>
          <p:cNvPr id="3" name="">
            <a:extLst xmlns:a="http://schemas.openxmlformats.org/drawingml/2006/main">
              <a:ext uri="{FF2B5EF4-FFF2-40B4-BE49-F238E27FC236}">
                <a16:creationId xmlns:a16="http://schemas.microsoft.com/office/drawing/2014/main" id="{65F69F69-B8AE-4ACB-80CE-1E0C67F940D8}"/>
              </a:ext>
            </a:extLst>
          </p:cNvPr>
          <p:cNvSpPr>
            <a:spLocks xmlns:a="http://schemas.openxmlformats.org/drawingml/2006/main" noGrp="1"/>
          </p:cNvSpPr>
          <p:nvPr/>
        </p:nvSpPr>
        <p:spPr>
          <a:xfrm xmlns:a="http://schemas.openxmlformats.org/drawingml/2006/main">
            <a:off x="2524125" y="2857500"/>
            <a:ext cx="7143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75" b="1" i="0">
                <a:solidFill>
                  <a:srgbClr val="4776C9"/>
                </a:solidFill>
                <a:latin typeface="Arial"/>
                <a:ea typeface="Arial"/>
                <a:cs typeface="Arial"/>
              </a:defRPr>
            </a:defPPr>
            <a:lvl1pPr algn="ctr">
              <a:defRPr sz="1875" b="1" i="0">
                <a:solidFill>
                  <a:srgbClr val="4776C9"/>
                </a:solidFill>
                <a:latin typeface="Arial"/>
                <a:ea typeface="Arial"/>
                <a:cs typeface="Arial"/>
              </a:defRPr>
            </a:lvl1pPr>
            <a:lvl2pPr algn="ctr">
              <a:defRPr sz="1875" b="1" i="0">
                <a:solidFill>
                  <a:srgbClr val="4776C9"/>
                </a:solidFill>
                <a:latin typeface="Arial"/>
                <a:ea typeface="Arial"/>
                <a:cs typeface="Arial"/>
              </a:defRPr>
            </a:lvl2pPr>
            <a:lvl3pPr algn="ctr">
              <a:defRPr sz="1875" b="1" i="0">
                <a:solidFill>
                  <a:srgbClr val="4776C9"/>
                </a:solidFill>
                <a:latin typeface="Arial"/>
                <a:ea typeface="Arial"/>
                <a:cs typeface="Arial"/>
              </a:defRPr>
            </a:lvl3pPr>
            <a:lvl4pPr algn="ctr">
              <a:defRPr sz="1875" b="1" i="0">
                <a:solidFill>
                  <a:srgbClr val="4776C9"/>
                </a:solidFill>
                <a:latin typeface="Arial"/>
                <a:ea typeface="Arial"/>
                <a:cs typeface="Arial"/>
              </a:defRPr>
            </a:lvl4pPr>
            <a:lvl5pPr algn="ctr">
              <a:defRPr sz="1875" b="1" i="0">
                <a:solidFill>
                  <a:srgbClr val="4776C9"/>
                </a:solidFill>
                <a:latin typeface="Arial"/>
                <a:ea typeface="Arial"/>
                <a:cs typeface="Arial"/>
              </a:defRPr>
            </a:lvl5pPr>
            <a:lvl6pPr algn="ctr">
              <a:defRPr sz="1875" b="1" i="0">
                <a:solidFill>
                  <a:srgbClr val="4776C9"/>
                </a:solidFill>
                <a:latin typeface="Arial"/>
                <a:ea typeface="Arial"/>
                <a:cs typeface="Arial"/>
              </a:defRPr>
            </a:lvl6pPr>
            <a:lvl7pPr algn="ctr">
              <a:defRPr sz="1875" b="1" i="0">
                <a:solidFill>
                  <a:srgbClr val="4776C9"/>
                </a:solidFill>
                <a:latin typeface="Arial"/>
                <a:ea typeface="Arial"/>
                <a:cs typeface="Arial"/>
              </a:defRPr>
            </a:lvl7pPr>
            <a:lvl8pPr algn="ctr">
              <a:defRPr sz="1875" b="1" i="0">
                <a:solidFill>
                  <a:srgbClr val="4776C9"/>
                </a:solidFill>
                <a:latin typeface="Arial"/>
                <a:ea typeface="Arial"/>
                <a:cs typeface="Arial"/>
              </a:defRPr>
            </a:lvl8pPr>
            <a:lvl9pPr algn="ctr">
              <a:defRPr sz="1875" b="1" i="0">
                <a:solidFill>
                  <a:srgbClr val="4776C9"/>
                </a:solidFill>
                <a:latin typeface="Arial"/>
                <a:ea typeface="Arial"/>
                <a:cs typeface="Arial"/>
              </a:defRPr>
            </a:lvl9pPr>
          </a:lstStyle>
          <a:p xmlns:a="http://schemas.openxmlformats.org/drawingml/2006/main">
            <a:pPr algn="ctr">
              <a:buNone/>
              <a:defRPr sz="1875" b="1" i="0">
                <a:solidFill>
                  <a:srgbClr val="4776C9"/>
                </a:solidFill>
                <a:latin typeface="Arial"/>
                <a:ea typeface="Arial"/>
                <a:cs typeface="Arial"/>
              </a:defRPr>
            </a:pPr>
            <a:r>
              <a:rPr sz="1875" b="1" i="0">
                <a:solidFill>
                  <a:srgbClr val="4776C9"/>
                </a:solidFill>
                <a:latin typeface="Arial"/>
                <a:ea typeface="Arial"/>
                <a:cs typeface="Arial"/>
              </a:rPr>
              <a:t>Master of Science (M.Sc.)</a:t>
            </a:r>
          </a:p>
          <a:p xmlns:a="http://schemas.openxmlformats.org/drawingml/2006/main">
            <a:pPr algn="ctr">
              <a:buNone/>
              <a:defRPr sz="1875" b="1" i="0">
                <a:solidFill>
                  <a:srgbClr val="4776C9"/>
                </a:solidFill>
                <a:latin typeface="Arial"/>
                <a:ea typeface="Arial"/>
                <a:cs typeface="Arial"/>
              </a:defRPr>
            </a:pPr>
            <a:r>
              <a:rPr sz="1875" b="1" i="0">
                <a:solidFill>
                  <a:srgbClr val="4776C9"/>
                </a:solidFill>
                <a:latin typeface="Arial"/>
                <a:ea typeface="Arial"/>
                <a:cs typeface="Arial"/>
              </a:rPr>
              <a:t>Faculty of Computer Science and Engineering</a:t>
            </a:r>
          </a:p>
          <a:p xmlns:a="http://schemas.openxmlformats.org/drawingml/2006/main">
            <a:pPr algn="ctr">
              <a:buNone/>
              <a:defRPr sz="1875" b="1" i="0">
                <a:solidFill>
                  <a:srgbClr val="4776C9"/>
                </a:solidFill>
                <a:latin typeface="Arial"/>
                <a:ea typeface="Arial"/>
                <a:cs typeface="Arial"/>
              </a:defRPr>
            </a:pPr>
            <a:r>
              <a:rPr sz="1875" b="1" i="0">
                <a:solidFill>
                  <a:srgbClr val="4776C9"/>
                </a:solidFill>
                <a:latin typeface="Arial"/>
                <a:ea typeface="Arial"/>
                <a:cs typeface="Arial"/>
              </a:rPr>
              <a:t>Frankfurt University of Applied Sciences</a:t>
            </a:r>
          </a:p>
        </p:txBody>
      </p:sp>
      <p:sp>
        <p:nvSpPr>
          <p:cNvPr id="4" name="">
            <a:extLst xmlns:a="http://schemas.openxmlformats.org/drawingml/2006/main">
              <a:ext uri="{FF2B5EF4-FFF2-40B4-BE49-F238E27FC236}">
                <a16:creationId xmlns:a16="http://schemas.microsoft.com/office/drawing/2014/main" id="{25F1F111-D368-41CD-B894-5DD450517F7C}"/>
              </a:ext>
            </a:extLst>
          </p:cNvPr>
          <p:cNvSpPr>
            <a:spLocks xmlns:a="http://schemas.openxmlformats.org/drawingml/2006/main" noGrp="1"/>
          </p:cNvSpPr>
          <p:nvPr/>
        </p:nvSpPr>
        <p:spPr>
          <a:xfrm xmlns:a="http://schemas.openxmlformats.org/drawingml/2006/main">
            <a:off x="400050" y="582930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i="0">
                <a:solidFill>
                  <a:srgbClr val="151515"/>
                </a:solidFill>
                <a:latin typeface="Arial"/>
                <a:ea typeface="Arial"/>
                <a:cs typeface="Arial"/>
              </a:defRPr>
            </a:defPPr>
            <a:lvl1pPr algn="l">
              <a:defRPr sz="1800" b="0" i="0">
                <a:solidFill>
                  <a:srgbClr val="151515"/>
                </a:solidFill>
                <a:latin typeface="Arial"/>
                <a:ea typeface="Arial"/>
                <a:cs typeface="Arial"/>
              </a:defRPr>
            </a:lvl1pPr>
            <a:lvl2pPr algn="l">
              <a:defRPr sz="1800" b="0" i="0">
                <a:solidFill>
                  <a:srgbClr val="151515"/>
                </a:solidFill>
                <a:latin typeface="Arial"/>
                <a:ea typeface="Arial"/>
                <a:cs typeface="Arial"/>
              </a:defRPr>
            </a:lvl2pPr>
            <a:lvl3pPr algn="l">
              <a:defRPr sz="1800" b="0" i="0">
                <a:solidFill>
                  <a:srgbClr val="151515"/>
                </a:solidFill>
                <a:latin typeface="Arial"/>
                <a:ea typeface="Arial"/>
                <a:cs typeface="Arial"/>
              </a:defRPr>
            </a:lvl3pPr>
            <a:lvl4pPr algn="l">
              <a:defRPr sz="1800" b="0" i="0">
                <a:solidFill>
                  <a:srgbClr val="151515"/>
                </a:solidFill>
                <a:latin typeface="Arial"/>
                <a:ea typeface="Arial"/>
                <a:cs typeface="Arial"/>
              </a:defRPr>
            </a:lvl4pPr>
            <a:lvl5pPr algn="l">
              <a:defRPr sz="1800" b="0" i="0">
                <a:solidFill>
                  <a:srgbClr val="151515"/>
                </a:solidFill>
                <a:latin typeface="Arial"/>
                <a:ea typeface="Arial"/>
                <a:cs typeface="Arial"/>
              </a:defRPr>
            </a:lvl5pPr>
            <a:lvl6pPr algn="l">
              <a:defRPr sz="1800" b="0" i="0">
                <a:solidFill>
                  <a:srgbClr val="151515"/>
                </a:solidFill>
                <a:latin typeface="Arial"/>
                <a:ea typeface="Arial"/>
                <a:cs typeface="Arial"/>
              </a:defRPr>
            </a:lvl6pPr>
            <a:lvl7pPr algn="l">
              <a:defRPr sz="1800" b="0" i="0">
                <a:solidFill>
                  <a:srgbClr val="151515"/>
                </a:solidFill>
                <a:latin typeface="Arial"/>
                <a:ea typeface="Arial"/>
                <a:cs typeface="Arial"/>
              </a:defRPr>
            </a:lvl7pPr>
            <a:lvl8pPr algn="l">
              <a:defRPr sz="1800" b="0" i="0">
                <a:solidFill>
                  <a:srgbClr val="151515"/>
                </a:solidFill>
                <a:latin typeface="Arial"/>
                <a:ea typeface="Arial"/>
                <a:cs typeface="Arial"/>
              </a:defRPr>
            </a:lvl8pPr>
            <a:lvl9pPr algn="l">
              <a:defRPr sz="1800" b="0" i="0">
                <a:solidFill>
                  <a:srgbClr val="151515"/>
                </a:solidFill>
                <a:latin typeface="Arial"/>
                <a:ea typeface="Arial"/>
                <a:cs typeface="Arial"/>
              </a:defRPr>
            </a:lvl9pPr>
          </a:lstStyle>
          <a:p xmlns:a="http://schemas.openxmlformats.org/drawingml/2006/main">
            <a:pPr algn="l">
              <a:buNone/>
              <a:defRPr sz="1800" b="0" i="0">
                <a:solidFill>
                  <a:srgbClr val="151515"/>
                </a:solidFill>
                <a:latin typeface="Arial"/>
                <a:ea typeface="Arial"/>
                <a:cs typeface="Arial"/>
              </a:defRPr>
            </a:pPr>
            <a:r>
              <a:rPr sz="1800" b="0" i="0">
                <a:solidFill>
                  <a:srgbClr val="151515"/>
                </a:solidFill>
                <a:latin typeface="Arial"/>
                <a:ea typeface="Arial"/>
                <a:cs typeface="Arial"/>
              </a:rPr>
              <a:t>Aniket Prakash Nighot</a:t>
            </a:r>
          </a:p>
        </p:txBody>
      </p:sp>
      <p:sp>
        <p:nvSpPr>
          <p:cNvPr id="5" name="">
            <a:extLst xmlns:a="http://schemas.openxmlformats.org/drawingml/2006/main">
              <a:ext uri="{FF2B5EF4-FFF2-40B4-BE49-F238E27FC236}">
                <a16:creationId xmlns:a16="http://schemas.microsoft.com/office/drawing/2014/main" id="{D7ED5A9A-A884-4357-A83D-723119CA8656}"/>
              </a:ext>
            </a:extLst>
          </p:cNvPr>
          <p:cNvSpPr>
            <a:spLocks xmlns:a="http://schemas.openxmlformats.org/drawingml/2006/main" noGrp="1"/>
          </p:cNvSpPr>
          <p:nvPr/>
        </p:nvSpPr>
        <p:spPr>
          <a:xfrm xmlns:a="http://schemas.openxmlformats.org/drawingml/2006/main">
            <a:off x="8172450" y="5429250"/>
            <a:ext cx="3619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i="0">
                <a:solidFill>
                  <a:srgbClr val="151515"/>
                </a:solidFill>
                <a:latin typeface="Arial"/>
                <a:ea typeface="Arial"/>
                <a:cs typeface="Arial"/>
              </a:defRPr>
            </a:defPPr>
            <a:lvl1pPr algn="l">
              <a:defRPr sz="1650" b="0" i="0">
                <a:solidFill>
                  <a:srgbClr val="151515"/>
                </a:solidFill>
                <a:latin typeface="Arial"/>
                <a:ea typeface="Arial"/>
                <a:cs typeface="Arial"/>
              </a:defRPr>
            </a:lvl1pPr>
            <a:lvl2pPr algn="l">
              <a:defRPr sz="1650" b="0" i="0">
                <a:solidFill>
                  <a:srgbClr val="151515"/>
                </a:solidFill>
                <a:latin typeface="Arial"/>
                <a:ea typeface="Arial"/>
                <a:cs typeface="Arial"/>
              </a:defRPr>
            </a:lvl2pPr>
            <a:lvl3pPr algn="l">
              <a:defRPr sz="1650" b="0" i="0">
                <a:solidFill>
                  <a:srgbClr val="151515"/>
                </a:solidFill>
                <a:latin typeface="Arial"/>
                <a:ea typeface="Arial"/>
                <a:cs typeface="Arial"/>
              </a:defRPr>
            </a:lvl3pPr>
            <a:lvl4pPr algn="l">
              <a:defRPr sz="1650" b="0" i="0">
                <a:solidFill>
                  <a:srgbClr val="151515"/>
                </a:solidFill>
                <a:latin typeface="Arial"/>
                <a:ea typeface="Arial"/>
                <a:cs typeface="Arial"/>
              </a:defRPr>
            </a:lvl4pPr>
            <a:lvl5pPr algn="l">
              <a:defRPr sz="1650" b="0" i="0">
                <a:solidFill>
                  <a:srgbClr val="151515"/>
                </a:solidFill>
                <a:latin typeface="Arial"/>
                <a:ea typeface="Arial"/>
                <a:cs typeface="Arial"/>
              </a:defRPr>
            </a:lvl5pPr>
            <a:lvl6pPr algn="l">
              <a:defRPr sz="1650" b="0" i="0">
                <a:solidFill>
                  <a:srgbClr val="151515"/>
                </a:solidFill>
                <a:latin typeface="Arial"/>
                <a:ea typeface="Arial"/>
                <a:cs typeface="Arial"/>
              </a:defRPr>
            </a:lvl6pPr>
            <a:lvl7pPr algn="l">
              <a:defRPr sz="1650" b="0" i="0">
                <a:solidFill>
                  <a:srgbClr val="151515"/>
                </a:solidFill>
                <a:latin typeface="Arial"/>
                <a:ea typeface="Arial"/>
                <a:cs typeface="Arial"/>
              </a:defRPr>
            </a:lvl7pPr>
            <a:lvl8pPr algn="l">
              <a:defRPr sz="1650" b="0" i="0">
                <a:solidFill>
                  <a:srgbClr val="151515"/>
                </a:solidFill>
                <a:latin typeface="Arial"/>
                <a:ea typeface="Arial"/>
                <a:cs typeface="Arial"/>
              </a:defRPr>
            </a:lvl8pPr>
            <a:lvl9pPr algn="l">
              <a:defRPr sz="1650" b="0" i="0">
                <a:solidFill>
                  <a:srgbClr val="151515"/>
                </a:solidFill>
                <a:latin typeface="Arial"/>
                <a:ea typeface="Arial"/>
                <a:cs typeface="Arial"/>
              </a:defRPr>
            </a:lvl9pPr>
          </a:lstStyle>
          <a:p xmlns:a="http://schemas.openxmlformats.org/drawingml/2006/main">
            <a:pPr algn="l">
              <a:buNone/>
              <a:defRPr sz="1650" b="0" i="0">
                <a:solidFill>
                  <a:srgbClr val="151515"/>
                </a:solidFill>
                <a:latin typeface="Arial"/>
                <a:ea typeface="Arial"/>
                <a:cs typeface="Arial"/>
              </a:defRPr>
            </a:pPr>
            <a:r>
              <a:rPr sz="1650" b="0" i="0">
                <a:solidFill>
                  <a:srgbClr val="151515"/>
                </a:solidFill>
                <a:latin typeface="Arial"/>
                <a:ea typeface="Arial"/>
                <a:cs typeface="Arial"/>
              </a:rPr>
              <a:t>Under guidance of</a:t>
            </a:r>
          </a:p>
          <a:p xmlns:a="http://schemas.openxmlformats.org/drawingml/2006/main">
            <a:pPr algn="l">
              <a:buNone/>
              <a:defRPr sz="1650" b="0" i="0">
                <a:solidFill>
                  <a:srgbClr val="151515"/>
                </a:solidFill>
                <a:latin typeface="Arial"/>
                <a:ea typeface="Arial"/>
                <a:cs typeface="Arial"/>
              </a:defRPr>
            </a:pPr>
            <a:r>
              <a:rPr sz="1650" b="0" i="0">
                <a:solidFill>
                  <a:srgbClr val="151515"/>
                </a:solidFill>
                <a:latin typeface="Arial"/>
                <a:ea typeface="Arial"/>
                <a:cs typeface="Arial"/>
              </a:rPr>
              <a:t>Prof. Dr. Martin Simon</a:t>
            </a:r>
          </a:p>
          <a:p xmlns:a="http://schemas.openxmlformats.org/drawingml/2006/main">
            <a:pPr algn="l">
              <a:buNone/>
              <a:defRPr sz="1650" b="0" i="0">
                <a:solidFill>
                  <a:srgbClr val="151515"/>
                </a:solidFill>
                <a:latin typeface="Arial"/>
                <a:ea typeface="Arial"/>
                <a:cs typeface="Arial"/>
              </a:defRPr>
            </a:pPr>
            <a:r>
              <a:rPr sz="1650" b="0" i="0">
                <a:solidFill>
                  <a:srgbClr val="151515"/>
                </a:solidFill>
                <a:latin typeface="Arial"/>
                <a:ea typeface="Arial"/>
                <a:cs typeface="Arial"/>
              </a:rPr>
              <a:t>Prof. Dr. Doina Logofatu</a:t>
            </a:r>
          </a:p>
        </p:txBody>
      </p:sp>
    </p:spTree>
    <p:extLst>
      <p:ext uri="{BB962C8B-B14F-4D97-AF65-F5344CB8AC3E}">
        <p14:creationId xmlns:p14="http://schemas.microsoft.com/office/powerpoint/2010/main" val="3689707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E11A9FA-9D4D-455E-A473-CB516600538F}"/>
              </a:ext>
            </a:extLst>
          </p:cNvPr>
          <p:cNvPicPr>
            <a:picLocks xmlns:a="http://schemas.openxmlformats.org/drawingml/2006/main" noChangeAspect="1"/>
          </p:cNvPicPr>
          <p:nvPr/>
        </p:nvPicPr>
        <p:blipFill>
          <a:blip xmlns:r="http://schemas.openxmlformats.org/officeDocument/2006/relationships" xmlns:a="http://schemas.openxmlformats.org/drawingml/2006/main" r:embed="R7985182b88c249c7"/>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C89764-B375-4342-933B-04C9D2502B77}"/>
              </a:ext>
            </a:extLst>
          </p:cNvPr>
          <p:cNvSpPr>
            <a:spLocks xmlns:a="http://schemas.openxmlformats.org/drawingml/2006/main" noGrp="1"/>
          </p:cNvSpPr>
          <p:nvPr/>
        </p:nvSpPr>
        <p:spPr>
          <a:xfrm xmlns:a="http://schemas.openxmlformats.org/drawingml/2006/main">
            <a:off x="361950" y="62865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1" i="0">
                <a:solidFill>
                  <a:srgbClr val="4776C9"/>
                </a:solidFill>
                <a:latin typeface="Arial"/>
                <a:ea typeface="Arial"/>
                <a:cs typeface="Arial"/>
              </a:defRPr>
            </a:defPPr>
            <a:lvl1pPr algn="l">
              <a:defRPr sz="2925" b="1" i="0">
                <a:solidFill>
                  <a:srgbClr val="4776C9"/>
                </a:solidFill>
                <a:latin typeface="Arial"/>
                <a:ea typeface="Arial"/>
                <a:cs typeface="Arial"/>
              </a:defRPr>
            </a:lvl1pPr>
            <a:lvl2pPr algn="l">
              <a:defRPr sz="2925" b="1" i="0">
                <a:solidFill>
                  <a:srgbClr val="4776C9"/>
                </a:solidFill>
                <a:latin typeface="Arial"/>
                <a:ea typeface="Arial"/>
                <a:cs typeface="Arial"/>
              </a:defRPr>
            </a:lvl2pPr>
            <a:lvl3pPr algn="l">
              <a:defRPr sz="2925" b="1" i="0">
                <a:solidFill>
                  <a:srgbClr val="4776C9"/>
                </a:solidFill>
                <a:latin typeface="Arial"/>
                <a:ea typeface="Arial"/>
                <a:cs typeface="Arial"/>
              </a:defRPr>
            </a:lvl3pPr>
            <a:lvl4pPr algn="l">
              <a:defRPr sz="2925" b="1" i="0">
                <a:solidFill>
                  <a:srgbClr val="4776C9"/>
                </a:solidFill>
                <a:latin typeface="Arial"/>
                <a:ea typeface="Arial"/>
                <a:cs typeface="Arial"/>
              </a:defRPr>
            </a:lvl4pPr>
            <a:lvl5pPr algn="l">
              <a:defRPr sz="2925" b="1" i="0">
                <a:solidFill>
                  <a:srgbClr val="4776C9"/>
                </a:solidFill>
                <a:latin typeface="Arial"/>
                <a:ea typeface="Arial"/>
                <a:cs typeface="Arial"/>
              </a:defRPr>
            </a:lvl5pPr>
            <a:lvl6pPr algn="l">
              <a:defRPr sz="2925" b="1" i="0">
                <a:solidFill>
                  <a:srgbClr val="4776C9"/>
                </a:solidFill>
                <a:latin typeface="Arial"/>
                <a:ea typeface="Arial"/>
                <a:cs typeface="Arial"/>
              </a:defRPr>
            </a:lvl6pPr>
            <a:lvl7pPr algn="l">
              <a:defRPr sz="2925" b="1" i="0">
                <a:solidFill>
                  <a:srgbClr val="4776C9"/>
                </a:solidFill>
                <a:latin typeface="Arial"/>
                <a:ea typeface="Arial"/>
                <a:cs typeface="Arial"/>
              </a:defRPr>
            </a:lvl7pPr>
            <a:lvl8pPr algn="l">
              <a:defRPr sz="2925" b="1" i="0">
                <a:solidFill>
                  <a:srgbClr val="4776C9"/>
                </a:solidFill>
                <a:latin typeface="Arial"/>
                <a:ea typeface="Arial"/>
                <a:cs typeface="Arial"/>
              </a:defRPr>
            </a:lvl8pPr>
            <a:lvl9pPr algn="l">
              <a:defRPr sz="2925" b="1" i="0">
                <a:solidFill>
                  <a:srgbClr val="4776C9"/>
                </a:solidFill>
                <a:latin typeface="Arial"/>
                <a:ea typeface="Arial"/>
                <a:cs typeface="Arial"/>
              </a:defRPr>
            </a:lvl9pPr>
          </a:lstStyle>
          <a:p xmlns:a="http://schemas.openxmlformats.org/drawingml/2006/main">
            <a:pPr algn="l">
              <a:buNone/>
              <a:defRPr sz="2925" b="1" i="0">
                <a:solidFill>
                  <a:srgbClr val="4776C9"/>
                </a:solidFill>
                <a:latin typeface="Arial"/>
                <a:ea typeface="Arial"/>
                <a:cs typeface="Arial"/>
              </a:defRPr>
            </a:pPr>
            <a:r>
              <a:rPr sz="2925" b="1" i="0">
                <a:solidFill>
                  <a:srgbClr val="4776C9"/>
                </a:solidFill>
                <a:latin typeface="Arial"/>
                <a:ea typeface="Arial"/>
                <a:cs typeface="Arial"/>
              </a:rPr>
              <a:t>Motivation - Why uncertainty bands?</a:t>
            </a:r>
          </a:p>
        </p:txBody>
      </p:sp>
      <p:sp>
        <p:nvSpPr>
          <p:cNvPr id="3" name="">
            <a:extLst xmlns:a="http://schemas.openxmlformats.org/drawingml/2006/main">
              <a:ext uri="{FF2B5EF4-FFF2-40B4-BE49-F238E27FC236}">
                <a16:creationId xmlns:a16="http://schemas.microsoft.com/office/drawing/2014/main" id="{93E25B39-D884-4472-97D6-911C76BE57B7}"/>
              </a:ext>
            </a:extLst>
          </p:cNvPr>
          <p:cNvSpPr>
            <a:spLocks xmlns:a="http://schemas.openxmlformats.org/drawingml/2006/main" noGrp="1"/>
          </p:cNvSpPr>
          <p:nvPr/>
        </p:nvSpPr>
        <p:spPr>
          <a:xfrm xmlns:a="http://schemas.openxmlformats.org/drawingml/2006/main">
            <a:off x="523875" y="1609725"/>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a:solidFill>
                  <a:srgbClr val="151515"/>
                </a:solidFill>
                <a:latin typeface="Arial"/>
                <a:ea typeface="Arial"/>
                <a:cs typeface="Arial"/>
              </a:defRPr>
            </a:defPPr>
            <a:lvl1pPr>
              <a:defRPr sz="1950">
                <a:solidFill>
                  <a:srgbClr val="151515"/>
                </a:solidFill>
                <a:latin typeface="Arial"/>
                <a:ea typeface="Arial"/>
                <a:cs typeface="Arial"/>
              </a:defRPr>
            </a:lvl1pPr>
            <a:lvl2pPr>
              <a:defRPr sz="1950">
                <a:solidFill>
                  <a:srgbClr val="151515"/>
                </a:solidFill>
                <a:latin typeface="Arial"/>
                <a:ea typeface="Arial"/>
                <a:cs typeface="Arial"/>
              </a:defRPr>
            </a:lvl2pPr>
            <a:lvl3pPr>
              <a:defRPr sz="1950">
                <a:solidFill>
                  <a:srgbClr val="151515"/>
                </a:solidFill>
                <a:latin typeface="Arial"/>
                <a:ea typeface="Arial"/>
                <a:cs typeface="Arial"/>
              </a:defRPr>
            </a:lvl3pPr>
            <a:lvl4pPr>
              <a:defRPr sz="1950">
                <a:solidFill>
                  <a:srgbClr val="151515"/>
                </a:solidFill>
                <a:latin typeface="Arial"/>
                <a:ea typeface="Arial"/>
                <a:cs typeface="Arial"/>
              </a:defRPr>
            </a:lvl4pPr>
            <a:lvl5pPr>
              <a:defRPr sz="1950">
                <a:solidFill>
                  <a:srgbClr val="151515"/>
                </a:solidFill>
                <a:latin typeface="Arial"/>
                <a:ea typeface="Arial"/>
                <a:cs typeface="Arial"/>
              </a:defRPr>
            </a:lvl5pPr>
            <a:lvl6pPr>
              <a:defRPr sz="1950">
                <a:solidFill>
                  <a:srgbClr val="151515"/>
                </a:solidFill>
                <a:latin typeface="Arial"/>
                <a:ea typeface="Arial"/>
                <a:cs typeface="Arial"/>
              </a:defRPr>
            </a:lvl6pPr>
            <a:lvl7pPr>
              <a:defRPr sz="1950">
                <a:solidFill>
                  <a:srgbClr val="151515"/>
                </a:solidFill>
                <a:latin typeface="Arial"/>
                <a:ea typeface="Arial"/>
                <a:cs typeface="Arial"/>
              </a:defRPr>
            </a:lvl7pPr>
            <a:lvl8pPr>
              <a:defRPr sz="1950">
                <a:solidFill>
                  <a:srgbClr val="151515"/>
                </a:solidFill>
                <a:latin typeface="Arial"/>
                <a:ea typeface="Arial"/>
                <a:cs typeface="Arial"/>
              </a:defRPr>
            </a:lvl8pPr>
            <a:lvl9pPr>
              <a:defRPr sz="1950">
                <a:solidFill>
                  <a:srgbClr val="151515"/>
                </a:solidFill>
                <a:latin typeface="Arial"/>
                <a:ea typeface="Arial"/>
                <a:cs typeface="Arial"/>
              </a:defRPr>
            </a:lvl9pPr>
          </a:lstStyle>
          <a:p xmlns:a="http://schemas.openxmlformats.org/drawingml/2006/main">
            <a:pPr marL="317500" indent="-165100">
              <a:spcAft>
                <a:spcPts val="1400"/>
              </a:spcAft>
              <a:buChar char="•"/>
              <a:defRPr sz="1950">
                <a:solidFill>
                  <a:srgbClr val="151515"/>
                </a:solidFill>
                <a:latin typeface="Arial"/>
                <a:ea typeface="Arial"/>
                <a:cs typeface="Arial"/>
              </a:defRPr>
            </a:pPr>
            <a:r>
              <a:t>Option quotes occupy irregular strikes and maturities that change over time.</a:t>
            </a:r>
          </a:p>
          <a:p xmlns:a="http://schemas.openxmlformats.org/drawingml/2006/main">
            <a:pPr marL="317500" indent="-165100">
              <a:spcAft>
                <a:spcPts val="1400"/>
              </a:spcAft>
              <a:buChar char="•"/>
              <a:defRPr sz="1950">
                <a:solidFill>
                  <a:srgbClr val="151515"/>
                </a:solidFill>
                <a:latin typeface="Arial"/>
                <a:ea typeface="Arial"/>
                <a:cs typeface="Arial"/>
              </a:defRPr>
            </a:pPr>
            <a:r>
              <a:t>Smooth implied-volatility surfaces support option pricing and risk measurement.</a:t>
            </a:r>
          </a:p>
          <a:p xmlns:a="http://schemas.openxmlformats.org/drawingml/2006/main">
            <a:pPr marL="317500" indent="-165100">
              <a:spcAft>
                <a:spcPts val="1400"/>
              </a:spcAft>
              <a:buChar char="•"/>
              <a:defRPr sz="1950">
                <a:solidFill>
                  <a:srgbClr val="151515"/>
                </a:solidFill>
                <a:latin typeface="Arial"/>
                <a:ea typeface="Arial"/>
                <a:cs typeface="Arial"/>
              </a:defRPr>
            </a:pPr>
            <a:r>
              <a:t>The Graph Neural Operator reconstructs a surface from irregular quotes in one forward pass.</a:t>
            </a:r>
          </a:p>
          <a:p xmlns:a="http://schemas.openxmlformats.org/drawingml/2006/main">
            <a:pPr marL="317500" indent="-165100">
              <a:spcAft>
                <a:spcPts val="1400"/>
              </a:spcAft>
              <a:buChar char="•"/>
              <a:defRPr sz="1950">
                <a:solidFill>
                  <a:srgbClr val="151515"/>
                </a:solidFill>
                <a:latin typeface="Arial"/>
                <a:ea typeface="Arial"/>
                <a:cs typeface="Arial"/>
              </a:defRPr>
            </a:pPr>
            <a:r>
              <a:t>Its point estimates need an uncertainty range for errors at withheld market quotes.</a:t>
            </a:r>
          </a:p>
        </p:txBody>
      </p:sp>
      <p:sp>
        <p:nvSpPr>
          <p:cNvPr id="5" name="source-line">
            <a:extLst xmlns:a="http://schemas.openxmlformats.org/drawingml/2006/main">
              <a:ext uri="{FF2B5EF4-FFF2-40B4-BE49-F238E27FC236}">
                <a16:creationId xmlns:a16="http://schemas.microsoft.com/office/drawing/2014/main" id="{D84E4B96-D1D9-4CE2-98F2-C28BD6D9C1DA}"/>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thesis Ch. 1 and Gonon et al. (2024)</a:t>
            </a:r>
          </a:p>
        </p:txBody>
      </p:sp>
      <p:sp>
        <p:nvSpPr>
          <p:cNvPr id="6" name="slide-number">
            <a:extLst xmlns:a="http://schemas.openxmlformats.org/drawingml/2006/main">
              <a:ext uri="{FF2B5EF4-FFF2-40B4-BE49-F238E27FC236}">
                <a16:creationId xmlns:a16="http://schemas.microsoft.com/office/drawing/2014/main" id="{D60E3430-4985-4B1B-9AAF-03CDFF29A42E}"/>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a:t>
            </a:r>
          </a:p>
        </p:txBody>
      </p:sp>
    </p:spTree>
    <p:extLst>
      <p:ext uri="{BB962C8B-B14F-4D97-AF65-F5344CB8AC3E}">
        <p14:creationId xmlns:p14="http://schemas.microsoft.com/office/powerpoint/2010/main" val="18986096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1C869B4A-AE30-451D-AA23-3656C96EA51B}"/>
              </a:ext>
            </a:extLst>
          </p:cNvPr>
          <p:cNvPicPr>
            <a:picLocks xmlns:a="http://schemas.openxmlformats.org/drawingml/2006/main" noChangeAspect="1"/>
          </p:cNvPicPr>
          <p:nvPr/>
        </p:nvPicPr>
        <p:blipFill>
          <a:blip xmlns:r="http://schemas.openxmlformats.org/officeDocument/2006/relationships" xmlns:a="http://schemas.openxmlformats.org/drawingml/2006/main" r:embed="R81a50915f55c45f5"/>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44CC8B-4CEB-40AA-82DE-49535F8696A6}"/>
              </a:ext>
            </a:extLst>
          </p:cNvPr>
          <p:cNvSpPr>
            <a:spLocks xmlns:a="http://schemas.openxmlformats.org/drawingml/2006/main" noGrp="1"/>
          </p:cNvSpPr>
          <p:nvPr/>
        </p:nvSpPr>
        <p:spPr>
          <a:xfrm xmlns:a="http://schemas.openxmlformats.org/drawingml/2006/main">
            <a:off x="361950" y="62865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1" i="0">
                <a:solidFill>
                  <a:srgbClr val="4776C9"/>
                </a:solidFill>
                <a:latin typeface="Arial"/>
                <a:ea typeface="Arial"/>
                <a:cs typeface="Arial"/>
              </a:defRPr>
            </a:defPPr>
            <a:lvl1pPr algn="l">
              <a:defRPr sz="2925" b="1" i="0">
                <a:solidFill>
                  <a:srgbClr val="4776C9"/>
                </a:solidFill>
                <a:latin typeface="Arial"/>
                <a:ea typeface="Arial"/>
                <a:cs typeface="Arial"/>
              </a:defRPr>
            </a:lvl1pPr>
            <a:lvl2pPr algn="l">
              <a:defRPr sz="2925" b="1" i="0">
                <a:solidFill>
                  <a:srgbClr val="4776C9"/>
                </a:solidFill>
                <a:latin typeface="Arial"/>
                <a:ea typeface="Arial"/>
                <a:cs typeface="Arial"/>
              </a:defRPr>
            </a:lvl2pPr>
            <a:lvl3pPr algn="l">
              <a:defRPr sz="2925" b="1" i="0">
                <a:solidFill>
                  <a:srgbClr val="4776C9"/>
                </a:solidFill>
                <a:latin typeface="Arial"/>
                <a:ea typeface="Arial"/>
                <a:cs typeface="Arial"/>
              </a:defRPr>
            </a:lvl3pPr>
            <a:lvl4pPr algn="l">
              <a:defRPr sz="2925" b="1" i="0">
                <a:solidFill>
                  <a:srgbClr val="4776C9"/>
                </a:solidFill>
                <a:latin typeface="Arial"/>
                <a:ea typeface="Arial"/>
                <a:cs typeface="Arial"/>
              </a:defRPr>
            </a:lvl4pPr>
            <a:lvl5pPr algn="l">
              <a:defRPr sz="2925" b="1" i="0">
                <a:solidFill>
                  <a:srgbClr val="4776C9"/>
                </a:solidFill>
                <a:latin typeface="Arial"/>
                <a:ea typeface="Arial"/>
                <a:cs typeface="Arial"/>
              </a:defRPr>
            </a:lvl5pPr>
            <a:lvl6pPr algn="l">
              <a:defRPr sz="2925" b="1" i="0">
                <a:solidFill>
                  <a:srgbClr val="4776C9"/>
                </a:solidFill>
                <a:latin typeface="Arial"/>
                <a:ea typeface="Arial"/>
                <a:cs typeface="Arial"/>
              </a:defRPr>
            </a:lvl6pPr>
            <a:lvl7pPr algn="l">
              <a:defRPr sz="2925" b="1" i="0">
                <a:solidFill>
                  <a:srgbClr val="4776C9"/>
                </a:solidFill>
                <a:latin typeface="Arial"/>
                <a:ea typeface="Arial"/>
                <a:cs typeface="Arial"/>
              </a:defRPr>
            </a:lvl7pPr>
            <a:lvl8pPr algn="l">
              <a:defRPr sz="2925" b="1" i="0">
                <a:solidFill>
                  <a:srgbClr val="4776C9"/>
                </a:solidFill>
                <a:latin typeface="Arial"/>
                <a:ea typeface="Arial"/>
                <a:cs typeface="Arial"/>
              </a:defRPr>
            </a:lvl8pPr>
            <a:lvl9pPr algn="l">
              <a:defRPr sz="2925" b="1" i="0">
                <a:solidFill>
                  <a:srgbClr val="4776C9"/>
                </a:solidFill>
                <a:latin typeface="Arial"/>
                <a:ea typeface="Arial"/>
                <a:cs typeface="Arial"/>
              </a:defRPr>
            </a:lvl9pPr>
          </a:lstStyle>
          <a:p xmlns:a="http://schemas.openxmlformats.org/drawingml/2006/main">
            <a:pPr algn="l">
              <a:buNone/>
              <a:defRPr sz="2925" b="1" i="0">
                <a:solidFill>
                  <a:srgbClr val="4776C9"/>
                </a:solidFill>
                <a:latin typeface="Arial"/>
                <a:ea typeface="Arial"/>
                <a:cs typeface="Arial"/>
              </a:defRPr>
            </a:pPr>
            <a:r>
              <a:rPr sz="2925" b="1" i="0">
                <a:solidFill>
                  <a:srgbClr val="4776C9"/>
                </a:solidFill>
                <a:latin typeface="Arial"/>
                <a:ea typeface="Arial"/>
                <a:cs typeface="Arial"/>
              </a:rPr>
              <a:t>Implied-Volatility Surface</a:t>
            </a:r>
          </a:p>
        </p:txBody>
      </p:sp>
      <p:pic>
        <p:nvPicPr>
          <p:cNvPr id="3" name="">
            <a:extLst xmlns:a="http://schemas.openxmlformats.org/drawingml/2006/main">
              <a:ext uri="{FF2B5EF4-FFF2-40B4-BE49-F238E27FC236}">
                <a16:creationId xmlns:a16="http://schemas.microsoft.com/office/drawing/2014/main" id="{07D12EB6-979D-47B8-87F8-BA8910EC69BA}"/>
              </a:ext>
            </a:extLst>
          </p:cNvPr>
          <p:cNvPicPr>
            <a:picLocks xmlns:a="http://schemas.openxmlformats.org/drawingml/2006/main" noChangeAspect="1"/>
          </p:cNvPicPr>
          <p:nvPr/>
        </p:nvPicPr>
        <p:blipFill>
          <a:blip xmlns:r="http://schemas.openxmlformats.org/officeDocument/2006/relationships" xmlns:a="http://schemas.openxmlformats.org/drawingml/2006/main" r:embed="R99101193da2f4524"/>
          <a:srcRect xmlns:a="http://schemas.openxmlformats.org/drawingml/2006/main" l="2168" t="0" r="2168" b="0"/>
          <a:stretch xmlns:a="http://schemas.openxmlformats.org/drawingml/2006/main">
            <a:fillRect l="0" t="0" r="0" b="0"/>
          </a:stretch>
        </p:blipFill>
        <p:spPr>
          <a:xfrm xmlns:a="http://schemas.openxmlformats.org/drawingml/2006/main">
            <a:off x="95250" y="1381125"/>
            <a:ext cx="723900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B0C5650-5DA6-4706-900F-040DC435B673}"/>
              </a:ext>
            </a:extLst>
          </p:cNvPr>
          <p:cNvSpPr>
            <a:spLocks xmlns:a="http://schemas.openxmlformats.org/drawingml/2006/main" noGrp="1"/>
          </p:cNvSpPr>
          <p:nvPr/>
        </p:nvSpPr>
        <p:spPr>
          <a:xfrm xmlns:a="http://schemas.openxmlformats.org/drawingml/2006/main">
            <a:off x="7924800" y="1562100"/>
            <a:ext cx="385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i="0">
                <a:solidFill>
                  <a:srgbClr val="4776C9"/>
                </a:solidFill>
                <a:latin typeface="Arial"/>
                <a:ea typeface="Arial"/>
                <a:cs typeface="Arial"/>
              </a:defRPr>
            </a:defPPr>
            <a:lvl1pPr algn="l">
              <a:defRPr sz="1875" b="1" i="0">
                <a:solidFill>
                  <a:srgbClr val="4776C9"/>
                </a:solidFill>
                <a:latin typeface="Arial"/>
                <a:ea typeface="Arial"/>
                <a:cs typeface="Arial"/>
              </a:defRPr>
            </a:lvl1pPr>
            <a:lvl2pPr algn="l">
              <a:defRPr sz="1875" b="1" i="0">
                <a:solidFill>
                  <a:srgbClr val="4776C9"/>
                </a:solidFill>
                <a:latin typeface="Arial"/>
                <a:ea typeface="Arial"/>
                <a:cs typeface="Arial"/>
              </a:defRPr>
            </a:lvl2pPr>
            <a:lvl3pPr algn="l">
              <a:defRPr sz="1875" b="1" i="0">
                <a:solidFill>
                  <a:srgbClr val="4776C9"/>
                </a:solidFill>
                <a:latin typeface="Arial"/>
                <a:ea typeface="Arial"/>
                <a:cs typeface="Arial"/>
              </a:defRPr>
            </a:lvl3pPr>
            <a:lvl4pPr algn="l">
              <a:defRPr sz="1875" b="1" i="0">
                <a:solidFill>
                  <a:srgbClr val="4776C9"/>
                </a:solidFill>
                <a:latin typeface="Arial"/>
                <a:ea typeface="Arial"/>
                <a:cs typeface="Arial"/>
              </a:defRPr>
            </a:lvl4pPr>
            <a:lvl5pPr algn="l">
              <a:defRPr sz="1875" b="1" i="0">
                <a:solidFill>
                  <a:srgbClr val="4776C9"/>
                </a:solidFill>
                <a:latin typeface="Arial"/>
                <a:ea typeface="Arial"/>
                <a:cs typeface="Arial"/>
              </a:defRPr>
            </a:lvl5pPr>
            <a:lvl6pPr algn="l">
              <a:defRPr sz="1875" b="1" i="0">
                <a:solidFill>
                  <a:srgbClr val="4776C9"/>
                </a:solidFill>
                <a:latin typeface="Arial"/>
                <a:ea typeface="Arial"/>
                <a:cs typeface="Arial"/>
              </a:defRPr>
            </a:lvl6pPr>
            <a:lvl7pPr algn="l">
              <a:defRPr sz="1875" b="1" i="0">
                <a:solidFill>
                  <a:srgbClr val="4776C9"/>
                </a:solidFill>
                <a:latin typeface="Arial"/>
                <a:ea typeface="Arial"/>
                <a:cs typeface="Arial"/>
              </a:defRPr>
            </a:lvl7pPr>
            <a:lvl8pPr algn="l">
              <a:defRPr sz="1875" b="1" i="0">
                <a:solidFill>
                  <a:srgbClr val="4776C9"/>
                </a:solidFill>
                <a:latin typeface="Arial"/>
                <a:ea typeface="Arial"/>
                <a:cs typeface="Arial"/>
              </a:defRPr>
            </a:lvl8pPr>
            <a:lvl9pPr algn="l">
              <a:defRPr sz="1875" b="1" i="0">
                <a:solidFill>
                  <a:srgbClr val="4776C9"/>
                </a:solidFill>
                <a:latin typeface="Arial"/>
                <a:ea typeface="Arial"/>
                <a:cs typeface="Arial"/>
              </a:defRPr>
            </a:lvl9pPr>
          </a:lstStyle>
          <a:p xmlns:a="http://schemas.openxmlformats.org/drawingml/2006/main">
            <a:pPr algn="l">
              <a:buNone/>
              <a:defRPr sz="1875" b="1" i="0">
                <a:solidFill>
                  <a:srgbClr val="4776C9"/>
                </a:solidFill>
                <a:latin typeface="Arial"/>
                <a:ea typeface="Arial"/>
                <a:cs typeface="Arial"/>
              </a:defRPr>
            </a:pPr>
            <a:r>
              <a:rPr sz="1875" b="1" i="0">
                <a:solidFill>
                  <a:srgbClr val="4776C9"/>
                </a:solidFill>
                <a:latin typeface="Arial"/>
                <a:ea typeface="Arial"/>
                <a:cs typeface="Arial"/>
              </a:rPr>
              <a:t>How to read the picture</a:t>
            </a:r>
          </a:p>
        </p:txBody>
      </p:sp>
      <p:sp>
        <p:nvSpPr>
          <p:cNvPr id="5" name="">
            <a:extLst xmlns:a="http://schemas.openxmlformats.org/drawingml/2006/main">
              <a:ext uri="{FF2B5EF4-FFF2-40B4-BE49-F238E27FC236}">
                <a16:creationId xmlns:a16="http://schemas.microsoft.com/office/drawing/2014/main" id="{A16FAFB2-4128-4231-9715-7988CDD6F01A}"/>
              </a:ext>
            </a:extLst>
          </p:cNvPr>
          <p:cNvSpPr>
            <a:spLocks xmlns:a="http://schemas.openxmlformats.org/drawingml/2006/main" noGrp="1"/>
          </p:cNvSpPr>
          <p:nvPr/>
        </p:nvSpPr>
        <p:spPr>
          <a:xfrm xmlns:a="http://schemas.openxmlformats.org/drawingml/2006/main">
            <a:off x="7924800" y="1971675"/>
            <a:ext cx="3857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i="0">
                <a:solidFill>
                  <a:srgbClr val="4B4B4B"/>
                </a:solidFill>
                <a:latin typeface="Arial"/>
                <a:ea typeface="Arial"/>
                <a:cs typeface="Arial"/>
              </a:defRPr>
            </a:defPPr>
            <a:lvl1pPr algn="l">
              <a:defRPr sz="1425" b="0" i="0">
                <a:solidFill>
                  <a:srgbClr val="4B4B4B"/>
                </a:solidFill>
                <a:latin typeface="Arial"/>
                <a:ea typeface="Arial"/>
                <a:cs typeface="Arial"/>
              </a:defRPr>
            </a:lvl1pPr>
            <a:lvl2pPr algn="l">
              <a:defRPr sz="1425" b="0" i="0">
                <a:solidFill>
                  <a:srgbClr val="4B4B4B"/>
                </a:solidFill>
                <a:latin typeface="Arial"/>
                <a:ea typeface="Arial"/>
                <a:cs typeface="Arial"/>
              </a:defRPr>
            </a:lvl2pPr>
            <a:lvl3pPr algn="l">
              <a:defRPr sz="1425" b="0" i="0">
                <a:solidFill>
                  <a:srgbClr val="4B4B4B"/>
                </a:solidFill>
                <a:latin typeface="Arial"/>
                <a:ea typeface="Arial"/>
                <a:cs typeface="Arial"/>
              </a:defRPr>
            </a:lvl3pPr>
            <a:lvl4pPr algn="l">
              <a:defRPr sz="1425" b="0" i="0">
                <a:solidFill>
                  <a:srgbClr val="4B4B4B"/>
                </a:solidFill>
                <a:latin typeface="Arial"/>
                <a:ea typeface="Arial"/>
                <a:cs typeface="Arial"/>
              </a:defRPr>
            </a:lvl4pPr>
            <a:lvl5pPr algn="l">
              <a:defRPr sz="1425" b="0" i="0">
                <a:solidFill>
                  <a:srgbClr val="4B4B4B"/>
                </a:solidFill>
                <a:latin typeface="Arial"/>
                <a:ea typeface="Arial"/>
                <a:cs typeface="Arial"/>
              </a:defRPr>
            </a:lvl5pPr>
            <a:lvl6pPr algn="l">
              <a:defRPr sz="1425" b="0" i="0">
                <a:solidFill>
                  <a:srgbClr val="4B4B4B"/>
                </a:solidFill>
                <a:latin typeface="Arial"/>
                <a:ea typeface="Arial"/>
                <a:cs typeface="Arial"/>
              </a:defRPr>
            </a:lvl6pPr>
            <a:lvl7pPr algn="l">
              <a:defRPr sz="1425" b="0" i="0">
                <a:solidFill>
                  <a:srgbClr val="4B4B4B"/>
                </a:solidFill>
                <a:latin typeface="Arial"/>
                <a:ea typeface="Arial"/>
                <a:cs typeface="Arial"/>
              </a:defRPr>
            </a:lvl7pPr>
            <a:lvl8pPr algn="l">
              <a:defRPr sz="1425" b="0" i="0">
                <a:solidFill>
                  <a:srgbClr val="4B4B4B"/>
                </a:solidFill>
                <a:latin typeface="Arial"/>
                <a:ea typeface="Arial"/>
                <a:cs typeface="Arial"/>
              </a:defRPr>
            </a:lvl8pPr>
            <a:lvl9pPr algn="l">
              <a:defRPr sz="1425" b="0" i="0">
                <a:solidFill>
                  <a:srgbClr val="4B4B4B"/>
                </a:solidFill>
                <a:latin typeface="Arial"/>
                <a:ea typeface="Arial"/>
                <a:cs typeface="Arial"/>
              </a:defRPr>
            </a:lvl9pPr>
          </a:lstStyle>
          <a:p xmlns:a="http://schemas.openxmlformats.org/drawingml/2006/main">
            <a:pPr algn="l">
              <a:buNone/>
              <a:defRPr sz="1425" b="0" i="0">
                <a:solidFill>
                  <a:srgbClr val="4B4B4B"/>
                </a:solidFill>
                <a:latin typeface="Arial"/>
                <a:ea typeface="Arial"/>
                <a:cs typeface="Arial"/>
              </a:defRPr>
            </a:pPr>
            <a:r>
              <a:rPr sz="1425" b="0" i="0">
                <a:solidFill>
                  <a:srgbClr val="4B4B4B"/>
                </a:solidFill>
                <a:latin typeface="Arial"/>
                <a:ea typeface="Arial"/>
                <a:cs typeface="Arial"/>
              </a:rPr>
              <a:t>SPX options are options on the S&amp;P 500 Index.</a:t>
            </a:r>
          </a:p>
        </p:txBody>
      </p:sp>
      <p:sp>
        <p:nvSpPr>
          <p:cNvPr id="6" name="">
            <a:extLst xmlns:a="http://schemas.openxmlformats.org/drawingml/2006/main">
              <a:ext uri="{FF2B5EF4-FFF2-40B4-BE49-F238E27FC236}">
                <a16:creationId xmlns:a16="http://schemas.microsoft.com/office/drawing/2014/main" id="{9C4E73CD-E905-4485-BFDA-51A02C6F2065}"/>
              </a:ext>
            </a:extLst>
          </p:cNvPr>
          <p:cNvSpPr>
            <a:spLocks xmlns:a="http://schemas.openxmlformats.org/drawingml/2006/main" noGrp="1"/>
          </p:cNvSpPr>
          <p:nvPr/>
        </p:nvSpPr>
        <p:spPr>
          <a:xfrm xmlns:a="http://schemas.openxmlformats.org/drawingml/2006/main">
            <a:off x="7924800" y="2381250"/>
            <a:ext cx="3857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i="0">
                <a:solidFill>
                  <a:srgbClr val="4776C9"/>
                </a:solidFill>
                <a:latin typeface="Arial"/>
                <a:ea typeface="Arial"/>
                <a:cs typeface="Arial"/>
              </a:defRPr>
            </a:defPPr>
            <a:lvl1pPr algn="l">
              <a:defRPr sz="1650" b="1" i="0">
                <a:solidFill>
                  <a:srgbClr val="4776C9"/>
                </a:solidFill>
                <a:latin typeface="Arial"/>
                <a:ea typeface="Arial"/>
                <a:cs typeface="Arial"/>
              </a:defRPr>
            </a:lvl1pPr>
            <a:lvl2pPr algn="l">
              <a:defRPr sz="1650" b="1" i="0">
                <a:solidFill>
                  <a:srgbClr val="4776C9"/>
                </a:solidFill>
                <a:latin typeface="Arial"/>
                <a:ea typeface="Arial"/>
                <a:cs typeface="Arial"/>
              </a:defRPr>
            </a:lvl2pPr>
            <a:lvl3pPr algn="l">
              <a:defRPr sz="1650" b="1" i="0">
                <a:solidFill>
                  <a:srgbClr val="4776C9"/>
                </a:solidFill>
                <a:latin typeface="Arial"/>
                <a:ea typeface="Arial"/>
                <a:cs typeface="Arial"/>
              </a:defRPr>
            </a:lvl3pPr>
            <a:lvl4pPr algn="l">
              <a:defRPr sz="1650" b="1" i="0">
                <a:solidFill>
                  <a:srgbClr val="4776C9"/>
                </a:solidFill>
                <a:latin typeface="Arial"/>
                <a:ea typeface="Arial"/>
                <a:cs typeface="Arial"/>
              </a:defRPr>
            </a:lvl4pPr>
            <a:lvl5pPr algn="l">
              <a:defRPr sz="1650" b="1" i="0">
                <a:solidFill>
                  <a:srgbClr val="4776C9"/>
                </a:solidFill>
                <a:latin typeface="Arial"/>
                <a:ea typeface="Arial"/>
                <a:cs typeface="Arial"/>
              </a:defRPr>
            </a:lvl5pPr>
            <a:lvl6pPr algn="l">
              <a:defRPr sz="1650" b="1" i="0">
                <a:solidFill>
                  <a:srgbClr val="4776C9"/>
                </a:solidFill>
                <a:latin typeface="Arial"/>
                <a:ea typeface="Arial"/>
                <a:cs typeface="Arial"/>
              </a:defRPr>
            </a:lvl6pPr>
            <a:lvl7pPr algn="l">
              <a:defRPr sz="1650" b="1" i="0">
                <a:solidFill>
                  <a:srgbClr val="4776C9"/>
                </a:solidFill>
                <a:latin typeface="Arial"/>
                <a:ea typeface="Arial"/>
                <a:cs typeface="Arial"/>
              </a:defRPr>
            </a:lvl7pPr>
            <a:lvl8pPr algn="l">
              <a:defRPr sz="1650" b="1" i="0">
                <a:solidFill>
                  <a:srgbClr val="4776C9"/>
                </a:solidFill>
                <a:latin typeface="Arial"/>
                <a:ea typeface="Arial"/>
                <a:cs typeface="Arial"/>
              </a:defRPr>
            </a:lvl8pPr>
            <a:lvl9pPr algn="l">
              <a:defRPr sz="1650" b="1" i="0">
                <a:solidFill>
                  <a:srgbClr val="4776C9"/>
                </a:solidFill>
                <a:latin typeface="Arial"/>
                <a:ea typeface="Arial"/>
                <a:cs typeface="Arial"/>
              </a:defRPr>
            </a:lvl9pPr>
          </a:lstStyle>
          <a:p xmlns:a="http://schemas.openxmlformats.org/drawingml/2006/main">
            <a:pPr algn="l">
              <a:buNone/>
              <a:defRPr sz="1650" b="1" i="0">
                <a:solidFill>
                  <a:srgbClr val="4776C9"/>
                </a:solidFill>
                <a:latin typeface="Arial"/>
                <a:ea typeface="Arial"/>
                <a:cs typeface="Arial"/>
              </a:defRPr>
            </a:pPr>
            <a:r>
              <a:rPr sz="1650" b="1" i="0">
                <a:solidFill>
                  <a:srgbClr val="4776C9"/>
                </a:solidFill>
                <a:latin typeface="Arial"/>
                <a:ea typeface="Arial"/>
                <a:cs typeface="Arial"/>
              </a:rPr>
              <a:t>Time until expiry</a:t>
            </a:r>
          </a:p>
        </p:txBody>
      </p:sp>
      <p:sp>
        <p:nvSpPr>
          <p:cNvPr id="7" name="">
            <a:extLst xmlns:a="http://schemas.openxmlformats.org/drawingml/2006/main">
              <a:ext uri="{FF2B5EF4-FFF2-40B4-BE49-F238E27FC236}">
                <a16:creationId xmlns:a16="http://schemas.microsoft.com/office/drawing/2014/main" id="{9C703719-D66C-4D83-BB6B-32523BF6AA88}"/>
              </a:ext>
            </a:extLst>
          </p:cNvPr>
          <p:cNvSpPr>
            <a:spLocks xmlns:a="http://schemas.openxmlformats.org/drawingml/2006/main" noGrp="1"/>
          </p:cNvSpPr>
          <p:nvPr/>
        </p:nvSpPr>
        <p:spPr>
          <a:xfrm xmlns:a="http://schemas.openxmlformats.org/drawingml/2006/main">
            <a:off x="7924800" y="2714625"/>
            <a:ext cx="3857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i="0">
                <a:solidFill>
                  <a:srgbClr val="151515"/>
                </a:solidFill>
                <a:latin typeface="Arial"/>
                <a:ea typeface="Arial"/>
                <a:cs typeface="Arial"/>
              </a:defRPr>
            </a:defPPr>
            <a:lvl1pPr algn="l">
              <a:defRPr sz="1425" b="0" i="0">
                <a:solidFill>
                  <a:srgbClr val="151515"/>
                </a:solidFill>
                <a:latin typeface="Arial"/>
                <a:ea typeface="Arial"/>
                <a:cs typeface="Arial"/>
              </a:defRPr>
            </a:lvl1pPr>
            <a:lvl2pPr algn="l">
              <a:defRPr sz="1425" b="0" i="0">
                <a:solidFill>
                  <a:srgbClr val="151515"/>
                </a:solidFill>
                <a:latin typeface="Arial"/>
                <a:ea typeface="Arial"/>
                <a:cs typeface="Arial"/>
              </a:defRPr>
            </a:lvl2pPr>
            <a:lvl3pPr algn="l">
              <a:defRPr sz="1425" b="0" i="0">
                <a:solidFill>
                  <a:srgbClr val="151515"/>
                </a:solidFill>
                <a:latin typeface="Arial"/>
                <a:ea typeface="Arial"/>
                <a:cs typeface="Arial"/>
              </a:defRPr>
            </a:lvl3pPr>
            <a:lvl4pPr algn="l">
              <a:defRPr sz="1425" b="0" i="0">
                <a:solidFill>
                  <a:srgbClr val="151515"/>
                </a:solidFill>
                <a:latin typeface="Arial"/>
                <a:ea typeface="Arial"/>
                <a:cs typeface="Arial"/>
              </a:defRPr>
            </a:lvl4pPr>
            <a:lvl5pPr algn="l">
              <a:defRPr sz="1425" b="0" i="0">
                <a:solidFill>
                  <a:srgbClr val="151515"/>
                </a:solidFill>
                <a:latin typeface="Arial"/>
                <a:ea typeface="Arial"/>
                <a:cs typeface="Arial"/>
              </a:defRPr>
            </a:lvl5pPr>
            <a:lvl6pPr algn="l">
              <a:defRPr sz="1425" b="0" i="0">
                <a:solidFill>
                  <a:srgbClr val="151515"/>
                </a:solidFill>
                <a:latin typeface="Arial"/>
                <a:ea typeface="Arial"/>
                <a:cs typeface="Arial"/>
              </a:defRPr>
            </a:lvl6pPr>
            <a:lvl7pPr algn="l">
              <a:defRPr sz="1425" b="0" i="0">
                <a:solidFill>
                  <a:srgbClr val="151515"/>
                </a:solidFill>
                <a:latin typeface="Arial"/>
                <a:ea typeface="Arial"/>
                <a:cs typeface="Arial"/>
              </a:defRPr>
            </a:lvl7pPr>
            <a:lvl8pPr algn="l">
              <a:defRPr sz="1425" b="0" i="0">
                <a:solidFill>
                  <a:srgbClr val="151515"/>
                </a:solidFill>
                <a:latin typeface="Arial"/>
                <a:ea typeface="Arial"/>
                <a:cs typeface="Arial"/>
              </a:defRPr>
            </a:lvl8pPr>
            <a:lvl9pPr algn="l">
              <a:defRPr sz="1425" b="0" i="0">
                <a:solidFill>
                  <a:srgbClr val="151515"/>
                </a:solidFill>
                <a:latin typeface="Arial"/>
                <a:ea typeface="Arial"/>
                <a:cs typeface="Arial"/>
              </a:defRPr>
            </a:lvl9pPr>
          </a:lstStyle>
          <a:p xmlns:a="http://schemas.openxmlformats.org/drawingml/2006/main">
            <a:pPr algn="l">
              <a:buNone/>
              <a:defRPr sz="1425" b="0" i="0">
                <a:solidFill>
                  <a:srgbClr val="151515"/>
                </a:solidFill>
                <a:latin typeface="Arial"/>
                <a:ea typeface="Arial"/>
                <a:cs typeface="Arial"/>
              </a:defRPr>
            </a:pPr>
            <a:r>
              <a:rPr sz="1425" b="0" i="0">
                <a:solidFill>
                  <a:srgbClr val="151515"/>
                </a:solidFill>
                <a:latin typeface="Arial"/>
                <a:ea typeface="Arial"/>
                <a:cs typeface="Arial"/>
              </a:rPr>
              <a:t>T₀ = collection date, T = expiry date</a:t>
            </a:r>
          </a:p>
        </p:txBody>
      </p:sp>
      <p:sp>
        <p:nvSpPr>
          <p:cNvPr id="8" name="">
            <a:extLst xmlns:a="http://schemas.openxmlformats.org/drawingml/2006/main">
              <a:ext uri="{FF2B5EF4-FFF2-40B4-BE49-F238E27FC236}">
                <a16:creationId xmlns:a16="http://schemas.microsoft.com/office/drawing/2014/main" id="{C40CD3FD-9965-40CF-9121-18F2C71E8C2E}"/>
              </a:ext>
            </a:extLst>
          </p:cNvPr>
          <p:cNvSpPr>
            <a:spLocks xmlns:a="http://schemas.openxmlformats.org/drawingml/2006/main" noGrp="1"/>
          </p:cNvSpPr>
          <p:nvPr/>
        </p:nvSpPr>
        <p:spPr>
          <a:xfrm xmlns:a="http://schemas.openxmlformats.org/drawingml/2006/main">
            <a:off x="7924800" y="3000375"/>
            <a:ext cx="3857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i="0">
                <a:solidFill>
                  <a:srgbClr val="151515"/>
                </a:solidFill>
                <a:latin typeface="Arial"/>
                <a:ea typeface="Arial"/>
                <a:cs typeface="Arial"/>
              </a:defRPr>
            </a:defPPr>
            <a:lvl1pPr algn="l">
              <a:defRPr sz="1500" b="0" i="0">
                <a:solidFill>
                  <a:srgbClr val="151515"/>
                </a:solidFill>
                <a:latin typeface="Arial"/>
                <a:ea typeface="Arial"/>
                <a:cs typeface="Arial"/>
              </a:defRPr>
            </a:lvl1pPr>
            <a:lvl2pPr algn="l">
              <a:defRPr sz="1500" b="0" i="0">
                <a:solidFill>
                  <a:srgbClr val="151515"/>
                </a:solidFill>
                <a:latin typeface="Arial"/>
                <a:ea typeface="Arial"/>
                <a:cs typeface="Arial"/>
              </a:defRPr>
            </a:lvl2pPr>
            <a:lvl3pPr algn="l">
              <a:defRPr sz="1500" b="0" i="0">
                <a:solidFill>
                  <a:srgbClr val="151515"/>
                </a:solidFill>
                <a:latin typeface="Arial"/>
                <a:ea typeface="Arial"/>
                <a:cs typeface="Arial"/>
              </a:defRPr>
            </a:lvl3pPr>
            <a:lvl4pPr algn="l">
              <a:defRPr sz="1500" b="0" i="0">
                <a:solidFill>
                  <a:srgbClr val="151515"/>
                </a:solidFill>
                <a:latin typeface="Arial"/>
                <a:ea typeface="Arial"/>
                <a:cs typeface="Arial"/>
              </a:defRPr>
            </a:lvl4pPr>
            <a:lvl5pPr algn="l">
              <a:defRPr sz="1500" b="0" i="0">
                <a:solidFill>
                  <a:srgbClr val="151515"/>
                </a:solidFill>
                <a:latin typeface="Arial"/>
                <a:ea typeface="Arial"/>
                <a:cs typeface="Arial"/>
              </a:defRPr>
            </a:lvl5pPr>
            <a:lvl6pPr algn="l">
              <a:defRPr sz="1500" b="0" i="0">
                <a:solidFill>
                  <a:srgbClr val="151515"/>
                </a:solidFill>
                <a:latin typeface="Arial"/>
                <a:ea typeface="Arial"/>
                <a:cs typeface="Arial"/>
              </a:defRPr>
            </a:lvl6pPr>
            <a:lvl7pPr algn="l">
              <a:defRPr sz="1500" b="0" i="0">
                <a:solidFill>
                  <a:srgbClr val="151515"/>
                </a:solidFill>
                <a:latin typeface="Arial"/>
                <a:ea typeface="Arial"/>
                <a:cs typeface="Arial"/>
              </a:defRPr>
            </a:lvl7pPr>
            <a:lvl8pPr algn="l">
              <a:defRPr sz="1500" b="0" i="0">
                <a:solidFill>
                  <a:srgbClr val="151515"/>
                </a:solidFill>
                <a:latin typeface="Arial"/>
                <a:ea typeface="Arial"/>
                <a:cs typeface="Arial"/>
              </a:defRPr>
            </a:lvl8pPr>
            <a:lvl9pPr algn="l">
              <a:defRPr sz="1500" b="0" i="0">
                <a:solidFill>
                  <a:srgbClr val="151515"/>
                </a:solidFill>
                <a:latin typeface="Arial"/>
                <a:ea typeface="Arial"/>
                <a:cs typeface="Arial"/>
              </a:defRPr>
            </a:lvl9pPr>
          </a:lstStyle>
          <a:p xmlns:a="http://schemas.openxmlformats.org/drawingml/2006/main">
            <a:pPr algn="l">
              <a:buNone/>
              <a:defRPr sz="1500" b="0" i="0">
                <a:solidFill>
                  <a:srgbClr val="151515"/>
                </a:solidFill>
                <a:latin typeface="Arial"/>
                <a:ea typeface="Arial"/>
                <a:cs typeface="Arial"/>
              </a:defRPr>
            </a:pPr>
            <a:r>
              <a:rPr sz="1500" b="0" i="0">
                <a:solidFill>
                  <a:srgbClr val="151515"/>
                </a:solidFill>
                <a:latin typeface="Arial"/>
                <a:ea typeface="Arial"/>
                <a:cs typeface="Arial"/>
              </a:rPr>
              <a:t>τ = calendar days / 365, ρ = √τ</a:t>
            </a:r>
          </a:p>
        </p:txBody>
      </p:sp>
      <p:sp>
        <p:nvSpPr>
          <p:cNvPr id="9" name="">
            <a:extLst xmlns:a="http://schemas.openxmlformats.org/drawingml/2006/main">
              <a:ext uri="{FF2B5EF4-FFF2-40B4-BE49-F238E27FC236}">
                <a16:creationId xmlns:a16="http://schemas.microsoft.com/office/drawing/2014/main" id="{F6A22F7C-A7C9-49D1-8079-E4D60F4FC655}"/>
              </a:ext>
            </a:extLst>
          </p:cNvPr>
          <p:cNvSpPr>
            <a:spLocks xmlns:a="http://schemas.openxmlformats.org/drawingml/2006/main" noGrp="1"/>
          </p:cNvSpPr>
          <p:nvPr/>
        </p:nvSpPr>
        <p:spPr>
          <a:xfrm xmlns:a="http://schemas.openxmlformats.org/drawingml/2006/main">
            <a:off x="7924800" y="3286125"/>
            <a:ext cx="3857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i="0">
                <a:solidFill>
                  <a:srgbClr val="151515"/>
                </a:solidFill>
                <a:latin typeface="Arial"/>
                <a:ea typeface="Arial"/>
                <a:cs typeface="Arial"/>
              </a:defRPr>
            </a:defPPr>
            <a:lvl1pPr algn="l">
              <a:defRPr sz="1425" b="0" i="0">
                <a:solidFill>
                  <a:srgbClr val="151515"/>
                </a:solidFill>
                <a:latin typeface="Arial"/>
                <a:ea typeface="Arial"/>
                <a:cs typeface="Arial"/>
              </a:defRPr>
            </a:lvl1pPr>
            <a:lvl2pPr algn="l">
              <a:defRPr sz="1425" b="0" i="0">
                <a:solidFill>
                  <a:srgbClr val="151515"/>
                </a:solidFill>
                <a:latin typeface="Arial"/>
                <a:ea typeface="Arial"/>
                <a:cs typeface="Arial"/>
              </a:defRPr>
            </a:lvl2pPr>
            <a:lvl3pPr algn="l">
              <a:defRPr sz="1425" b="0" i="0">
                <a:solidFill>
                  <a:srgbClr val="151515"/>
                </a:solidFill>
                <a:latin typeface="Arial"/>
                <a:ea typeface="Arial"/>
                <a:cs typeface="Arial"/>
              </a:defRPr>
            </a:lvl3pPr>
            <a:lvl4pPr algn="l">
              <a:defRPr sz="1425" b="0" i="0">
                <a:solidFill>
                  <a:srgbClr val="151515"/>
                </a:solidFill>
                <a:latin typeface="Arial"/>
                <a:ea typeface="Arial"/>
                <a:cs typeface="Arial"/>
              </a:defRPr>
            </a:lvl4pPr>
            <a:lvl5pPr algn="l">
              <a:defRPr sz="1425" b="0" i="0">
                <a:solidFill>
                  <a:srgbClr val="151515"/>
                </a:solidFill>
                <a:latin typeface="Arial"/>
                <a:ea typeface="Arial"/>
                <a:cs typeface="Arial"/>
              </a:defRPr>
            </a:lvl5pPr>
            <a:lvl6pPr algn="l">
              <a:defRPr sz="1425" b="0" i="0">
                <a:solidFill>
                  <a:srgbClr val="151515"/>
                </a:solidFill>
                <a:latin typeface="Arial"/>
                <a:ea typeface="Arial"/>
                <a:cs typeface="Arial"/>
              </a:defRPr>
            </a:lvl6pPr>
            <a:lvl7pPr algn="l">
              <a:defRPr sz="1425" b="0" i="0">
                <a:solidFill>
                  <a:srgbClr val="151515"/>
                </a:solidFill>
                <a:latin typeface="Arial"/>
                <a:ea typeface="Arial"/>
                <a:cs typeface="Arial"/>
              </a:defRPr>
            </a:lvl7pPr>
            <a:lvl8pPr algn="l">
              <a:defRPr sz="1425" b="0" i="0">
                <a:solidFill>
                  <a:srgbClr val="151515"/>
                </a:solidFill>
                <a:latin typeface="Arial"/>
                <a:ea typeface="Arial"/>
                <a:cs typeface="Arial"/>
              </a:defRPr>
            </a:lvl8pPr>
            <a:lvl9pPr algn="l">
              <a:defRPr sz="1425" b="0" i="0">
                <a:solidFill>
                  <a:srgbClr val="151515"/>
                </a:solidFill>
                <a:latin typeface="Arial"/>
                <a:ea typeface="Arial"/>
                <a:cs typeface="Arial"/>
              </a:defRPr>
            </a:lvl9pPr>
          </a:lstStyle>
          <a:p xmlns:a="http://schemas.openxmlformats.org/drawingml/2006/main">
            <a:pPr algn="l">
              <a:buNone/>
              <a:defRPr sz="1425" b="0" i="0">
                <a:solidFill>
                  <a:srgbClr val="151515"/>
                </a:solidFill>
                <a:latin typeface="Arial"/>
                <a:ea typeface="Arial"/>
                <a:cs typeface="Arial"/>
              </a:defRPr>
            </a:pPr>
            <a:r>
              <a:rPr sz="1425" b="0" i="0">
                <a:solidFill>
                  <a:srgbClr val="151515"/>
                </a:solidFill>
                <a:latin typeface="Arial"/>
                <a:ea typeface="Arial"/>
                <a:cs typeface="Arial"/>
              </a:rPr>
              <a:t>The horizontal axis shows ρ.</a:t>
            </a:r>
          </a:p>
        </p:txBody>
      </p:sp>
      <p:sp>
        <p:nvSpPr>
          <p:cNvPr id="10" name="">
            <a:extLst xmlns:a="http://schemas.openxmlformats.org/drawingml/2006/main">
              <a:ext uri="{FF2B5EF4-FFF2-40B4-BE49-F238E27FC236}">
                <a16:creationId xmlns:a16="http://schemas.microsoft.com/office/drawing/2014/main" id="{8608F567-2956-4799-83CE-BFCCD4458833}"/>
              </a:ext>
            </a:extLst>
          </p:cNvPr>
          <p:cNvSpPr>
            <a:spLocks xmlns:a="http://schemas.openxmlformats.org/drawingml/2006/main" noGrp="1"/>
          </p:cNvSpPr>
          <p:nvPr/>
        </p:nvSpPr>
        <p:spPr>
          <a:xfrm xmlns:a="http://schemas.openxmlformats.org/drawingml/2006/main">
            <a:off x="7924800" y="3705225"/>
            <a:ext cx="3857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i="0">
                <a:solidFill>
                  <a:srgbClr val="4776C9"/>
                </a:solidFill>
                <a:latin typeface="Arial"/>
                <a:ea typeface="Arial"/>
                <a:cs typeface="Arial"/>
              </a:defRPr>
            </a:defPPr>
            <a:lvl1pPr algn="l">
              <a:defRPr sz="1650" b="1" i="0">
                <a:solidFill>
                  <a:srgbClr val="4776C9"/>
                </a:solidFill>
                <a:latin typeface="Arial"/>
                <a:ea typeface="Arial"/>
                <a:cs typeface="Arial"/>
              </a:defRPr>
            </a:lvl1pPr>
            <a:lvl2pPr algn="l">
              <a:defRPr sz="1650" b="1" i="0">
                <a:solidFill>
                  <a:srgbClr val="4776C9"/>
                </a:solidFill>
                <a:latin typeface="Arial"/>
                <a:ea typeface="Arial"/>
                <a:cs typeface="Arial"/>
              </a:defRPr>
            </a:lvl2pPr>
            <a:lvl3pPr algn="l">
              <a:defRPr sz="1650" b="1" i="0">
                <a:solidFill>
                  <a:srgbClr val="4776C9"/>
                </a:solidFill>
                <a:latin typeface="Arial"/>
                <a:ea typeface="Arial"/>
                <a:cs typeface="Arial"/>
              </a:defRPr>
            </a:lvl3pPr>
            <a:lvl4pPr algn="l">
              <a:defRPr sz="1650" b="1" i="0">
                <a:solidFill>
                  <a:srgbClr val="4776C9"/>
                </a:solidFill>
                <a:latin typeface="Arial"/>
                <a:ea typeface="Arial"/>
                <a:cs typeface="Arial"/>
              </a:defRPr>
            </a:lvl4pPr>
            <a:lvl5pPr algn="l">
              <a:defRPr sz="1650" b="1" i="0">
                <a:solidFill>
                  <a:srgbClr val="4776C9"/>
                </a:solidFill>
                <a:latin typeface="Arial"/>
                <a:ea typeface="Arial"/>
                <a:cs typeface="Arial"/>
              </a:defRPr>
            </a:lvl5pPr>
            <a:lvl6pPr algn="l">
              <a:defRPr sz="1650" b="1" i="0">
                <a:solidFill>
                  <a:srgbClr val="4776C9"/>
                </a:solidFill>
                <a:latin typeface="Arial"/>
                <a:ea typeface="Arial"/>
                <a:cs typeface="Arial"/>
              </a:defRPr>
            </a:lvl6pPr>
            <a:lvl7pPr algn="l">
              <a:defRPr sz="1650" b="1" i="0">
                <a:solidFill>
                  <a:srgbClr val="4776C9"/>
                </a:solidFill>
                <a:latin typeface="Arial"/>
                <a:ea typeface="Arial"/>
                <a:cs typeface="Arial"/>
              </a:defRPr>
            </a:lvl7pPr>
            <a:lvl8pPr algn="l">
              <a:defRPr sz="1650" b="1" i="0">
                <a:solidFill>
                  <a:srgbClr val="4776C9"/>
                </a:solidFill>
                <a:latin typeface="Arial"/>
                <a:ea typeface="Arial"/>
                <a:cs typeface="Arial"/>
              </a:defRPr>
            </a:lvl8pPr>
            <a:lvl9pPr algn="l">
              <a:defRPr sz="1650" b="1" i="0">
                <a:solidFill>
                  <a:srgbClr val="4776C9"/>
                </a:solidFill>
                <a:latin typeface="Arial"/>
                <a:ea typeface="Arial"/>
                <a:cs typeface="Arial"/>
              </a:defRPr>
            </a:lvl9pPr>
          </a:lstStyle>
          <a:p xmlns:a="http://schemas.openxmlformats.org/drawingml/2006/main">
            <a:pPr algn="l">
              <a:buNone/>
              <a:defRPr sz="1650" b="1" i="0">
                <a:solidFill>
                  <a:srgbClr val="4776C9"/>
                </a:solidFill>
                <a:latin typeface="Arial"/>
                <a:ea typeface="Arial"/>
                <a:cs typeface="Arial"/>
              </a:defRPr>
            </a:pPr>
            <a:r>
              <a:rPr sz="1650" b="1" i="0">
                <a:solidFill>
                  <a:srgbClr val="4776C9"/>
                </a:solidFill>
                <a:latin typeface="Arial"/>
                <a:ea typeface="Arial"/>
                <a:cs typeface="Arial"/>
              </a:rPr>
              <a:t>Strike relative to forward price</a:t>
            </a:r>
          </a:p>
        </p:txBody>
      </p:sp>
      <p:sp>
        <p:nvSpPr>
          <p:cNvPr id="11" name="">
            <a:extLst xmlns:a="http://schemas.openxmlformats.org/drawingml/2006/main">
              <a:ext uri="{FF2B5EF4-FFF2-40B4-BE49-F238E27FC236}">
                <a16:creationId xmlns:a16="http://schemas.microsoft.com/office/drawing/2014/main" id="{8F2241FD-77C6-424E-9861-C622DA228FFB}"/>
              </a:ext>
            </a:extLst>
          </p:cNvPr>
          <p:cNvSpPr>
            <a:spLocks xmlns:a="http://schemas.openxmlformats.org/drawingml/2006/main" noGrp="1"/>
          </p:cNvSpPr>
          <p:nvPr/>
        </p:nvSpPr>
        <p:spPr>
          <a:xfrm xmlns:a="http://schemas.openxmlformats.org/drawingml/2006/main">
            <a:off x="7924800" y="4048125"/>
            <a:ext cx="3857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i="0">
                <a:solidFill>
                  <a:srgbClr val="151515"/>
                </a:solidFill>
                <a:latin typeface="Arial"/>
                <a:ea typeface="Arial"/>
                <a:cs typeface="Arial"/>
              </a:defRPr>
            </a:defPPr>
            <a:lvl1pPr algn="l">
              <a:defRPr sz="1425" b="0" i="0">
                <a:solidFill>
                  <a:srgbClr val="151515"/>
                </a:solidFill>
                <a:latin typeface="Arial"/>
                <a:ea typeface="Arial"/>
                <a:cs typeface="Arial"/>
              </a:defRPr>
            </a:lvl1pPr>
            <a:lvl2pPr algn="l">
              <a:defRPr sz="1425" b="0" i="0">
                <a:solidFill>
                  <a:srgbClr val="151515"/>
                </a:solidFill>
                <a:latin typeface="Arial"/>
                <a:ea typeface="Arial"/>
                <a:cs typeface="Arial"/>
              </a:defRPr>
            </a:lvl2pPr>
            <a:lvl3pPr algn="l">
              <a:defRPr sz="1425" b="0" i="0">
                <a:solidFill>
                  <a:srgbClr val="151515"/>
                </a:solidFill>
                <a:latin typeface="Arial"/>
                <a:ea typeface="Arial"/>
                <a:cs typeface="Arial"/>
              </a:defRPr>
            </a:lvl3pPr>
            <a:lvl4pPr algn="l">
              <a:defRPr sz="1425" b="0" i="0">
                <a:solidFill>
                  <a:srgbClr val="151515"/>
                </a:solidFill>
                <a:latin typeface="Arial"/>
                <a:ea typeface="Arial"/>
                <a:cs typeface="Arial"/>
              </a:defRPr>
            </a:lvl4pPr>
            <a:lvl5pPr algn="l">
              <a:defRPr sz="1425" b="0" i="0">
                <a:solidFill>
                  <a:srgbClr val="151515"/>
                </a:solidFill>
                <a:latin typeface="Arial"/>
                <a:ea typeface="Arial"/>
                <a:cs typeface="Arial"/>
              </a:defRPr>
            </a:lvl5pPr>
            <a:lvl6pPr algn="l">
              <a:defRPr sz="1425" b="0" i="0">
                <a:solidFill>
                  <a:srgbClr val="151515"/>
                </a:solidFill>
                <a:latin typeface="Arial"/>
                <a:ea typeface="Arial"/>
                <a:cs typeface="Arial"/>
              </a:defRPr>
            </a:lvl6pPr>
            <a:lvl7pPr algn="l">
              <a:defRPr sz="1425" b="0" i="0">
                <a:solidFill>
                  <a:srgbClr val="151515"/>
                </a:solidFill>
                <a:latin typeface="Arial"/>
                <a:ea typeface="Arial"/>
                <a:cs typeface="Arial"/>
              </a:defRPr>
            </a:lvl7pPr>
            <a:lvl8pPr algn="l">
              <a:defRPr sz="1425" b="0" i="0">
                <a:solidFill>
                  <a:srgbClr val="151515"/>
                </a:solidFill>
                <a:latin typeface="Arial"/>
                <a:ea typeface="Arial"/>
                <a:cs typeface="Arial"/>
              </a:defRPr>
            </a:lvl8pPr>
            <a:lvl9pPr algn="l">
              <a:defRPr sz="1425" b="0" i="0">
                <a:solidFill>
                  <a:srgbClr val="151515"/>
                </a:solidFill>
                <a:latin typeface="Arial"/>
                <a:ea typeface="Arial"/>
                <a:cs typeface="Arial"/>
              </a:defRPr>
            </a:lvl9pPr>
          </a:lstStyle>
          <a:p xmlns:a="http://schemas.openxmlformats.org/drawingml/2006/main">
            <a:pPr algn="l">
              <a:buNone/>
              <a:defRPr sz="1425" b="0" i="0">
                <a:solidFill>
                  <a:srgbClr val="151515"/>
                </a:solidFill>
                <a:latin typeface="Arial"/>
                <a:ea typeface="Arial"/>
                <a:cs typeface="Arial"/>
              </a:defRPr>
            </a:pPr>
            <a:r>
              <a:rPr sz="1425" b="0" i="0">
                <a:solidFill>
                  <a:srgbClr val="151515"/>
                </a:solidFill>
                <a:latin typeface="Arial"/>
                <a:ea typeface="Arial"/>
                <a:cs typeface="Arial"/>
              </a:rPr>
              <a:t>K = option strike</a:t>
            </a:r>
          </a:p>
        </p:txBody>
      </p:sp>
      <p:sp>
        <p:nvSpPr>
          <p:cNvPr id="12" name="">
            <a:extLst xmlns:a="http://schemas.openxmlformats.org/drawingml/2006/main">
              <a:ext uri="{FF2B5EF4-FFF2-40B4-BE49-F238E27FC236}">
                <a16:creationId xmlns:a16="http://schemas.microsoft.com/office/drawing/2014/main" id="{17F7F717-1BC1-4967-9CBA-BCA381EB65AC}"/>
              </a:ext>
            </a:extLst>
          </p:cNvPr>
          <p:cNvSpPr>
            <a:spLocks xmlns:a="http://schemas.openxmlformats.org/drawingml/2006/main" noGrp="1"/>
          </p:cNvSpPr>
          <p:nvPr/>
        </p:nvSpPr>
        <p:spPr>
          <a:xfrm xmlns:a="http://schemas.openxmlformats.org/drawingml/2006/main">
            <a:off x="7924800" y="43338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i="0">
                <a:solidFill>
                  <a:srgbClr val="4776C9"/>
                </a:solidFill>
                <a:latin typeface="Arial"/>
                <a:ea typeface="Arial"/>
                <a:cs typeface="Arial"/>
              </a:defRPr>
            </a:defPPr>
            <a:lvl1pPr algn="l">
              <a:defRPr sz="1650" b="1" i="0">
                <a:solidFill>
                  <a:srgbClr val="4776C9"/>
                </a:solidFill>
                <a:latin typeface="Arial"/>
                <a:ea typeface="Arial"/>
                <a:cs typeface="Arial"/>
              </a:defRPr>
            </a:lvl1pPr>
            <a:lvl2pPr algn="l">
              <a:defRPr sz="1650" b="1" i="0">
                <a:solidFill>
                  <a:srgbClr val="4776C9"/>
                </a:solidFill>
                <a:latin typeface="Arial"/>
                <a:ea typeface="Arial"/>
                <a:cs typeface="Arial"/>
              </a:defRPr>
            </a:lvl2pPr>
            <a:lvl3pPr algn="l">
              <a:defRPr sz="1650" b="1" i="0">
                <a:solidFill>
                  <a:srgbClr val="4776C9"/>
                </a:solidFill>
                <a:latin typeface="Arial"/>
                <a:ea typeface="Arial"/>
                <a:cs typeface="Arial"/>
              </a:defRPr>
            </a:lvl3pPr>
            <a:lvl4pPr algn="l">
              <a:defRPr sz="1650" b="1" i="0">
                <a:solidFill>
                  <a:srgbClr val="4776C9"/>
                </a:solidFill>
                <a:latin typeface="Arial"/>
                <a:ea typeface="Arial"/>
                <a:cs typeface="Arial"/>
              </a:defRPr>
            </a:lvl4pPr>
            <a:lvl5pPr algn="l">
              <a:defRPr sz="1650" b="1" i="0">
                <a:solidFill>
                  <a:srgbClr val="4776C9"/>
                </a:solidFill>
                <a:latin typeface="Arial"/>
                <a:ea typeface="Arial"/>
                <a:cs typeface="Arial"/>
              </a:defRPr>
            </a:lvl5pPr>
            <a:lvl6pPr algn="l">
              <a:defRPr sz="1650" b="1" i="0">
                <a:solidFill>
                  <a:srgbClr val="4776C9"/>
                </a:solidFill>
                <a:latin typeface="Arial"/>
                <a:ea typeface="Arial"/>
                <a:cs typeface="Arial"/>
              </a:defRPr>
            </a:lvl6pPr>
            <a:lvl7pPr algn="l">
              <a:defRPr sz="1650" b="1" i="0">
                <a:solidFill>
                  <a:srgbClr val="4776C9"/>
                </a:solidFill>
                <a:latin typeface="Arial"/>
                <a:ea typeface="Arial"/>
                <a:cs typeface="Arial"/>
              </a:defRPr>
            </a:lvl7pPr>
            <a:lvl8pPr algn="l">
              <a:defRPr sz="1650" b="1" i="0">
                <a:solidFill>
                  <a:srgbClr val="4776C9"/>
                </a:solidFill>
                <a:latin typeface="Arial"/>
                <a:ea typeface="Arial"/>
                <a:cs typeface="Arial"/>
              </a:defRPr>
            </a:lvl8pPr>
            <a:lvl9pPr algn="l">
              <a:defRPr sz="1650" b="1" i="0">
                <a:solidFill>
                  <a:srgbClr val="4776C9"/>
                </a:solidFill>
                <a:latin typeface="Arial"/>
                <a:ea typeface="Arial"/>
                <a:cs typeface="Arial"/>
              </a:defRPr>
            </a:lvl9pPr>
          </a:lstStyle>
          <a:p xmlns:a="http://schemas.openxmlformats.org/drawingml/2006/main">
            <a:pPr algn="l">
              <a:buNone/>
              <a:defRPr sz="1650" b="1" i="0">
                <a:solidFill>
                  <a:srgbClr val="4776C9"/>
                </a:solidFill>
                <a:latin typeface="Arial"/>
                <a:ea typeface="Arial"/>
                <a:cs typeface="Arial"/>
              </a:defRPr>
            </a:pPr>
            <a:r>
              <a:rPr sz="1650" b="1" i="0">
                <a:solidFill>
                  <a:srgbClr val="4776C9"/>
                </a:solidFill>
                <a:latin typeface="Arial"/>
                <a:ea typeface="Arial"/>
                <a:cs typeface="Arial"/>
              </a:rPr>
              <a:t>F</a:t>
            </a:r>
          </a:p>
        </p:txBody>
      </p:sp>
      <p:sp>
        <p:nvSpPr>
          <p:cNvPr id="13" name="">
            <a:extLst xmlns:a="http://schemas.openxmlformats.org/drawingml/2006/main">
              <a:ext uri="{FF2B5EF4-FFF2-40B4-BE49-F238E27FC236}">
                <a16:creationId xmlns:a16="http://schemas.microsoft.com/office/drawing/2014/main" id="{B74AC595-A721-40E5-A157-ED27F7004B27}"/>
              </a:ext>
            </a:extLst>
          </p:cNvPr>
          <p:cNvSpPr>
            <a:spLocks xmlns:a="http://schemas.openxmlformats.org/drawingml/2006/main" noGrp="1"/>
          </p:cNvSpPr>
          <p:nvPr/>
        </p:nvSpPr>
        <p:spPr>
          <a:xfrm xmlns:a="http://schemas.openxmlformats.org/drawingml/2006/main">
            <a:off x="8086725" y="44672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1" i="0">
                <a:solidFill>
                  <a:srgbClr val="4776C9"/>
                </a:solidFill>
                <a:latin typeface="Arial"/>
                <a:ea typeface="Arial"/>
                <a:cs typeface="Arial"/>
              </a:defRPr>
            </a:defPPr>
            <a:lvl1pPr algn="l">
              <a:defRPr sz="900" b="1" i="0">
                <a:solidFill>
                  <a:srgbClr val="4776C9"/>
                </a:solidFill>
                <a:latin typeface="Arial"/>
                <a:ea typeface="Arial"/>
                <a:cs typeface="Arial"/>
              </a:defRPr>
            </a:lvl1pPr>
            <a:lvl2pPr algn="l">
              <a:defRPr sz="900" b="1" i="0">
                <a:solidFill>
                  <a:srgbClr val="4776C9"/>
                </a:solidFill>
                <a:latin typeface="Arial"/>
                <a:ea typeface="Arial"/>
                <a:cs typeface="Arial"/>
              </a:defRPr>
            </a:lvl2pPr>
            <a:lvl3pPr algn="l">
              <a:defRPr sz="900" b="1" i="0">
                <a:solidFill>
                  <a:srgbClr val="4776C9"/>
                </a:solidFill>
                <a:latin typeface="Arial"/>
                <a:ea typeface="Arial"/>
                <a:cs typeface="Arial"/>
              </a:defRPr>
            </a:lvl3pPr>
            <a:lvl4pPr algn="l">
              <a:defRPr sz="900" b="1" i="0">
                <a:solidFill>
                  <a:srgbClr val="4776C9"/>
                </a:solidFill>
                <a:latin typeface="Arial"/>
                <a:ea typeface="Arial"/>
                <a:cs typeface="Arial"/>
              </a:defRPr>
            </a:lvl4pPr>
            <a:lvl5pPr algn="l">
              <a:defRPr sz="900" b="1" i="0">
                <a:solidFill>
                  <a:srgbClr val="4776C9"/>
                </a:solidFill>
                <a:latin typeface="Arial"/>
                <a:ea typeface="Arial"/>
                <a:cs typeface="Arial"/>
              </a:defRPr>
            </a:lvl5pPr>
            <a:lvl6pPr algn="l">
              <a:defRPr sz="900" b="1" i="0">
                <a:solidFill>
                  <a:srgbClr val="4776C9"/>
                </a:solidFill>
                <a:latin typeface="Arial"/>
                <a:ea typeface="Arial"/>
                <a:cs typeface="Arial"/>
              </a:defRPr>
            </a:lvl6pPr>
            <a:lvl7pPr algn="l">
              <a:defRPr sz="900" b="1" i="0">
                <a:solidFill>
                  <a:srgbClr val="4776C9"/>
                </a:solidFill>
                <a:latin typeface="Arial"/>
                <a:ea typeface="Arial"/>
                <a:cs typeface="Arial"/>
              </a:defRPr>
            </a:lvl7pPr>
            <a:lvl8pPr algn="l">
              <a:defRPr sz="900" b="1" i="0">
                <a:solidFill>
                  <a:srgbClr val="4776C9"/>
                </a:solidFill>
                <a:latin typeface="Arial"/>
                <a:ea typeface="Arial"/>
                <a:cs typeface="Arial"/>
              </a:defRPr>
            </a:lvl8pPr>
            <a:lvl9pPr algn="l">
              <a:defRPr sz="900" b="1" i="0">
                <a:solidFill>
                  <a:srgbClr val="4776C9"/>
                </a:solidFill>
                <a:latin typeface="Arial"/>
                <a:ea typeface="Arial"/>
                <a:cs typeface="Arial"/>
              </a:defRPr>
            </a:lvl9pPr>
          </a:lstStyle>
          <a:p xmlns:a="http://schemas.openxmlformats.org/drawingml/2006/main">
            <a:pPr algn="l">
              <a:buNone/>
              <a:defRPr sz="900" b="1" i="0">
                <a:solidFill>
                  <a:srgbClr val="4776C9"/>
                </a:solidFill>
                <a:latin typeface="Arial"/>
                <a:ea typeface="Arial"/>
                <a:cs typeface="Arial"/>
              </a:defRPr>
            </a:pPr>
            <a:r>
              <a:rPr sz="900" b="1" i="0">
                <a:solidFill>
                  <a:srgbClr val="4776C9"/>
                </a:solidFill>
                <a:latin typeface="Arial"/>
                <a:ea typeface="Arial"/>
                <a:cs typeface="Arial"/>
              </a:rPr>
              <a:t>T₀,T</a:t>
            </a:r>
          </a:p>
        </p:txBody>
      </p:sp>
      <p:sp>
        <p:nvSpPr>
          <p:cNvPr id="14" name="">
            <a:extLst xmlns:a="http://schemas.openxmlformats.org/drawingml/2006/main">
              <a:ext uri="{FF2B5EF4-FFF2-40B4-BE49-F238E27FC236}">
                <a16:creationId xmlns:a16="http://schemas.microsoft.com/office/drawing/2014/main" id="{10686AF4-A9B5-4E1F-B06E-F2D9798B9A99}"/>
              </a:ext>
            </a:extLst>
          </p:cNvPr>
          <p:cNvSpPr>
            <a:spLocks xmlns:a="http://schemas.openxmlformats.org/drawingml/2006/main" noGrp="1"/>
          </p:cNvSpPr>
          <p:nvPr/>
        </p:nvSpPr>
        <p:spPr>
          <a:xfrm xmlns:a="http://schemas.openxmlformats.org/drawingml/2006/main">
            <a:off x="8582025" y="4343400"/>
            <a:ext cx="3143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i="0">
                <a:solidFill>
                  <a:srgbClr val="151515"/>
                </a:solidFill>
                <a:latin typeface="Arial"/>
                <a:ea typeface="Arial"/>
                <a:cs typeface="Arial"/>
              </a:defRPr>
            </a:defPPr>
            <a:lvl1pPr algn="l">
              <a:defRPr sz="1425" b="0" i="0">
                <a:solidFill>
                  <a:srgbClr val="151515"/>
                </a:solidFill>
                <a:latin typeface="Arial"/>
                <a:ea typeface="Arial"/>
                <a:cs typeface="Arial"/>
              </a:defRPr>
            </a:lvl1pPr>
            <a:lvl2pPr algn="l">
              <a:defRPr sz="1425" b="0" i="0">
                <a:solidFill>
                  <a:srgbClr val="151515"/>
                </a:solidFill>
                <a:latin typeface="Arial"/>
                <a:ea typeface="Arial"/>
                <a:cs typeface="Arial"/>
              </a:defRPr>
            </a:lvl2pPr>
            <a:lvl3pPr algn="l">
              <a:defRPr sz="1425" b="0" i="0">
                <a:solidFill>
                  <a:srgbClr val="151515"/>
                </a:solidFill>
                <a:latin typeface="Arial"/>
                <a:ea typeface="Arial"/>
                <a:cs typeface="Arial"/>
              </a:defRPr>
            </a:lvl3pPr>
            <a:lvl4pPr algn="l">
              <a:defRPr sz="1425" b="0" i="0">
                <a:solidFill>
                  <a:srgbClr val="151515"/>
                </a:solidFill>
                <a:latin typeface="Arial"/>
                <a:ea typeface="Arial"/>
                <a:cs typeface="Arial"/>
              </a:defRPr>
            </a:lvl4pPr>
            <a:lvl5pPr algn="l">
              <a:defRPr sz="1425" b="0" i="0">
                <a:solidFill>
                  <a:srgbClr val="151515"/>
                </a:solidFill>
                <a:latin typeface="Arial"/>
                <a:ea typeface="Arial"/>
                <a:cs typeface="Arial"/>
              </a:defRPr>
            </a:lvl5pPr>
            <a:lvl6pPr algn="l">
              <a:defRPr sz="1425" b="0" i="0">
                <a:solidFill>
                  <a:srgbClr val="151515"/>
                </a:solidFill>
                <a:latin typeface="Arial"/>
                <a:ea typeface="Arial"/>
                <a:cs typeface="Arial"/>
              </a:defRPr>
            </a:lvl6pPr>
            <a:lvl7pPr algn="l">
              <a:defRPr sz="1425" b="0" i="0">
                <a:solidFill>
                  <a:srgbClr val="151515"/>
                </a:solidFill>
                <a:latin typeface="Arial"/>
                <a:ea typeface="Arial"/>
                <a:cs typeface="Arial"/>
              </a:defRPr>
            </a:lvl7pPr>
            <a:lvl8pPr algn="l">
              <a:defRPr sz="1425" b="0" i="0">
                <a:solidFill>
                  <a:srgbClr val="151515"/>
                </a:solidFill>
                <a:latin typeface="Arial"/>
                <a:ea typeface="Arial"/>
                <a:cs typeface="Arial"/>
              </a:defRPr>
            </a:lvl8pPr>
            <a:lvl9pPr algn="l">
              <a:defRPr sz="1425" b="0" i="0">
                <a:solidFill>
                  <a:srgbClr val="151515"/>
                </a:solidFill>
                <a:latin typeface="Arial"/>
                <a:ea typeface="Arial"/>
                <a:cs typeface="Arial"/>
              </a:defRPr>
            </a:lvl9pPr>
          </a:lstStyle>
          <a:p xmlns:a="http://schemas.openxmlformats.org/drawingml/2006/main">
            <a:pPr algn="l">
              <a:buNone/>
              <a:defRPr sz="1425" b="0" i="0">
                <a:solidFill>
                  <a:srgbClr val="151515"/>
                </a:solidFill>
                <a:latin typeface="Arial"/>
                <a:ea typeface="Arial"/>
                <a:cs typeface="Arial"/>
              </a:defRPr>
            </a:pPr>
            <a:r>
              <a:rPr sz="1425" b="0" i="0">
                <a:solidFill>
                  <a:srgbClr val="151515"/>
                </a:solidFill>
                <a:latin typeface="Arial"/>
                <a:ea typeface="Arial"/>
                <a:cs typeface="Arial"/>
              </a:rPr>
              <a:t>= estimated forward for expiry T</a:t>
            </a:r>
          </a:p>
        </p:txBody>
      </p:sp>
      <p:sp>
        <p:nvSpPr>
          <p:cNvPr id="15" name="">
            <a:extLst xmlns:a="http://schemas.openxmlformats.org/drawingml/2006/main">
              <a:ext uri="{FF2B5EF4-FFF2-40B4-BE49-F238E27FC236}">
                <a16:creationId xmlns:a16="http://schemas.microsoft.com/office/drawing/2014/main" id="{BCF970F1-21D1-43DB-9A3F-95AEAE68B4F9}"/>
              </a:ext>
            </a:extLst>
          </p:cNvPr>
          <p:cNvSpPr>
            <a:spLocks xmlns:a="http://schemas.openxmlformats.org/drawingml/2006/main" noGrp="1"/>
          </p:cNvSpPr>
          <p:nvPr/>
        </p:nvSpPr>
        <p:spPr>
          <a:xfrm xmlns:a="http://schemas.openxmlformats.org/drawingml/2006/main">
            <a:off x="7924800" y="4657725"/>
            <a:ext cx="3857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i="0">
                <a:solidFill>
                  <a:srgbClr val="151515"/>
                </a:solidFill>
                <a:latin typeface="Arial"/>
                <a:ea typeface="Arial"/>
                <a:cs typeface="Arial"/>
              </a:defRPr>
            </a:defPPr>
            <a:lvl1pPr algn="l">
              <a:defRPr sz="1500" b="0" i="0">
                <a:solidFill>
                  <a:srgbClr val="151515"/>
                </a:solidFill>
                <a:latin typeface="Arial"/>
                <a:ea typeface="Arial"/>
                <a:cs typeface="Arial"/>
              </a:defRPr>
            </a:lvl1pPr>
            <a:lvl2pPr algn="l">
              <a:defRPr sz="1500" b="0" i="0">
                <a:solidFill>
                  <a:srgbClr val="151515"/>
                </a:solidFill>
                <a:latin typeface="Arial"/>
                <a:ea typeface="Arial"/>
                <a:cs typeface="Arial"/>
              </a:defRPr>
            </a:lvl2pPr>
            <a:lvl3pPr algn="l">
              <a:defRPr sz="1500" b="0" i="0">
                <a:solidFill>
                  <a:srgbClr val="151515"/>
                </a:solidFill>
                <a:latin typeface="Arial"/>
                <a:ea typeface="Arial"/>
                <a:cs typeface="Arial"/>
              </a:defRPr>
            </a:lvl3pPr>
            <a:lvl4pPr algn="l">
              <a:defRPr sz="1500" b="0" i="0">
                <a:solidFill>
                  <a:srgbClr val="151515"/>
                </a:solidFill>
                <a:latin typeface="Arial"/>
                <a:ea typeface="Arial"/>
                <a:cs typeface="Arial"/>
              </a:defRPr>
            </a:lvl4pPr>
            <a:lvl5pPr algn="l">
              <a:defRPr sz="1500" b="0" i="0">
                <a:solidFill>
                  <a:srgbClr val="151515"/>
                </a:solidFill>
                <a:latin typeface="Arial"/>
                <a:ea typeface="Arial"/>
                <a:cs typeface="Arial"/>
              </a:defRPr>
            </a:lvl5pPr>
            <a:lvl6pPr algn="l">
              <a:defRPr sz="1500" b="0" i="0">
                <a:solidFill>
                  <a:srgbClr val="151515"/>
                </a:solidFill>
                <a:latin typeface="Arial"/>
                <a:ea typeface="Arial"/>
                <a:cs typeface="Arial"/>
              </a:defRPr>
            </a:lvl6pPr>
            <a:lvl7pPr algn="l">
              <a:defRPr sz="1500" b="0" i="0">
                <a:solidFill>
                  <a:srgbClr val="151515"/>
                </a:solidFill>
                <a:latin typeface="Arial"/>
                <a:ea typeface="Arial"/>
                <a:cs typeface="Arial"/>
              </a:defRPr>
            </a:lvl7pPr>
            <a:lvl8pPr algn="l">
              <a:defRPr sz="1500" b="0" i="0">
                <a:solidFill>
                  <a:srgbClr val="151515"/>
                </a:solidFill>
                <a:latin typeface="Arial"/>
                <a:ea typeface="Arial"/>
                <a:cs typeface="Arial"/>
              </a:defRPr>
            </a:lvl8pPr>
            <a:lvl9pPr algn="l">
              <a:defRPr sz="1500" b="0" i="0">
                <a:solidFill>
                  <a:srgbClr val="151515"/>
                </a:solidFill>
                <a:latin typeface="Arial"/>
                <a:ea typeface="Arial"/>
                <a:cs typeface="Arial"/>
              </a:defRPr>
            </a:lvl9pPr>
          </a:lstStyle>
          <a:p xmlns:a="http://schemas.openxmlformats.org/drawingml/2006/main">
            <a:pPr algn="l">
              <a:buNone/>
              <a:defRPr sz="1500" b="0" i="0">
                <a:solidFill>
                  <a:srgbClr val="151515"/>
                </a:solidFill>
                <a:latin typeface="Arial"/>
                <a:ea typeface="Arial"/>
                <a:cs typeface="Arial"/>
              </a:defRPr>
            </a:pPr>
            <a:r>
              <a:rPr sz="1500" b="0" i="0">
                <a:solidFill>
                  <a:srgbClr val="151515"/>
                </a:solidFill>
                <a:latin typeface="Arial"/>
                <a:ea typeface="Arial"/>
                <a:cs typeface="Arial"/>
              </a:rPr>
              <a:t>k = ln(K/F); z = k/ρ</a:t>
            </a:r>
          </a:p>
        </p:txBody>
      </p:sp>
      <p:sp>
        <p:nvSpPr>
          <p:cNvPr id="16" name="">
            <a:extLst xmlns:a="http://schemas.openxmlformats.org/drawingml/2006/main">
              <a:ext uri="{FF2B5EF4-FFF2-40B4-BE49-F238E27FC236}">
                <a16:creationId xmlns:a16="http://schemas.microsoft.com/office/drawing/2014/main" id="{6ED10784-8CD8-4120-BAFB-1A7ABFED1784}"/>
              </a:ext>
            </a:extLst>
          </p:cNvPr>
          <p:cNvSpPr>
            <a:spLocks xmlns:a="http://schemas.openxmlformats.org/drawingml/2006/main" noGrp="1"/>
          </p:cNvSpPr>
          <p:nvPr/>
        </p:nvSpPr>
        <p:spPr>
          <a:xfrm xmlns:a="http://schemas.openxmlformats.org/drawingml/2006/main">
            <a:off x="7924800" y="4943475"/>
            <a:ext cx="3857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i="0">
                <a:solidFill>
                  <a:srgbClr val="151515"/>
                </a:solidFill>
                <a:latin typeface="Arial"/>
                <a:ea typeface="Arial"/>
                <a:cs typeface="Arial"/>
              </a:defRPr>
            </a:defPPr>
            <a:lvl1pPr algn="l">
              <a:defRPr sz="1350" b="0" i="0">
                <a:solidFill>
                  <a:srgbClr val="151515"/>
                </a:solidFill>
                <a:latin typeface="Arial"/>
                <a:ea typeface="Arial"/>
                <a:cs typeface="Arial"/>
              </a:defRPr>
            </a:lvl1pPr>
            <a:lvl2pPr algn="l">
              <a:defRPr sz="1350" b="0" i="0">
                <a:solidFill>
                  <a:srgbClr val="151515"/>
                </a:solidFill>
                <a:latin typeface="Arial"/>
                <a:ea typeface="Arial"/>
                <a:cs typeface="Arial"/>
              </a:defRPr>
            </a:lvl2pPr>
            <a:lvl3pPr algn="l">
              <a:defRPr sz="1350" b="0" i="0">
                <a:solidFill>
                  <a:srgbClr val="151515"/>
                </a:solidFill>
                <a:latin typeface="Arial"/>
                <a:ea typeface="Arial"/>
                <a:cs typeface="Arial"/>
              </a:defRPr>
            </a:lvl3pPr>
            <a:lvl4pPr algn="l">
              <a:defRPr sz="1350" b="0" i="0">
                <a:solidFill>
                  <a:srgbClr val="151515"/>
                </a:solidFill>
                <a:latin typeface="Arial"/>
                <a:ea typeface="Arial"/>
                <a:cs typeface="Arial"/>
              </a:defRPr>
            </a:lvl4pPr>
            <a:lvl5pPr algn="l">
              <a:defRPr sz="1350" b="0" i="0">
                <a:solidFill>
                  <a:srgbClr val="151515"/>
                </a:solidFill>
                <a:latin typeface="Arial"/>
                <a:ea typeface="Arial"/>
                <a:cs typeface="Arial"/>
              </a:defRPr>
            </a:lvl5pPr>
            <a:lvl6pPr algn="l">
              <a:defRPr sz="1350" b="0" i="0">
                <a:solidFill>
                  <a:srgbClr val="151515"/>
                </a:solidFill>
                <a:latin typeface="Arial"/>
                <a:ea typeface="Arial"/>
                <a:cs typeface="Arial"/>
              </a:defRPr>
            </a:lvl6pPr>
            <a:lvl7pPr algn="l">
              <a:defRPr sz="1350" b="0" i="0">
                <a:solidFill>
                  <a:srgbClr val="151515"/>
                </a:solidFill>
                <a:latin typeface="Arial"/>
                <a:ea typeface="Arial"/>
                <a:cs typeface="Arial"/>
              </a:defRPr>
            </a:lvl7pPr>
            <a:lvl8pPr algn="l">
              <a:defRPr sz="1350" b="0" i="0">
                <a:solidFill>
                  <a:srgbClr val="151515"/>
                </a:solidFill>
                <a:latin typeface="Arial"/>
                <a:ea typeface="Arial"/>
                <a:cs typeface="Arial"/>
              </a:defRPr>
            </a:lvl8pPr>
            <a:lvl9pPr algn="l">
              <a:defRPr sz="1350" b="0" i="0">
                <a:solidFill>
                  <a:srgbClr val="151515"/>
                </a:solidFill>
                <a:latin typeface="Arial"/>
                <a:ea typeface="Arial"/>
                <a:cs typeface="Arial"/>
              </a:defRPr>
            </a:lvl9pPr>
          </a:lstStyle>
          <a:p xmlns:a="http://schemas.openxmlformats.org/drawingml/2006/main">
            <a:pPr algn="l">
              <a:buNone/>
              <a:defRPr sz="1350" b="0" i="0">
                <a:solidFill>
                  <a:srgbClr val="151515"/>
                </a:solidFill>
                <a:latin typeface="Arial"/>
                <a:ea typeface="Arial"/>
                <a:cs typeface="Arial"/>
              </a:defRPr>
            </a:pPr>
            <a:r>
              <a:rPr sz="1350" b="0" i="0">
                <a:solidFill>
                  <a:srgbClr val="151515"/>
                </a:solidFill>
                <a:latin typeface="Arial"/>
                <a:ea typeface="Arial"/>
                <a:cs typeface="Arial"/>
              </a:rPr>
              <a:t>z is maturity-normalised log-moneyness.</a:t>
            </a:r>
          </a:p>
        </p:txBody>
      </p:sp>
      <p:sp>
        <p:nvSpPr>
          <p:cNvPr id="17" name="">
            <a:extLst xmlns:a="http://schemas.openxmlformats.org/drawingml/2006/main">
              <a:ext uri="{FF2B5EF4-FFF2-40B4-BE49-F238E27FC236}">
                <a16:creationId xmlns:a16="http://schemas.microsoft.com/office/drawing/2014/main" id="{0F3807FD-F602-4FBF-BDA2-E3F3AB2AA935}"/>
              </a:ext>
            </a:extLst>
          </p:cNvPr>
          <p:cNvSpPr>
            <a:spLocks xmlns:a="http://schemas.openxmlformats.org/drawingml/2006/main" noGrp="1"/>
          </p:cNvSpPr>
          <p:nvPr/>
        </p:nvSpPr>
        <p:spPr>
          <a:xfrm xmlns:a="http://schemas.openxmlformats.org/drawingml/2006/main">
            <a:off x="7924800" y="5343525"/>
            <a:ext cx="3857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i="0">
                <a:solidFill>
                  <a:srgbClr val="4776C9"/>
                </a:solidFill>
                <a:latin typeface="Arial"/>
                <a:ea typeface="Arial"/>
                <a:cs typeface="Arial"/>
              </a:defRPr>
            </a:defPPr>
            <a:lvl1pPr algn="l">
              <a:defRPr sz="1650" b="1" i="0">
                <a:solidFill>
                  <a:srgbClr val="4776C9"/>
                </a:solidFill>
                <a:latin typeface="Arial"/>
                <a:ea typeface="Arial"/>
                <a:cs typeface="Arial"/>
              </a:defRPr>
            </a:lvl1pPr>
            <a:lvl2pPr algn="l">
              <a:defRPr sz="1650" b="1" i="0">
                <a:solidFill>
                  <a:srgbClr val="4776C9"/>
                </a:solidFill>
                <a:latin typeface="Arial"/>
                <a:ea typeface="Arial"/>
                <a:cs typeface="Arial"/>
              </a:defRPr>
            </a:lvl2pPr>
            <a:lvl3pPr algn="l">
              <a:defRPr sz="1650" b="1" i="0">
                <a:solidFill>
                  <a:srgbClr val="4776C9"/>
                </a:solidFill>
                <a:latin typeface="Arial"/>
                <a:ea typeface="Arial"/>
                <a:cs typeface="Arial"/>
              </a:defRPr>
            </a:lvl3pPr>
            <a:lvl4pPr algn="l">
              <a:defRPr sz="1650" b="1" i="0">
                <a:solidFill>
                  <a:srgbClr val="4776C9"/>
                </a:solidFill>
                <a:latin typeface="Arial"/>
                <a:ea typeface="Arial"/>
                <a:cs typeface="Arial"/>
              </a:defRPr>
            </a:lvl4pPr>
            <a:lvl5pPr algn="l">
              <a:defRPr sz="1650" b="1" i="0">
                <a:solidFill>
                  <a:srgbClr val="4776C9"/>
                </a:solidFill>
                <a:latin typeface="Arial"/>
                <a:ea typeface="Arial"/>
                <a:cs typeface="Arial"/>
              </a:defRPr>
            </a:lvl5pPr>
            <a:lvl6pPr algn="l">
              <a:defRPr sz="1650" b="1" i="0">
                <a:solidFill>
                  <a:srgbClr val="4776C9"/>
                </a:solidFill>
                <a:latin typeface="Arial"/>
                <a:ea typeface="Arial"/>
                <a:cs typeface="Arial"/>
              </a:defRPr>
            </a:lvl6pPr>
            <a:lvl7pPr algn="l">
              <a:defRPr sz="1650" b="1" i="0">
                <a:solidFill>
                  <a:srgbClr val="4776C9"/>
                </a:solidFill>
                <a:latin typeface="Arial"/>
                <a:ea typeface="Arial"/>
                <a:cs typeface="Arial"/>
              </a:defRPr>
            </a:lvl7pPr>
            <a:lvl8pPr algn="l">
              <a:defRPr sz="1650" b="1" i="0">
                <a:solidFill>
                  <a:srgbClr val="4776C9"/>
                </a:solidFill>
                <a:latin typeface="Arial"/>
                <a:ea typeface="Arial"/>
                <a:cs typeface="Arial"/>
              </a:defRPr>
            </a:lvl8pPr>
            <a:lvl9pPr algn="l">
              <a:defRPr sz="1650" b="1" i="0">
                <a:solidFill>
                  <a:srgbClr val="4776C9"/>
                </a:solidFill>
                <a:latin typeface="Arial"/>
                <a:ea typeface="Arial"/>
                <a:cs typeface="Arial"/>
              </a:defRPr>
            </a:lvl9pPr>
          </a:lstStyle>
          <a:p xmlns:a="http://schemas.openxmlformats.org/drawingml/2006/main">
            <a:pPr algn="l">
              <a:buNone/>
              <a:defRPr sz="1650" b="1" i="0">
                <a:solidFill>
                  <a:srgbClr val="4776C9"/>
                </a:solidFill>
                <a:latin typeface="Arial"/>
                <a:ea typeface="Arial"/>
                <a:cs typeface="Arial"/>
              </a:defRPr>
            </a:pPr>
            <a:r>
              <a:rPr sz="1650" b="1" i="0">
                <a:solidFill>
                  <a:srgbClr val="4776C9"/>
                </a:solidFill>
                <a:latin typeface="Arial"/>
                <a:ea typeface="Arial"/>
                <a:cs typeface="Arial"/>
              </a:rPr>
              <a:t>Height: estimated volatility</a:t>
            </a:r>
          </a:p>
        </p:txBody>
      </p:sp>
      <p:sp>
        <p:nvSpPr>
          <p:cNvPr id="18" name="">
            <a:extLst xmlns:a="http://schemas.openxmlformats.org/drawingml/2006/main">
              <a:ext uri="{FF2B5EF4-FFF2-40B4-BE49-F238E27FC236}">
                <a16:creationId xmlns:a16="http://schemas.microsoft.com/office/drawing/2014/main" id="{E4160B6B-FB96-453D-B632-BAA133E92DDB}"/>
              </a:ext>
            </a:extLst>
          </p:cNvPr>
          <p:cNvSpPr>
            <a:spLocks xmlns:a="http://schemas.openxmlformats.org/drawingml/2006/main" noGrp="1"/>
          </p:cNvSpPr>
          <p:nvPr/>
        </p:nvSpPr>
        <p:spPr>
          <a:xfrm xmlns:a="http://schemas.openxmlformats.org/drawingml/2006/main">
            <a:off x="7924800" y="5686425"/>
            <a:ext cx="3857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i="0">
                <a:solidFill>
                  <a:srgbClr val="151515"/>
                </a:solidFill>
                <a:latin typeface="Arial"/>
                <a:ea typeface="Arial"/>
                <a:cs typeface="Arial"/>
              </a:defRPr>
            </a:defPPr>
            <a:lvl1pPr algn="l">
              <a:defRPr sz="1425" b="0" i="0">
                <a:solidFill>
                  <a:srgbClr val="151515"/>
                </a:solidFill>
                <a:latin typeface="Arial"/>
                <a:ea typeface="Arial"/>
                <a:cs typeface="Arial"/>
              </a:defRPr>
            </a:lvl1pPr>
            <a:lvl2pPr algn="l">
              <a:defRPr sz="1425" b="0" i="0">
                <a:solidFill>
                  <a:srgbClr val="151515"/>
                </a:solidFill>
                <a:latin typeface="Arial"/>
                <a:ea typeface="Arial"/>
                <a:cs typeface="Arial"/>
              </a:defRPr>
            </a:lvl2pPr>
            <a:lvl3pPr algn="l">
              <a:defRPr sz="1425" b="0" i="0">
                <a:solidFill>
                  <a:srgbClr val="151515"/>
                </a:solidFill>
                <a:latin typeface="Arial"/>
                <a:ea typeface="Arial"/>
                <a:cs typeface="Arial"/>
              </a:defRPr>
            </a:lvl3pPr>
            <a:lvl4pPr algn="l">
              <a:defRPr sz="1425" b="0" i="0">
                <a:solidFill>
                  <a:srgbClr val="151515"/>
                </a:solidFill>
                <a:latin typeface="Arial"/>
                <a:ea typeface="Arial"/>
                <a:cs typeface="Arial"/>
              </a:defRPr>
            </a:lvl4pPr>
            <a:lvl5pPr algn="l">
              <a:defRPr sz="1425" b="0" i="0">
                <a:solidFill>
                  <a:srgbClr val="151515"/>
                </a:solidFill>
                <a:latin typeface="Arial"/>
                <a:ea typeface="Arial"/>
                <a:cs typeface="Arial"/>
              </a:defRPr>
            </a:lvl5pPr>
            <a:lvl6pPr algn="l">
              <a:defRPr sz="1425" b="0" i="0">
                <a:solidFill>
                  <a:srgbClr val="151515"/>
                </a:solidFill>
                <a:latin typeface="Arial"/>
                <a:ea typeface="Arial"/>
                <a:cs typeface="Arial"/>
              </a:defRPr>
            </a:lvl6pPr>
            <a:lvl7pPr algn="l">
              <a:defRPr sz="1425" b="0" i="0">
                <a:solidFill>
                  <a:srgbClr val="151515"/>
                </a:solidFill>
                <a:latin typeface="Arial"/>
                <a:ea typeface="Arial"/>
                <a:cs typeface="Arial"/>
              </a:defRPr>
            </a:lvl7pPr>
            <a:lvl8pPr algn="l">
              <a:defRPr sz="1425" b="0" i="0">
                <a:solidFill>
                  <a:srgbClr val="151515"/>
                </a:solidFill>
                <a:latin typeface="Arial"/>
                <a:ea typeface="Arial"/>
                <a:cs typeface="Arial"/>
              </a:defRPr>
            </a:lvl8pPr>
            <a:lvl9pPr algn="l">
              <a:defRPr sz="1425" b="0" i="0">
                <a:solidFill>
                  <a:srgbClr val="151515"/>
                </a:solidFill>
                <a:latin typeface="Arial"/>
                <a:ea typeface="Arial"/>
                <a:cs typeface="Arial"/>
              </a:defRPr>
            </a:lvl9pPr>
          </a:lstStyle>
          <a:p xmlns:a="http://schemas.openxmlformats.org/drawingml/2006/main">
            <a:pPr algn="l">
              <a:buNone/>
              <a:defRPr sz="1425" b="0" i="0">
                <a:solidFill>
                  <a:srgbClr val="151515"/>
                </a:solidFill>
                <a:latin typeface="Arial"/>
                <a:ea typeface="Arial"/>
                <a:cs typeface="Arial"/>
              </a:defRPr>
            </a:pPr>
            <a:r>
              <a:rPr sz="1425" b="0" i="0">
                <a:solidFill>
                  <a:srgbClr val="151515"/>
                </a:solidFill>
                <a:latin typeface="Arial"/>
                <a:ea typeface="Arial"/>
                <a:cs typeface="Arial"/>
              </a:rPr>
              <a:t>v̂(ρ,z) is the GNO point estimate.</a:t>
            </a:r>
          </a:p>
        </p:txBody>
      </p:sp>
      <p:sp>
        <p:nvSpPr>
          <p:cNvPr id="19" name="">
            <a:extLst xmlns:a="http://schemas.openxmlformats.org/drawingml/2006/main">
              <a:ext uri="{FF2B5EF4-FFF2-40B4-BE49-F238E27FC236}">
                <a16:creationId xmlns:a16="http://schemas.microsoft.com/office/drawing/2014/main" id="{010584C7-5BC5-405D-B728-B06AC3D6B34E}"/>
              </a:ext>
            </a:extLst>
          </p:cNvPr>
          <p:cNvSpPr>
            <a:spLocks xmlns:a="http://schemas.openxmlformats.org/drawingml/2006/main" noGrp="1"/>
          </p:cNvSpPr>
          <p:nvPr/>
        </p:nvSpPr>
        <p:spPr>
          <a:xfrm xmlns:a="http://schemas.openxmlformats.org/drawingml/2006/main">
            <a:off x="7924800" y="5972175"/>
            <a:ext cx="3857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i="0">
                <a:solidFill>
                  <a:srgbClr val="151515"/>
                </a:solidFill>
                <a:latin typeface="Arial"/>
                <a:ea typeface="Arial"/>
                <a:cs typeface="Arial"/>
              </a:defRPr>
            </a:defPPr>
            <a:lvl1pPr algn="l">
              <a:defRPr sz="1425" b="0" i="0">
                <a:solidFill>
                  <a:srgbClr val="151515"/>
                </a:solidFill>
                <a:latin typeface="Arial"/>
                <a:ea typeface="Arial"/>
                <a:cs typeface="Arial"/>
              </a:defRPr>
            </a:lvl1pPr>
            <a:lvl2pPr algn="l">
              <a:defRPr sz="1425" b="0" i="0">
                <a:solidFill>
                  <a:srgbClr val="151515"/>
                </a:solidFill>
                <a:latin typeface="Arial"/>
                <a:ea typeface="Arial"/>
                <a:cs typeface="Arial"/>
              </a:defRPr>
            </a:lvl2pPr>
            <a:lvl3pPr algn="l">
              <a:defRPr sz="1425" b="0" i="0">
                <a:solidFill>
                  <a:srgbClr val="151515"/>
                </a:solidFill>
                <a:latin typeface="Arial"/>
                <a:ea typeface="Arial"/>
                <a:cs typeface="Arial"/>
              </a:defRPr>
            </a:lvl3pPr>
            <a:lvl4pPr algn="l">
              <a:defRPr sz="1425" b="0" i="0">
                <a:solidFill>
                  <a:srgbClr val="151515"/>
                </a:solidFill>
                <a:latin typeface="Arial"/>
                <a:ea typeface="Arial"/>
                <a:cs typeface="Arial"/>
              </a:defRPr>
            </a:lvl4pPr>
            <a:lvl5pPr algn="l">
              <a:defRPr sz="1425" b="0" i="0">
                <a:solidFill>
                  <a:srgbClr val="151515"/>
                </a:solidFill>
                <a:latin typeface="Arial"/>
                <a:ea typeface="Arial"/>
                <a:cs typeface="Arial"/>
              </a:defRPr>
            </a:lvl5pPr>
            <a:lvl6pPr algn="l">
              <a:defRPr sz="1425" b="0" i="0">
                <a:solidFill>
                  <a:srgbClr val="151515"/>
                </a:solidFill>
                <a:latin typeface="Arial"/>
                <a:ea typeface="Arial"/>
                <a:cs typeface="Arial"/>
              </a:defRPr>
            </a:lvl6pPr>
            <a:lvl7pPr algn="l">
              <a:defRPr sz="1425" b="0" i="0">
                <a:solidFill>
                  <a:srgbClr val="151515"/>
                </a:solidFill>
                <a:latin typeface="Arial"/>
                <a:ea typeface="Arial"/>
                <a:cs typeface="Arial"/>
              </a:defRPr>
            </a:lvl7pPr>
            <a:lvl8pPr algn="l">
              <a:defRPr sz="1425" b="0" i="0">
                <a:solidFill>
                  <a:srgbClr val="151515"/>
                </a:solidFill>
                <a:latin typeface="Arial"/>
                <a:ea typeface="Arial"/>
                <a:cs typeface="Arial"/>
              </a:defRPr>
            </a:lvl8pPr>
            <a:lvl9pPr algn="l">
              <a:defRPr sz="1425" b="0" i="0">
                <a:solidFill>
                  <a:srgbClr val="151515"/>
                </a:solidFill>
                <a:latin typeface="Arial"/>
                <a:ea typeface="Arial"/>
                <a:cs typeface="Arial"/>
              </a:defRPr>
            </a:lvl9pPr>
          </a:lstStyle>
          <a:p xmlns:a="http://schemas.openxmlformats.org/drawingml/2006/main">
            <a:pPr algn="l">
              <a:buNone/>
              <a:defRPr sz="1425" b="0" i="0">
                <a:solidFill>
                  <a:srgbClr val="151515"/>
                </a:solidFill>
                <a:latin typeface="Arial"/>
                <a:ea typeface="Arial"/>
                <a:cs typeface="Arial"/>
              </a:defRPr>
            </a:pPr>
            <a:r>
              <a:rPr sz="1425" b="0" i="0">
                <a:solidFill>
                  <a:srgbClr val="151515"/>
                </a:solidFill>
                <a:latin typeface="Arial"/>
                <a:ea typeface="Arial"/>
                <a:cs typeface="Arial"/>
              </a:rPr>
              <a:t>GNO = Graph Neural Operator.</a:t>
            </a:r>
          </a:p>
        </p:txBody>
      </p:sp>
      <p:sp>
        <p:nvSpPr>
          <p:cNvPr id="20" name="">
            <a:extLst xmlns:a="http://schemas.openxmlformats.org/drawingml/2006/main">
              <a:ext uri="{FF2B5EF4-FFF2-40B4-BE49-F238E27FC236}">
                <a16:creationId xmlns:a16="http://schemas.microsoft.com/office/drawing/2014/main" id="{8FA38192-FA71-49EB-9E56-23A987686827}"/>
              </a:ext>
            </a:extLst>
          </p:cNvPr>
          <p:cNvSpPr>
            <a:spLocks xmlns:a="http://schemas.openxmlformats.org/drawingml/2006/main" noGrp="1"/>
          </p:cNvSpPr>
          <p:nvPr/>
        </p:nvSpPr>
        <p:spPr>
          <a:xfrm xmlns:a="http://schemas.openxmlformats.org/drawingml/2006/main">
            <a:off x="7924800" y="6257925"/>
            <a:ext cx="3857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i="0">
                <a:solidFill>
                  <a:srgbClr val="4B4B4B"/>
                </a:solidFill>
                <a:latin typeface="Arial"/>
                <a:ea typeface="Arial"/>
                <a:cs typeface="Arial"/>
              </a:defRPr>
            </a:defPPr>
            <a:lvl1pPr algn="l">
              <a:defRPr sz="1350" b="0" i="0">
                <a:solidFill>
                  <a:srgbClr val="4B4B4B"/>
                </a:solidFill>
                <a:latin typeface="Arial"/>
                <a:ea typeface="Arial"/>
                <a:cs typeface="Arial"/>
              </a:defRPr>
            </a:lvl1pPr>
            <a:lvl2pPr algn="l">
              <a:defRPr sz="1350" b="0" i="0">
                <a:solidFill>
                  <a:srgbClr val="4B4B4B"/>
                </a:solidFill>
                <a:latin typeface="Arial"/>
                <a:ea typeface="Arial"/>
                <a:cs typeface="Arial"/>
              </a:defRPr>
            </a:lvl2pPr>
            <a:lvl3pPr algn="l">
              <a:defRPr sz="1350" b="0" i="0">
                <a:solidFill>
                  <a:srgbClr val="4B4B4B"/>
                </a:solidFill>
                <a:latin typeface="Arial"/>
                <a:ea typeface="Arial"/>
                <a:cs typeface="Arial"/>
              </a:defRPr>
            </a:lvl3pPr>
            <a:lvl4pPr algn="l">
              <a:defRPr sz="1350" b="0" i="0">
                <a:solidFill>
                  <a:srgbClr val="4B4B4B"/>
                </a:solidFill>
                <a:latin typeface="Arial"/>
                <a:ea typeface="Arial"/>
                <a:cs typeface="Arial"/>
              </a:defRPr>
            </a:lvl4pPr>
            <a:lvl5pPr algn="l">
              <a:defRPr sz="1350" b="0" i="0">
                <a:solidFill>
                  <a:srgbClr val="4B4B4B"/>
                </a:solidFill>
                <a:latin typeface="Arial"/>
                <a:ea typeface="Arial"/>
                <a:cs typeface="Arial"/>
              </a:defRPr>
            </a:lvl5pPr>
            <a:lvl6pPr algn="l">
              <a:defRPr sz="1350" b="0" i="0">
                <a:solidFill>
                  <a:srgbClr val="4B4B4B"/>
                </a:solidFill>
                <a:latin typeface="Arial"/>
                <a:ea typeface="Arial"/>
                <a:cs typeface="Arial"/>
              </a:defRPr>
            </a:lvl6pPr>
            <a:lvl7pPr algn="l">
              <a:defRPr sz="1350" b="0" i="0">
                <a:solidFill>
                  <a:srgbClr val="4B4B4B"/>
                </a:solidFill>
                <a:latin typeface="Arial"/>
                <a:ea typeface="Arial"/>
                <a:cs typeface="Arial"/>
              </a:defRPr>
            </a:lvl7pPr>
            <a:lvl8pPr algn="l">
              <a:defRPr sz="1350" b="0" i="0">
                <a:solidFill>
                  <a:srgbClr val="4B4B4B"/>
                </a:solidFill>
                <a:latin typeface="Arial"/>
                <a:ea typeface="Arial"/>
                <a:cs typeface="Arial"/>
              </a:defRPr>
            </a:lvl8pPr>
            <a:lvl9pPr algn="l">
              <a:defRPr sz="1350" b="0" i="0">
                <a:solidFill>
                  <a:srgbClr val="4B4B4B"/>
                </a:solidFill>
                <a:latin typeface="Arial"/>
                <a:ea typeface="Arial"/>
                <a:cs typeface="Arial"/>
              </a:defRPr>
            </a:lvl9pPr>
          </a:lstStyle>
          <a:p xmlns:a="http://schemas.openxmlformats.org/drawingml/2006/main">
            <a:pPr algn="l">
              <a:buNone/>
              <a:defRPr sz="1350" b="0" i="0">
                <a:solidFill>
                  <a:srgbClr val="4B4B4B"/>
                </a:solidFill>
                <a:latin typeface="Arial"/>
                <a:ea typeface="Arial"/>
                <a:cs typeface="Arial"/>
              </a:defRPr>
            </a:pPr>
            <a:r>
              <a:rPr sz="1350" b="0" i="0">
                <a:solidFill>
                  <a:srgbClr val="4B4B4B"/>
                </a:solidFill>
                <a:latin typeface="Arial"/>
                <a:ea typeface="Arial"/>
                <a:cs typeface="Arial"/>
              </a:rPr>
              <a:t>Implied volatility is inferred from option prices.</a:t>
            </a:r>
          </a:p>
        </p:txBody>
      </p:sp>
      <p:sp>
        <p:nvSpPr>
          <p:cNvPr id="22" name="slide-number">
            <a:extLst xmlns:a="http://schemas.openxmlformats.org/drawingml/2006/main">
              <a:ext uri="{FF2B5EF4-FFF2-40B4-BE49-F238E27FC236}">
                <a16:creationId xmlns:a16="http://schemas.microsoft.com/office/drawing/2014/main" id="{BCFC43CD-5939-43DC-934C-52B074A3B244}"/>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3</a:t>
            </a:r>
          </a:p>
        </p:txBody>
      </p:sp>
    </p:spTree>
    <p:extLst>
      <p:ext uri="{BB962C8B-B14F-4D97-AF65-F5344CB8AC3E}">
        <p14:creationId xmlns:p14="http://schemas.microsoft.com/office/powerpoint/2010/main" val="4344918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F74FF7F-A714-4F42-B0A3-BFEBFC4271C3}"/>
              </a:ext>
            </a:extLst>
          </p:cNvPr>
          <p:cNvPicPr>
            <a:picLocks xmlns:a="http://schemas.openxmlformats.org/drawingml/2006/main" noChangeAspect="1"/>
          </p:cNvPicPr>
          <p:nvPr/>
        </p:nvPicPr>
        <p:blipFill>
          <a:blip xmlns:r="http://schemas.openxmlformats.org/officeDocument/2006/relationships" xmlns:a="http://schemas.openxmlformats.org/drawingml/2006/main" r:embed="R82f3867b7b264211"/>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C0C96E-2BEC-412D-B48E-B167A7D7BD30}"/>
              </a:ext>
            </a:extLst>
          </p:cNvPr>
          <p:cNvSpPr>
            <a:spLocks xmlns:a="http://schemas.openxmlformats.org/drawingml/2006/main" noGrp="1"/>
          </p:cNvSpPr>
          <p:nvPr/>
        </p:nvSpPr>
        <p:spPr>
          <a:xfrm xmlns:a="http://schemas.openxmlformats.org/drawingml/2006/main">
            <a:off x="361950" y="62865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1" i="0">
                <a:solidFill>
                  <a:srgbClr val="4776C9"/>
                </a:solidFill>
                <a:latin typeface="Arial"/>
                <a:ea typeface="Arial"/>
                <a:cs typeface="Arial"/>
              </a:defRPr>
            </a:defPPr>
            <a:lvl1pPr algn="l">
              <a:defRPr sz="2925" b="1" i="0">
                <a:solidFill>
                  <a:srgbClr val="4776C9"/>
                </a:solidFill>
                <a:latin typeface="Arial"/>
                <a:ea typeface="Arial"/>
                <a:cs typeface="Arial"/>
              </a:defRPr>
            </a:lvl1pPr>
            <a:lvl2pPr algn="l">
              <a:defRPr sz="2925" b="1" i="0">
                <a:solidFill>
                  <a:srgbClr val="4776C9"/>
                </a:solidFill>
                <a:latin typeface="Arial"/>
                <a:ea typeface="Arial"/>
                <a:cs typeface="Arial"/>
              </a:defRPr>
            </a:lvl2pPr>
            <a:lvl3pPr algn="l">
              <a:defRPr sz="2925" b="1" i="0">
                <a:solidFill>
                  <a:srgbClr val="4776C9"/>
                </a:solidFill>
                <a:latin typeface="Arial"/>
                <a:ea typeface="Arial"/>
                <a:cs typeface="Arial"/>
              </a:defRPr>
            </a:lvl3pPr>
            <a:lvl4pPr algn="l">
              <a:defRPr sz="2925" b="1" i="0">
                <a:solidFill>
                  <a:srgbClr val="4776C9"/>
                </a:solidFill>
                <a:latin typeface="Arial"/>
                <a:ea typeface="Arial"/>
                <a:cs typeface="Arial"/>
              </a:defRPr>
            </a:lvl4pPr>
            <a:lvl5pPr algn="l">
              <a:defRPr sz="2925" b="1" i="0">
                <a:solidFill>
                  <a:srgbClr val="4776C9"/>
                </a:solidFill>
                <a:latin typeface="Arial"/>
                <a:ea typeface="Arial"/>
                <a:cs typeface="Arial"/>
              </a:defRPr>
            </a:lvl5pPr>
            <a:lvl6pPr algn="l">
              <a:defRPr sz="2925" b="1" i="0">
                <a:solidFill>
                  <a:srgbClr val="4776C9"/>
                </a:solidFill>
                <a:latin typeface="Arial"/>
                <a:ea typeface="Arial"/>
                <a:cs typeface="Arial"/>
              </a:defRPr>
            </a:lvl6pPr>
            <a:lvl7pPr algn="l">
              <a:defRPr sz="2925" b="1" i="0">
                <a:solidFill>
                  <a:srgbClr val="4776C9"/>
                </a:solidFill>
                <a:latin typeface="Arial"/>
                <a:ea typeface="Arial"/>
                <a:cs typeface="Arial"/>
              </a:defRPr>
            </a:lvl7pPr>
            <a:lvl8pPr algn="l">
              <a:defRPr sz="2925" b="1" i="0">
                <a:solidFill>
                  <a:srgbClr val="4776C9"/>
                </a:solidFill>
                <a:latin typeface="Arial"/>
                <a:ea typeface="Arial"/>
                <a:cs typeface="Arial"/>
              </a:defRPr>
            </a:lvl8pPr>
            <a:lvl9pPr algn="l">
              <a:defRPr sz="2925" b="1" i="0">
                <a:solidFill>
                  <a:srgbClr val="4776C9"/>
                </a:solidFill>
                <a:latin typeface="Arial"/>
                <a:ea typeface="Arial"/>
                <a:cs typeface="Arial"/>
              </a:defRPr>
            </a:lvl9pPr>
          </a:lstStyle>
          <a:p xmlns:a="http://schemas.openxmlformats.org/drawingml/2006/main">
            <a:pPr algn="l">
              <a:buNone/>
              <a:defRPr sz="2925" b="1" i="0">
                <a:solidFill>
                  <a:srgbClr val="4776C9"/>
                </a:solidFill>
                <a:latin typeface="Arial"/>
                <a:ea typeface="Arial"/>
                <a:cs typeface="Arial"/>
              </a:defRPr>
            </a:pPr>
            <a:r>
              <a:rPr sz="2925" b="1" i="0">
                <a:solidFill>
                  <a:srgbClr val="4776C9"/>
                </a:solidFill>
                <a:latin typeface="Arial"/>
                <a:ea typeface="Arial"/>
                <a:cs typeface="Arial"/>
              </a:rPr>
              <a:t>Research Problem</a:t>
            </a:r>
          </a:p>
        </p:txBody>
      </p:sp>
      <p:sp>
        <p:nvSpPr>
          <p:cNvPr id="3" name="">
            <a:extLst xmlns:a="http://schemas.openxmlformats.org/drawingml/2006/main">
              <a:ext uri="{FF2B5EF4-FFF2-40B4-BE49-F238E27FC236}">
                <a16:creationId xmlns:a16="http://schemas.microsoft.com/office/drawing/2014/main" id="{B23E5BFD-91B5-4CD3-87B6-20EF4DB7F9C5}"/>
              </a:ext>
            </a:extLst>
          </p:cNvPr>
          <p:cNvSpPr>
            <a:spLocks xmlns:a="http://schemas.openxmlformats.org/drawingml/2006/main" noGrp="1"/>
          </p:cNvSpPr>
          <p:nvPr/>
        </p:nvSpPr>
        <p:spPr>
          <a:xfrm xmlns:a="http://schemas.openxmlformats.org/drawingml/2006/main">
            <a:off x="523875" y="1495425"/>
            <a:ext cx="1104900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a:solidFill>
                  <a:srgbClr val="151515"/>
                </a:solidFill>
                <a:latin typeface="Arial"/>
                <a:ea typeface="Arial"/>
                <a:cs typeface="Arial"/>
              </a:defRPr>
            </a:defPPr>
            <a:lvl1pPr>
              <a:defRPr sz="1950">
                <a:solidFill>
                  <a:srgbClr val="151515"/>
                </a:solidFill>
                <a:latin typeface="Arial"/>
                <a:ea typeface="Arial"/>
                <a:cs typeface="Arial"/>
              </a:defRPr>
            </a:lvl1pPr>
            <a:lvl2pPr>
              <a:defRPr sz="1950">
                <a:solidFill>
                  <a:srgbClr val="151515"/>
                </a:solidFill>
                <a:latin typeface="Arial"/>
                <a:ea typeface="Arial"/>
                <a:cs typeface="Arial"/>
              </a:defRPr>
            </a:lvl2pPr>
            <a:lvl3pPr>
              <a:defRPr sz="1950">
                <a:solidFill>
                  <a:srgbClr val="151515"/>
                </a:solidFill>
                <a:latin typeface="Arial"/>
                <a:ea typeface="Arial"/>
                <a:cs typeface="Arial"/>
              </a:defRPr>
            </a:lvl3pPr>
            <a:lvl4pPr>
              <a:defRPr sz="1950">
                <a:solidFill>
                  <a:srgbClr val="151515"/>
                </a:solidFill>
                <a:latin typeface="Arial"/>
                <a:ea typeface="Arial"/>
                <a:cs typeface="Arial"/>
              </a:defRPr>
            </a:lvl4pPr>
            <a:lvl5pPr>
              <a:defRPr sz="1950">
                <a:solidFill>
                  <a:srgbClr val="151515"/>
                </a:solidFill>
                <a:latin typeface="Arial"/>
                <a:ea typeface="Arial"/>
                <a:cs typeface="Arial"/>
              </a:defRPr>
            </a:lvl5pPr>
            <a:lvl6pPr>
              <a:defRPr sz="1950">
                <a:solidFill>
                  <a:srgbClr val="151515"/>
                </a:solidFill>
                <a:latin typeface="Arial"/>
                <a:ea typeface="Arial"/>
                <a:cs typeface="Arial"/>
              </a:defRPr>
            </a:lvl6pPr>
            <a:lvl7pPr>
              <a:defRPr sz="1950">
                <a:solidFill>
                  <a:srgbClr val="151515"/>
                </a:solidFill>
                <a:latin typeface="Arial"/>
                <a:ea typeface="Arial"/>
                <a:cs typeface="Arial"/>
              </a:defRPr>
            </a:lvl7pPr>
            <a:lvl8pPr>
              <a:defRPr sz="1950">
                <a:solidFill>
                  <a:srgbClr val="151515"/>
                </a:solidFill>
                <a:latin typeface="Arial"/>
                <a:ea typeface="Arial"/>
                <a:cs typeface="Arial"/>
              </a:defRPr>
            </a:lvl8pPr>
            <a:lvl9pPr>
              <a:defRPr sz="1950">
                <a:solidFill>
                  <a:srgbClr val="151515"/>
                </a:solidFill>
                <a:latin typeface="Arial"/>
                <a:ea typeface="Arial"/>
                <a:cs typeface="Arial"/>
              </a:defRPr>
            </a:lvl9pPr>
          </a:lstStyle>
          <a:p xmlns:a="http://schemas.openxmlformats.org/drawingml/2006/main">
            <a:pPr marL="317500" indent="-165100">
              <a:spcAft>
                <a:spcPts val="1400"/>
              </a:spcAft>
              <a:buChar char="•"/>
              <a:defRPr sz="1950">
                <a:solidFill>
                  <a:srgbClr val="151515"/>
                </a:solidFill>
                <a:latin typeface="Arial"/>
                <a:ea typeface="Arial"/>
                <a:cs typeface="Arial"/>
              </a:defRPr>
            </a:pPr>
            <a:r>
              <a:t>Reconstruction errors vary across regions of the option surface.</a:t>
            </a:r>
          </a:p>
          <a:p xmlns:a="http://schemas.openxmlformats.org/drawingml/2006/main">
            <a:pPr marL="317500" indent="-165100">
              <a:spcAft>
                <a:spcPts val="1400"/>
              </a:spcAft>
              <a:buChar char="•"/>
              <a:defRPr sz="1950">
                <a:solidFill>
                  <a:srgbClr val="151515"/>
                </a:solidFill>
                <a:latin typeface="Arial"/>
                <a:ea typeface="Arial"/>
                <a:cs typeface="Arial"/>
              </a:defRPr>
            </a:pPr>
            <a:r>
              <a:t>The calibration design uses both spatial location and recent observed errors.</a:t>
            </a:r>
          </a:p>
          <a:p xmlns:a="http://schemas.openxmlformats.org/drawingml/2006/main">
            <a:pPr marL="317500" indent="-165100">
              <a:spcAft>
                <a:spcPts val="1400"/>
              </a:spcAft>
              <a:buChar char="•"/>
              <a:defRPr sz="1950">
                <a:solidFill>
                  <a:srgbClr val="151515"/>
                </a:solidFill>
                <a:latin typeface="Arial"/>
                <a:ea typeface="Arial"/>
                <a:cs typeface="Arial"/>
              </a:defRPr>
            </a:pPr>
            <a:r>
              <a:t>The lower and upper surfaces should satisfy the selected finite-grid shape constraints.</a:t>
            </a:r>
          </a:p>
        </p:txBody>
      </p:sp>
      <p:sp>
        <p:nvSpPr>
          <p:cNvPr id="4" name="">
            <a:extLst xmlns:a="http://schemas.openxmlformats.org/drawingml/2006/main">
              <a:ext uri="{FF2B5EF4-FFF2-40B4-BE49-F238E27FC236}">
                <a16:creationId xmlns:a16="http://schemas.microsoft.com/office/drawing/2014/main" id="{3238B5AB-9E86-4A45-B156-A3D2988E6DC6}"/>
              </a:ext>
            </a:extLst>
          </p:cNvPr>
          <p:cNvSpPr>
            <a:spLocks xmlns:a="http://schemas.openxmlformats.org/drawingml/2006/main" noGrp="1"/>
          </p:cNvSpPr>
          <p:nvPr/>
        </p:nvSpPr>
        <p:spPr>
          <a:xfrm xmlns:a="http://schemas.openxmlformats.org/drawingml/2006/main">
            <a:off x="1047750" y="4495800"/>
            <a:ext cx="100965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2325" b="1" i="0">
                <a:solidFill>
                  <a:srgbClr val="4776C9"/>
                </a:solidFill>
                <a:latin typeface="Arial"/>
                <a:ea typeface="Arial"/>
                <a:cs typeface="Arial"/>
              </a:defRPr>
            </a:defPPr>
            <a:lvl1pPr algn="ctr">
              <a:defRPr sz="2325" b="1" i="0">
                <a:solidFill>
                  <a:srgbClr val="4776C9"/>
                </a:solidFill>
                <a:latin typeface="Arial"/>
                <a:ea typeface="Arial"/>
                <a:cs typeface="Arial"/>
              </a:defRPr>
            </a:lvl1pPr>
            <a:lvl2pPr algn="ctr">
              <a:defRPr sz="2325" b="1" i="0">
                <a:solidFill>
                  <a:srgbClr val="4776C9"/>
                </a:solidFill>
                <a:latin typeface="Arial"/>
                <a:ea typeface="Arial"/>
                <a:cs typeface="Arial"/>
              </a:defRPr>
            </a:lvl2pPr>
            <a:lvl3pPr algn="ctr">
              <a:defRPr sz="2325" b="1" i="0">
                <a:solidFill>
                  <a:srgbClr val="4776C9"/>
                </a:solidFill>
                <a:latin typeface="Arial"/>
                <a:ea typeface="Arial"/>
                <a:cs typeface="Arial"/>
              </a:defRPr>
            </a:lvl3pPr>
            <a:lvl4pPr algn="ctr">
              <a:defRPr sz="2325" b="1" i="0">
                <a:solidFill>
                  <a:srgbClr val="4776C9"/>
                </a:solidFill>
                <a:latin typeface="Arial"/>
                <a:ea typeface="Arial"/>
                <a:cs typeface="Arial"/>
              </a:defRPr>
            </a:lvl4pPr>
            <a:lvl5pPr algn="ctr">
              <a:defRPr sz="2325" b="1" i="0">
                <a:solidFill>
                  <a:srgbClr val="4776C9"/>
                </a:solidFill>
                <a:latin typeface="Arial"/>
                <a:ea typeface="Arial"/>
                <a:cs typeface="Arial"/>
              </a:defRPr>
            </a:lvl5pPr>
            <a:lvl6pPr algn="ctr">
              <a:defRPr sz="2325" b="1" i="0">
                <a:solidFill>
                  <a:srgbClr val="4776C9"/>
                </a:solidFill>
                <a:latin typeface="Arial"/>
                <a:ea typeface="Arial"/>
                <a:cs typeface="Arial"/>
              </a:defRPr>
            </a:lvl6pPr>
            <a:lvl7pPr algn="ctr">
              <a:defRPr sz="2325" b="1" i="0">
                <a:solidFill>
                  <a:srgbClr val="4776C9"/>
                </a:solidFill>
                <a:latin typeface="Arial"/>
                <a:ea typeface="Arial"/>
                <a:cs typeface="Arial"/>
              </a:defRPr>
            </a:lvl7pPr>
            <a:lvl8pPr algn="ctr">
              <a:defRPr sz="2325" b="1" i="0">
                <a:solidFill>
                  <a:srgbClr val="4776C9"/>
                </a:solidFill>
                <a:latin typeface="Arial"/>
                <a:ea typeface="Arial"/>
                <a:cs typeface="Arial"/>
              </a:defRPr>
            </a:lvl8pPr>
            <a:lvl9pPr algn="ctr">
              <a:defRPr sz="2325" b="1" i="0">
                <a:solidFill>
                  <a:srgbClr val="4776C9"/>
                </a:solidFill>
                <a:latin typeface="Arial"/>
                <a:ea typeface="Arial"/>
                <a:cs typeface="Arial"/>
              </a:defRPr>
            </a:lvl9pPr>
          </a:lstStyle>
          <a:p xmlns:a="http://schemas.openxmlformats.org/drawingml/2006/main">
            <a:pPr algn="ctr">
              <a:buNone/>
              <a:defRPr sz="2325" b="1" i="0">
                <a:solidFill>
                  <a:srgbClr val="4776C9"/>
                </a:solidFill>
                <a:latin typeface="Arial"/>
                <a:ea typeface="Arial"/>
                <a:cs typeface="Arial"/>
              </a:defRPr>
            </a:pPr>
            <a:r>
              <a:rPr sz="2325" b="1" i="0">
                <a:solidFill>
                  <a:srgbClr val="4776C9"/>
                </a:solidFill>
                <a:latin typeface="Arial"/>
                <a:ea typeface="Arial"/>
                <a:cs typeface="Arial"/>
              </a:rPr>
              <a:t>How can calibrated uncertainty bands be added to a fixed GNO implied-volatility surface without retraining it?</a:t>
            </a:r>
          </a:p>
        </p:txBody>
      </p:sp>
      <p:sp>
        <p:nvSpPr>
          <p:cNvPr id="5" name="">
            <a:extLst xmlns:a="http://schemas.openxmlformats.org/drawingml/2006/main">
              <a:ext uri="{FF2B5EF4-FFF2-40B4-BE49-F238E27FC236}">
                <a16:creationId xmlns:a16="http://schemas.microsoft.com/office/drawing/2014/main" id="{85E1A491-546E-4098-BC05-697AE6442E09}"/>
              </a:ext>
            </a:extLst>
          </p:cNvPr>
          <p:cNvSpPr>
            <a:spLocks xmlns:a="http://schemas.openxmlformats.org/drawingml/2006/main" noGrp="1"/>
          </p:cNvSpPr>
          <p:nvPr/>
        </p:nvSpPr>
        <p:spPr>
          <a:xfrm xmlns:a="http://schemas.openxmlformats.org/drawingml/2006/main">
            <a:off x="904875" y="6010275"/>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00" b="0" i="0">
                <a:solidFill>
                  <a:srgbClr val="4B4B4B"/>
                </a:solidFill>
                <a:latin typeface="Arial"/>
                <a:ea typeface="Arial"/>
                <a:cs typeface="Arial"/>
              </a:defRPr>
            </a:defPPr>
            <a:lvl1pPr algn="ctr">
              <a:defRPr sz="1500" b="0" i="0">
                <a:solidFill>
                  <a:srgbClr val="4B4B4B"/>
                </a:solidFill>
                <a:latin typeface="Arial"/>
                <a:ea typeface="Arial"/>
                <a:cs typeface="Arial"/>
              </a:defRPr>
            </a:lvl1pPr>
            <a:lvl2pPr algn="ctr">
              <a:defRPr sz="1500" b="0" i="0">
                <a:solidFill>
                  <a:srgbClr val="4B4B4B"/>
                </a:solidFill>
                <a:latin typeface="Arial"/>
                <a:ea typeface="Arial"/>
                <a:cs typeface="Arial"/>
              </a:defRPr>
            </a:lvl2pPr>
            <a:lvl3pPr algn="ctr">
              <a:defRPr sz="1500" b="0" i="0">
                <a:solidFill>
                  <a:srgbClr val="4B4B4B"/>
                </a:solidFill>
                <a:latin typeface="Arial"/>
                <a:ea typeface="Arial"/>
                <a:cs typeface="Arial"/>
              </a:defRPr>
            </a:lvl3pPr>
            <a:lvl4pPr algn="ctr">
              <a:defRPr sz="1500" b="0" i="0">
                <a:solidFill>
                  <a:srgbClr val="4B4B4B"/>
                </a:solidFill>
                <a:latin typeface="Arial"/>
                <a:ea typeface="Arial"/>
                <a:cs typeface="Arial"/>
              </a:defRPr>
            </a:lvl4pPr>
            <a:lvl5pPr algn="ctr">
              <a:defRPr sz="1500" b="0" i="0">
                <a:solidFill>
                  <a:srgbClr val="4B4B4B"/>
                </a:solidFill>
                <a:latin typeface="Arial"/>
                <a:ea typeface="Arial"/>
                <a:cs typeface="Arial"/>
              </a:defRPr>
            </a:lvl5pPr>
            <a:lvl6pPr algn="ctr">
              <a:defRPr sz="1500" b="0" i="0">
                <a:solidFill>
                  <a:srgbClr val="4B4B4B"/>
                </a:solidFill>
                <a:latin typeface="Arial"/>
                <a:ea typeface="Arial"/>
                <a:cs typeface="Arial"/>
              </a:defRPr>
            </a:lvl6pPr>
            <a:lvl7pPr algn="ctr">
              <a:defRPr sz="1500" b="0" i="0">
                <a:solidFill>
                  <a:srgbClr val="4B4B4B"/>
                </a:solidFill>
                <a:latin typeface="Arial"/>
                <a:ea typeface="Arial"/>
                <a:cs typeface="Arial"/>
              </a:defRPr>
            </a:lvl7pPr>
            <a:lvl8pPr algn="ctr">
              <a:defRPr sz="1500" b="0" i="0">
                <a:solidFill>
                  <a:srgbClr val="4B4B4B"/>
                </a:solidFill>
                <a:latin typeface="Arial"/>
                <a:ea typeface="Arial"/>
                <a:cs typeface="Arial"/>
              </a:defRPr>
            </a:lvl8pPr>
            <a:lvl9pPr algn="ctr">
              <a:defRPr sz="1500" b="0" i="0">
                <a:solidFill>
                  <a:srgbClr val="4B4B4B"/>
                </a:solidFill>
                <a:latin typeface="Arial"/>
                <a:ea typeface="Arial"/>
                <a:cs typeface="Arial"/>
              </a:defRPr>
            </a:lvl9pPr>
          </a:lstStyle>
          <a:p xmlns:a="http://schemas.openxmlformats.org/drawingml/2006/main">
            <a:pPr algn="ctr">
              <a:buNone/>
              <a:defRPr sz="1500" b="0" i="0">
                <a:solidFill>
                  <a:srgbClr val="4B4B4B"/>
                </a:solidFill>
                <a:latin typeface="Arial"/>
                <a:ea typeface="Arial"/>
                <a:cs typeface="Arial"/>
              </a:defRPr>
            </a:pPr>
            <a:r>
              <a:rPr sz="1500" b="0" i="0">
                <a:solidFill>
                  <a:srgbClr val="4B4B4B"/>
                </a:solidFill>
                <a:latin typeface="Arial"/>
                <a:ea typeface="Arial"/>
                <a:cs typeface="Arial"/>
              </a:rPr>
              <a:t>Scope: uncertainty in surface reconstruction at withheld option quotes.</a:t>
            </a:r>
          </a:p>
        </p:txBody>
      </p:sp>
      <p:sp>
        <p:nvSpPr>
          <p:cNvPr id="7" name="source-line">
            <a:extLst xmlns:a="http://schemas.openxmlformats.org/drawingml/2006/main">
              <a:ext uri="{FF2B5EF4-FFF2-40B4-BE49-F238E27FC236}">
                <a16:creationId xmlns:a16="http://schemas.microsoft.com/office/drawing/2014/main" id="{59A31C4F-7CB8-414F-B711-E8C3672BEAEA}"/>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thesis §§1.2–1.3 and §5.5</a:t>
            </a:r>
          </a:p>
        </p:txBody>
      </p:sp>
      <p:sp>
        <p:nvSpPr>
          <p:cNvPr id="8" name="slide-number">
            <a:extLst xmlns:a="http://schemas.openxmlformats.org/drawingml/2006/main">
              <a:ext uri="{FF2B5EF4-FFF2-40B4-BE49-F238E27FC236}">
                <a16:creationId xmlns:a16="http://schemas.microsoft.com/office/drawing/2014/main" id="{A75935CC-C6D2-469A-BC09-7F382F91E401}"/>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4</a:t>
            </a:r>
          </a:p>
        </p:txBody>
      </p:sp>
    </p:spTree>
    <p:extLst>
      <p:ext uri="{BB962C8B-B14F-4D97-AF65-F5344CB8AC3E}">
        <p14:creationId xmlns:p14="http://schemas.microsoft.com/office/powerpoint/2010/main" val="20615191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0341C300-5BF2-4F13-A814-6837F621C17D}"/>
              </a:ext>
            </a:extLst>
          </p:cNvPr>
          <p:cNvPicPr>
            <a:picLocks xmlns:a="http://schemas.openxmlformats.org/drawingml/2006/main" noChangeAspect="1"/>
          </p:cNvPicPr>
          <p:nvPr/>
        </p:nvPicPr>
        <p:blipFill>
          <a:blip xmlns:r="http://schemas.openxmlformats.org/officeDocument/2006/relationships" xmlns:a="http://schemas.openxmlformats.org/drawingml/2006/main" r:embed="R32ca794d7517475a"/>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A04229-C5D0-4C78-A1D5-21FF954D6CCE}"/>
              </a:ext>
            </a:extLst>
          </p:cNvPr>
          <p:cNvSpPr>
            <a:spLocks xmlns:a="http://schemas.openxmlformats.org/drawingml/2006/main" noGrp="1"/>
          </p:cNvSpPr>
          <p:nvPr/>
        </p:nvSpPr>
        <p:spPr>
          <a:xfrm xmlns:a="http://schemas.openxmlformats.org/drawingml/2006/main">
            <a:off x="361950" y="62865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1" i="0">
                <a:solidFill>
                  <a:srgbClr val="4776C9"/>
                </a:solidFill>
                <a:latin typeface="Arial"/>
                <a:ea typeface="Arial"/>
                <a:cs typeface="Arial"/>
              </a:defRPr>
            </a:defPPr>
            <a:lvl1pPr algn="l">
              <a:defRPr sz="2925" b="1" i="0">
                <a:solidFill>
                  <a:srgbClr val="4776C9"/>
                </a:solidFill>
                <a:latin typeface="Arial"/>
                <a:ea typeface="Arial"/>
                <a:cs typeface="Arial"/>
              </a:defRPr>
            </a:lvl1pPr>
            <a:lvl2pPr algn="l">
              <a:defRPr sz="2925" b="1" i="0">
                <a:solidFill>
                  <a:srgbClr val="4776C9"/>
                </a:solidFill>
                <a:latin typeface="Arial"/>
                <a:ea typeface="Arial"/>
                <a:cs typeface="Arial"/>
              </a:defRPr>
            </a:lvl2pPr>
            <a:lvl3pPr algn="l">
              <a:defRPr sz="2925" b="1" i="0">
                <a:solidFill>
                  <a:srgbClr val="4776C9"/>
                </a:solidFill>
                <a:latin typeface="Arial"/>
                <a:ea typeface="Arial"/>
                <a:cs typeface="Arial"/>
              </a:defRPr>
            </a:lvl3pPr>
            <a:lvl4pPr algn="l">
              <a:defRPr sz="2925" b="1" i="0">
                <a:solidFill>
                  <a:srgbClr val="4776C9"/>
                </a:solidFill>
                <a:latin typeface="Arial"/>
                <a:ea typeface="Arial"/>
                <a:cs typeface="Arial"/>
              </a:defRPr>
            </a:lvl4pPr>
            <a:lvl5pPr algn="l">
              <a:defRPr sz="2925" b="1" i="0">
                <a:solidFill>
                  <a:srgbClr val="4776C9"/>
                </a:solidFill>
                <a:latin typeface="Arial"/>
                <a:ea typeface="Arial"/>
                <a:cs typeface="Arial"/>
              </a:defRPr>
            </a:lvl5pPr>
            <a:lvl6pPr algn="l">
              <a:defRPr sz="2925" b="1" i="0">
                <a:solidFill>
                  <a:srgbClr val="4776C9"/>
                </a:solidFill>
                <a:latin typeface="Arial"/>
                <a:ea typeface="Arial"/>
                <a:cs typeface="Arial"/>
              </a:defRPr>
            </a:lvl6pPr>
            <a:lvl7pPr algn="l">
              <a:defRPr sz="2925" b="1" i="0">
                <a:solidFill>
                  <a:srgbClr val="4776C9"/>
                </a:solidFill>
                <a:latin typeface="Arial"/>
                <a:ea typeface="Arial"/>
                <a:cs typeface="Arial"/>
              </a:defRPr>
            </a:lvl7pPr>
            <a:lvl8pPr algn="l">
              <a:defRPr sz="2925" b="1" i="0">
                <a:solidFill>
                  <a:srgbClr val="4776C9"/>
                </a:solidFill>
                <a:latin typeface="Arial"/>
                <a:ea typeface="Arial"/>
                <a:cs typeface="Arial"/>
              </a:defRPr>
            </a:lvl8pPr>
            <a:lvl9pPr algn="l">
              <a:defRPr sz="2925" b="1" i="0">
                <a:solidFill>
                  <a:srgbClr val="4776C9"/>
                </a:solidFill>
                <a:latin typeface="Arial"/>
                <a:ea typeface="Arial"/>
                <a:cs typeface="Arial"/>
              </a:defRPr>
            </a:lvl9pPr>
          </a:lstStyle>
          <a:p xmlns:a="http://schemas.openxmlformats.org/drawingml/2006/main">
            <a:pPr algn="l">
              <a:buNone/>
              <a:defRPr sz="2925" b="1" i="0">
                <a:solidFill>
                  <a:srgbClr val="4776C9"/>
                </a:solidFill>
                <a:latin typeface="Arial"/>
                <a:ea typeface="Arial"/>
                <a:cs typeface="Arial"/>
              </a:defRPr>
            </a:pPr>
            <a:r>
              <a:rPr sz="2925" b="1" i="0">
                <a:solidFill>
                  <a:srgbClr val="4776C9"/>
                </a:solidFill>
                <a:latin typeface="Arial"/>
                <a:ea typeface="Arial"/>
                <a:cs typeface="Arial"/>
              </a:rPr>
              <a:t>Research Objectives</a:t>
            </a:r>
          </a:p>
        </p:txBody>
      </p:sp>
      <p:sp>
        <p:nvSpPr>
          <p:cNvPr id="3" name="">
            <a:extLst xmlns:a="http://schemas.openxmlformats.org/drawingml/2006/main">
              <a:ext uri="{FF2B5EF4-FFF2-40B4-BE49-F238E27FC236}">
                <a16:creationId xmlns:a16="http://schemas.microsoft.com/office/drawing/2014/main" id="{A6FC16A5-2D9B-41CA-9D17-3661FAB6FADE}"/>
              </a:ext>
            </a:extLst>
          </p:cNvPr>
          <p:cNvSpPr>
            <a:spLocks xmlns:a="http://schemas.openxmlformats.org/drawingml/2006/main" noGrp="1"/>
          </p:cNvSpPr>
          <p:nvPr/>
        </p:nvSpPr>
        <p:spPr>
          <a:xfrm xmlns:a="http://schemas.openxmlformats.org/drawingml/2006/main">
            <a:off x="523875" y="1409700"/>
            <a:ext cx="11049000" cy="509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a:solidFill>
                  <a:srgbClr val="151515"/>
                </a:solidFill>
                <a:latin typeface="Arial"/>
                <a:ea typeface="Arial"/>
                <a:cs typeface="Arial"/>
              </a:defRPr>
            </a:defPPr>
            <a:lvl1pPr>
              <a:defRPr sz="1875">
                <a:solidFill>
                  <a:srgbClr val="151515"/>
                </a:solidFill>
                <a:latin typeface="Arial"/>
                <a:ea typeface="Arial"/>
                <a:cs typeface="Arial"/>
              </a:defRPr>
            </a:lvl1pPr>
            <a:lvl2pPr>
              <a:defRPr sz="1875">
                <a:solidFill>
                  <a:srgbClr val="151515"/>
                </a:solidFill>
                <a:latin typeface="Arial"/>
                <a:ea typeface="Arial"/>
                <a:cs typeface="Arial"/>
              </a:defRPr>
            </a:lvl2pPr>
            <a:lvl3pPr>
              <a:defRPr sz="1875">
                <a:solidFill>
                  <a:srgbClr val="151515"/>
                </a:solidFill>
                <a:latin typeface="Arial"/>
                <a:ea typeface="Arial"/>
                <a:cs typeface="Arial"/>
              </a:defRPr>
            </a:lvl3pPr>
            <a:lvl4pPr>
              <a:defRPr sz="1875">
                <a:solidFill>
                  <a:srgbClr val="151515"/>
                </a:solidFill>
                <a:latin typeface="Arial"/>
                <a:ea typeface="Arial"/>
                <a:cs typeface="Arial"/>
              </a:defRPr>
            </a:lvl4pPr>
            <a:lvl5pPr>
              <a:defRPr sz="1875">
                <a:solidFill>
                  <a:srgbClr val="151515"/>
                </a:solidFill>
                <a:latin typeface="Arial"/>
                <a:ea typeface="Arial"/>
                <a:cs typeface="Arial"/>
              </a:defRPr>
            </a:lvl5pPr>
            <a:lvl6pPr>
              <a:defRPr sz="1875">
                <a:solidFill>
                  <a:srgbClr val="151515"/>
                </a:solidFill>
                <a:latin typeface="Arial"/>
                <a:ea typeface="Arial"/>
                <a:cs typeface="Arial"/>
              </a:defRPr>
            </a:lvl6pPr>
            <a:lvl7pPr>
              <a:defRPr sz="1875">
                <a:solidFill>
                  <a:srgbClr val="151515"/>
                </a:solidFill>
                <a:latin typeface="Arial"/>
                <a:ea typeface="Arial"/>
                <a:cs typeface="Arial"/>
              </a:defRPr>
            </a:lvl7pPr>
            <a:lvl8pPr>
              <a:defRPr sz="1875">
                <a:solidFill>
                  <a:srgbClr val="151515"/>
                </a:solidFill>
                <a:latin typeface="Arial"/>
                <a:ea typeface="Arial"/>
                <a:cs typeface="Arial"/>
              </a:defRPr>
            </a:lvl8pPr>
            <a:lvl9pPr>
              <a:defRPr sz="1875">
                <a:solidFill>
                  <a:srgbClr val="151515"/>
                </a:solidFill>
                <a:latin typeface="Arial"/>
                <a:ea typeface="Arial"/>
                <a:cs typeface="Arial"/>
              </a:defRPr>
            </a:lvl9pPr>
          </a:lstStyle>
          <a:p xmlns:a="http://schemas.openxmlformats.org/drawingml/2006/main">
            <a:pPr marL="317500" indent="-165100">
              <a:spcAft>
                <a:spcPts val="1000"/>
              </a:spcAft>
              <a:buChar char="•"/>
              <a:defRPr sz="1875">
                <a:solidFill>
                  <a:srgbClr val="151515"/>
                </a:solidFill>
                <a:latin typeface="Arial"/>
                <a:ea typeface="Arial"/>
                <a:cs typeface="Arial"/>
              </a:defRPr>
            </a:pPr>
            <a:r>
              <a:t>Compare spread-normalised price errors with Vega-weighted implied-volatility errors.</a:t>
            </a:r>
          </a:p>
          <a:p xmlns:a="http://schemas.openxmlformats.org/drawingml/2006/main">
            <a:pPr marL="317500" indent="-165100">
              <a:spcAft>
                <a:spcPts val="1000"/>
              </a:spcAft>
              <a:buChar char="•"/>
              <a:defRPr sz="1875">
                <a:solidFill>
                  <a:srgbClr val="151515"/>
                </a:solidFill>
                <a:latin typeface="Arial"/>
                <a:ea typeface="Arial"/>
                <a:cs typeface="Arial"/>
              </a:defRPr>
            </a:pPr>
            <a:r>
              <a:t>Calibrate thresholds using a rolling window of recent market surfaces.</a:t>
            </a:r>
          </a:p>
          <a:p xmlns:a="http://schemas.openxmlformats.org/drawingml/2006/main">
            <a:pPr marL="317500" indent="-165100">
              <a:spcAft>
                <a:spcPts val="1000"/>
              </a:spcAft>
              <a:buChar char="•"/>
              <a:defRPr sz="1875">
                <a:solidFill>
                  <a:srgbClr val="151515"/>
                </a:solidFill>
                <a:latin typeface="Arial"/>
                <a:ea typeface="Arial"/>
                <a:cs typeface="Arial"/>
              </a:defRPr>
            </a:pPr>
            <a:r>
              <a:t>Test whether Mondrian bins improve coverage across surface regions.</a:t>
            </a:r>
          </a:p>
          <a:p xmlns:a="http://schemas.openxmlformats.org/drawingml/2006/main">
            <a:pPr marL="317500" indent="-165100">
              <a:spcAft>
                <a:spcPts val="1000"/>
              </a:spcAft>
              <a:buChar char="•"/>
              <a:defRPr sz="1875">
                <a:solidFill>
                  <a:srgbClr val="151515"/>
                </a:solidFill>
                <a:latin typeface="Arial"/>
                <a:ea typeface="Arial"/>
                <a:cs typeface="Arial"/>
              </a:defRPr>
            </a:pPr>
            <a:r>
              <a:t>Construct prediction bands in implied-volatility and option-price space.</a:t>
            </a:r>
          </a:p>
          <a:p xmlns:a="http://schemas.openxmlformats.org/drawingml/2006/main">
            <a:pPr marL="317500" indent="-165100">
              <a:spcAft>
                <a:spcPts val="1000"/>
              </a:spcAft>
              <a:buChar char="•"/>
              <a:defRPr sz="1875">
                <a:solidFill>
                  <a:srgbClr val="151515"/>
                </a:solidFill>
                <a:latin typeface="Arial"/>
                <a:ea typeface="Arial"/>
                <a:cs typeface="Arial"/>
              </a:defRPr>
            </a:pPr>
            <a:r>
              <a:t>Jointly adjust both bounds for calendar and total-variance convexity constraints.</a:t>
            </a:r>
          </a:p>
          <a:p xmlns:a="http://schemas.openxmlformats.org/drawingml/2006/main">
            <a:pPr marL="317500" indent="-165100">
              <a:spcAft>
                <a:spcPts val="1000"/>
              </a:spcAft>
              <a:buChar char="•"/>
              <a:defRPr sz="1875">
                <a:solidFill>
                  <a:srgbClr val="151515"/>
                </a:solidFill>
                <a:latin typeface="Arial"/>
                <a:ea typeface="Arial"/>
                <a:cs typeface="Arial"/>
              </a:defRPr>
            </a:pPr>
            <a:r>
              <a:t>Evaluate empirical coverage and band width at held-out SPX option quotes.</a:t>
            </a:r>
          </a:p>
        </p:txBody>
      </p:sp>
      <p:sp>
        <p:nvSpPr>
          <p:cNvPr id="5" name="source-line">
            <a:extLst xmlns:a="http://schemas.openxmlformats.org/drawingml/2006/main">
              <a:ext uri="{FF2B5EF4-FFF2-40B4-BE49-F238E27FC236}">
                <a16:creationId xmlns:a16="http://schemas.microsoft.com/office/drawing/2014/main" id="{3C0813D5-6A74-4923-91F4-12002479C1CA}"/>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exposé Eqs. (1)–(6), revised thesis §§3.2–3.5</a:t>
            </a:r>
          </a:p>
        </p:txBody>
      </p:sp>
      <p:sp>
        <p:nvSpPr>
          <p:cNvPr id="6" name="slide-number">
            <a:extLst xmlns:a="http://schemas.openxmlformats.org/drawingml/2006/main">
              <a:ext uri="{FF2B5EF4-FFF2-40B4-BE49-F238E27FC236}">
                <a16:creationId xmlns:a16="http://schemas.microsoft.com/office/drawing/2014/main" id="{FBEF69A9-B04D-4E13-BC84-C632B3A83F93}"/>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5</a:t>
            </a:r>
          </a:p>
        </p:txBody>
      </p:sp>
    </p:spTree>
    <p:extLst>
      <p:ext uri="{BB962C8B-B14F-4D97-AF65-F5344CB8AC3E}">
        <p14:creationId xmlns:p14="http://schemas.microsoft.com/office/powerpoint/2010/main" val="2276116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BB34C2D-D241-44DC-870D-B64725C5C720}"/>
              </a:ext>
            </a:extLst>
          </p:cNvPr>
          <p:cNvPicPr>
            <a:picLocks xmlns:a="http://schemas.openxmlformats.org/drawingml/2006/main" noChangeAspect="1"/>
          </p:cNvPicPr>
          <p:nvPr/>
        </p:nvPicPr>
        <p:blipFill>
          <a:blip xmlns:r="http://schemas.openxmlformats.org/officeDocument/2006/relationships" xmlns:a="http://schemas.openxmlformats.org/drawingml/2006/main" r:embed="R226aceed76b84f6b"/>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5E9BE503-22DC-4123-8AAE-FE105BA5B6B6}"/>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A fixed GNO provides the point estimate</a:t>
            </a:r>
          </a:p>
        </p:txBody>
      </p:sp>
      <p:sp>
        <p:nvSpPr>
          <p:cNvPr id="3" name="">
            <a:extLst xmlns:a="http://schemas.openxmlformats.org/drawingml/2006/main">
              <a:ext uri="{FF2B5EF4-FFF2-40B4-BE49-F238E27FC236}">
                <a16:creationId xmlns:a16="http://schemas.microsoft.com/office/drawing/2014/main" id="{A56A3A66-4D3D-4350-B95B-CFB99832D6E4}"/>
              </a:ext>
            </a:extLst>
          </p:cNvPr>
          <p:cNvSpPr>
            <a:spLocks xmlns:a="http://schemas.openxmlformats.org/drawingml/2006/main" noGrp="1"/>
          </p:cNvSpPr>
          <p:nvPr/>
        </p:nvSpPr>
        <p:spPr>
          <a:xfrm xmlns:a="http://schemas.openxmlformats.org/drawingml/2006/main">
            <a:off x="523875" y="1619250"/>
            <a:ext cx="11049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51515"/>
                </a:solidFill>
                <a:latin typeface="Arial"/>
                <a:ea typeface="Arial"/>
                <a:cs typeface="Arial"/>
              </a:defRPr>
            </a:defPPr>
            <a:lvl1pPr algn="l">
              <a:defRPr sz="2100" b="0">
                <a:solidFill>
                  <a:srgbClr val="151515"/>
                </a:solidFill>
                <a:latin typeface="Arial"/>
                <a:ea typeface="Arial"/>
                <a:cs typeface="Arial"/>
              </a:defRPr>
            </a:lvl1pPr>
            <a:lvl2pPr algn="l">
              <a:defRPr sz="2100" b="0">
                <a:solidFill>
                  <a:srgbClr val="151515"/>
                </a:solidFill>
                <a:latin typeface="Arial"/>
                <a:ea typeface="Arial"/>
                <a:cs typeface="Arial"/>
              </a:defRPr>
            </a:lvl2pPr>
            <a:lvl3pPr algn="l">
              <a:defRPr sz="2100" b="0">
                <a:solidFill>
                  <a:srgbClr val="151515"/>
                </a:solidFill>
                <a:latin typeface="Arial"/>
                <a:ea typeface="Arial"/>
                <a:cs typeface="Arial"/>
              </a:defRPr>
            </a:lvl3pPr>
            <a:lvl4pPr algn="l">
              <a:defRPr sz="2100" b="0">
                <a:solidFill>
                  <a:srgbClr val="151515"/>
                </a:solidFill>
                <a:latin typeface="Arial"/>
                <a:ea typeface="Arial"/>
                <a:cs typeface="Arial"/>
              </a:defRPr>
            </a:lvl4pPr>
            <a:lvl5pPr algn="l">
              <a:defRPr sz="2100" b="0">
                <a:solidFill>
                  <a:srgbClr val="151515"/>
                </a:solidFill>
                <a:latin typeface="Arial"/>
                <a:ea typeface="Arial"/>
                <a:cs typeface="Arial"/>
              </a:defRPr>
            </a:lvl5pPr>
            <a:lvl6pPr algn="l">
              <a:defRPr sz="2100" b="0">
                <a:solidFill>
                  <a:srgbClr val="151515"/>
                </a:solidFill>
                <a:latin typeface="Arial"/>
                <a:ea typeface="Arial"/>
                <a:cs typeface="Arial"/>
              </a:defRPr>
            </a:lvl6pPr>
            <a:lvl7pPr algn="l">
              <a:defRPr sz="2100" b="0">
                <a:solidFill>
                  <a:srgbClr val="151515"/>
                </a:solidFill>
                <a:latin typeface="Arial"/>
                <a:ea typeface="Arial"/>
                <a:cs typeface="Arial"/>
              </a:defRPr>
            </a:lvl7pPr>
            <a:lvl8pPr algn="l">
              <a:defRPr sz="2100" b="0">
                <a:solidFill>
                  <a:srgbClr val="151515"/>
                </a:solidFill>
                <a:latin typeface="Arial"/>
                <a:ea typeface="Arial"/>
                <a:cs typeface="Arial"/>
              </a:defRPr>
            </a:lvl8pPr>
            <a:lvl9pPr algn="l">
              <a:defRPr sz="2100" b="0">
                <a:solidFill>
                  <a:srgbClr val="151515"/>
                </a:solidFill>
                <a:latin typeface="Arial"/>
                <a:ea typeface="Arial"/>
                <a:cs typeface="Arial"/>
              </a:defRPr>
            </a:lvl9pPr>
          </a:lstStyle>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Input: observed implied volatilities and their irregular coordinates.</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Output: a smooth implied-volatility estimate at the requested coordinates.</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This study uses one pretrained checkpoint with 102,529 parameters.</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The conformal layer leaves the GNO architecture and weights unchanged.</a:t>
            </a:r>
          </a:p>
        </p:txBody>
      </p:sp>
      <p:sp>
        <p:nvSpPr>
          <p:cNvPr id="4" name="Contribution: calibrated lower and upper surf">
            <a:extLst xmlns:a="http://schemas.openxmlformats.org/drawingml/2006/main">
              <a:ext uri="{FF2B5EF4-FFF2-40B4-BE49-F238E27FC236}">
                <a16:creationId xmlns:a16="http://schemas.microsoft.com/office/drawing/2014/main" id="{C44816EC-D551-419B-A5DC-8F1E403A0EB8}"/>
              </a:ext>
            </a:extLst>
          </p:cNvPr>
          <p:cNvSpPr>
            <a:spLocks xmlns:a="http://schemas.openxmlformats.org/drawingml/2006/main" noGrp="1"/>
          </p:cNvSpPr>
          <p:nvPr/>
        </p:nvSpPr>
        <p:spPr>
          <a:xfrm xmlns:a="http://schemas.openxmlformats.org/drawingml/2006/main">
            <a:off x="619125" y="5429250"/>
            <a:ext cx="1090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4776C9"/>
                </a:solidFill>
                <a:latin typeface="Arial"/>
                <a:ea typeface="Arial"/>
                <a:cs typeface="Arial"/>
              </a:defRPr>
            </a:defPPr>
            <a:lvl1pPr algn="l">
              <a:defRPr sz="2175" b="1">
                <a:solidFill>
                  <a:srgbClr val="4776C9"/>
                </a:solidFill>
                <a:latin typeface="Arial"/>
                <a:ea typeface="Arial"/>
                <a:cs typeface="Arial"/>
              </a:defRPr>
            </a:lvl1pPr>
            <a:lvl2pPr algn="l">
              <a:defRPr sz="2175" b="1">
                <a:solidFill>
                  <a:srgbClr val="4776C9"/>
                </a:solidFill>
                <a:latin typeface="Arial"/>
                <a:ea typeface="Arial"/>
                <a:cs typeface="Arial"/>
              </a:defRPr>
            </a:lvl2pPr>
            <a:lvl3pPr algn="l">
              <a:defRPr sz="2175" b="1">
                <a:solidFill>
                  <a:srgbClr val="4776C9"/>
                </a:solidFill>
                <a:latin typeface="Arial"/>
                <a:ea typeface="Arial"/>
                <a:cs typeface="Arial"/>
              </a:defRPr>
            </a:lvl3pPr>
            <a:lvl4pPr algn="l">
              <a:defRPr sz="2175" b="1">
                <a:solidFill>
                  <a:srgbClr val="4776C9"/>
                </a:solidFill>
                <a:latin typeface="Arial"/>
                <a:ea typeface="Arial"/>
                <a:cs typeface="Arial"/>
              </a:defRPr>
            </a:lvl4pPr>
            <a:lvl5pPr algn="l">
              <a:defRPr sz="2175" b="1">
                <a:solidFill>
                  <a:srgbClr val="4776C9"/>
                </a:solidFill>
                <a:latin typeface="Arial"/>
                <a:ea typeface="Arial"/>
                <a:cs typeface="Arial"/>
              </a:defRPr>
            </a:lvl5pPr>
            <a:lvl6pPr algn="l">
              <a:defRPr sz="2175" b="1">
                <a:solidFill>
                  <a:srgbClr val="4776C9"/>
                </a:solidFill>
                <a:latin typeface="Arial"/>
                <a:ea typeface="Arial"/>
                <a:cs typeface="Arial"/>
              </a:defRPr>
            </a:lvl6pPr>
            <a:lvl7pPr algn="l">
              <a:defRPr sz="2175" b="1">
                <a:solidFill>
                  <a:srgbClr val="4776C9"/>
                </a:solidFill>
                <a:latin typeface="Arial"/>
                <a:ea typeface="Arial"/>
                <a:cs typeface="Arial"/>
              </a:defRPr>
            </a:lvl7pPr>
            <a:lvl8pPr algn="l">
              <a:defRPr sz="2175" b="1">
                <a:solidFill>
                  <a:srgbClr val="4776C9"/>
                </a:solidFill>
                <a:latin typeface="Arial"/>
                <a:ea typeface="Arial"/>
                <a:cs typeface="Arial"/>
              </a:defRPr>
            </a:lvl8pPr>
            <a:lvl9pPr algn="l">
              <a:defRPr sz="2175" b="1">
                <a:solidFill>
                  <a:srgbClr val="4776C9"/>
                </a:solidFill>
                <a:latin typeface="Arial"/>
                <a:ea typeface="Arial"/>
                <a:cs typeface="Arial"/>
              </a:defRPr>
            </a:lvl9pPr>
          </a:lstStyle>
          <a:p xmlns:a="http://schemas.openxmlformats.org/drawingml/2006/main">
            <a:pPr algn="l">
              <a:defRPr sz="2175" b="1">
                <a:solidFill>
                  <a:srgbClr val="4776C9"/>
                </a:solidFill>
                <a:latin typeface="Arial"/>
                <a:ea typeface="Arial"/>
                <a:cs typeface="Arial"/>
              </a:defRPr>
            </a:pPr>
            <a:r>
              <a:rPr sz="2175" b="1">
                <a:solidFill>
                  <a:srgbClr val="4776C9"/>
                </a:solidFill>
                <a:latin typeface="Arial"/>
                <a:ea typeface="Arial"/>
                <a:cs typeface="Arial"/>
              </a:rPr>
              <a:t>Contribution: calibrated lower and upper surfaces around the existing predictor</a:t>
            </a:r>
          </a:p>
        </p:txBody>
      </p:sp>
      <p:sp>
        <p:nvSpPr>
          <p:cNvPr id="5" name="source-line">
            <a:extLst xmlns:a="http://schemas.openxmlformats.org/drawingml/2006/main">
              <a:ext uri="{FF2B5EF4-FFF2-40B4-BE49-F238E27FC236}">
                <a16:creationId xmlns:a16="http://schemas.microsoft.com/office/drawing/2014/main" id="{431CA158-EEA7-42D8-AC76-DEFB9614F5BD}"/>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Gonon et al. (2024), thesis §§4.1 and 5.1</a:t>
            </a:r>
          </a:p>
        </p:txBody>
      </p:sp>
      <p:sp>
        <p:nvSpPr>
          <p:cNvPr id="6" name="slide-number">
            <a:extLst xmlns:a="http://schemas.openxmlformats.org/drawingml/2006/main">
              <a:ext uri="{FF2B5EF4-FFF2-40B4-BE49-F238E27FC236}">
                <a16:creationId xmlns:a16="http://schemas.microsoft.com/office/drawing/2014/main" id="{E82ACAD5-50B7-402F-B847-1D2DEB34D7F9}"/>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6</a:t>
            </a:r>
          </a:p>
        </p:txBody>
      </p:sp>
    </p:spTree>
    <p:extLst>
      <p:ext uri="{BB962C8B-B14F-4D97-AF65-F5344CB8AC3E}">
        <p14:creationId xmlns:p14="http://schemas.microsoft.com/office/powerpoint/2010/main" val="17305605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1B1359D-FD89-4F83-A44C-0231F96AF84B}"/>
              </a:ext>
            </a:extLst>
          </p:cNvPr>
          <p:cNvPicPr>
            <a:picLocks xmlns:a="http://schemas.openxmlformats.org/drawingml/2006/main" noChangeAspect="1"/>
          </p:cNvPicPr>
          <p:nvPr/>
        </p:nvPicPr>
        <p:blipFill>
          <a:blip xmlns:r="http://schemas.openxmlformats.org/officeDocument/2006/relationships" xmlns:a="http://schemas.openxmlformats.org/drawingml/2006/main" r:embed="R20b5621543964406"/>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81CCB333-5039-49F3-A38C-07A3CE744523}"/>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Conformal prediction calibrates errors</a:t>
            </a:r>
          </a:p>
        </p:txBody>
      </p:sp>
      <p:sp>
        <p:nvSpPr>
          <p:cNvPr id="3" name="">
            <a:extLst xmlns:a="http://schemas.openxmlformats.org/drawingml/2006/main">
              <a:ext uri="{FF2B5EF4-FFF2-40B4-BE49-F238E27FC236}">
                <a16:creationId xmlns:a16="http://schemas.microsoft.com/office/drawing/2014/main" id="{EA0C56A2-44D7-4FFE-BD1B-8F95D94CF94B}"/>
              </a:ext>
            </a:extLst>
          </p:cNvPr>
          <p:cNvSpPr>
            <a:spLocks xmlns:a="http://schemas.openxmlformats.org/drawingml/2006/main" noGrp="1"/>
          </p:cNvSpPr>
          <p:nvPr/>
        </p:nvSpPr>
        <p:spPr>
          <a:xfrm xmlns:a="http://schemas.openxmlformats.org/drawingml/2006/main">
            <a:off x="523875" y="1619250"/>
            <a:ext cx="110490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51515"/>
                </a:solidFill>
                <a:latin typeface="Arial"/>
                <a:ea typeface="Arial"/>
                <a:cs typeface="Arial"/>
              </a:defRPr>
            </a:defPPr>
            <a:lvl1pPr algn="l">
              <a:defRPr sz="2100" b="0">
                <a:solidFill>
                  <a:srgbClr val="151515"/>
                </a:solidFill>
                <a:latin typeface="Arial"/>
                <a:ea typeface="Arial"/>
                <a:cs typeface="Arial"/>
              </a:defRPr>
            </a:lvl1pPr>
            <a:lvl2pPr algn="l">
              <a:defRPr sz="2100" b="0">
                <a:solidFill>
                  <a:srgbClr val="151515"/>
                </a:solidFill>
                <a:latin typeface="Arial"/>
                <a:ea typeface="Arial"/>
                <a:cs typeface="Arial"/>
              </a:defRPr>
            </a:lvl2pPr>
            <a:lvl3pPr algn="l">
              <a:defRPr sz="2100" b="0">
                <a:solidFill>
                  <a:srgbClr val="151515"/>
                </a:solidFill>
                <a:latin typeface="Arial"/>
                <a:ea typeface="Arial"/>
                <a:cs typeface="Arial"/>
              </a:defRPr>
            </a:lvl3pPr>
            <a:lvl4pPr algn="l">
              <a:defRPr sz="2100" b="0">
                <a:solidFill>
                  <a:srgbClr val="151515"/>
                </a:solidFill>
                <a:latin typeface="Arial"/>
                <a:ea typeface="Arial"/>
                <a:cs typeface="Arial"/>
              </a:defRPr>
            </a:lvl4pPr>
            <a:lvl5pPr algn="l">
              <a:defRPr sz="2100" b="0">
                <a:solidFill>
                  <a:srgbClr val="151515"/>
                </a:solidFill>
                <a:latin typeface="Arial"/>
                <a:ea typeface="Arial"/>
                <a:cs typeface="Arial"/>
              </a:defRPr>
            </a:lvl5pPr>
            <a:lvl6pPr algn="l">
              <a:defRPr sz="2100" b="0">
                <a:solidFill>
                  <a:srgbClr val="151515"/>
                </a:solidFill>
                <a:latin typeface="Arial"/>
                <a:ea typeface="Arial"/>
                <a:cs typeface="Arial"/>
              </a:defRPr>
            </a:lvl6pPr>
            <a:lvl7pPr algn="l">
              <a:defRPr sz="2100" b="0">
                <a:solidFill>
                  <a:srgbClr val="151515"/>
                </a:solidFill>
                <a:latin typeface="Arial"/>
                <a:ea typeface="Arial"/>
                <a:cs typeface="Arial"/>
              </a:defRPr>
            </a:lvl7pPr>
            <a:lvl8pPr algn="l">
              <a:defRPr sz="2100" b="0">
                <a:solidFill>
                  <a:srgbClr val="151515"/>
                </a:solidFill>
                <a:latin typeface="Arial"/>
                <a:ea typeface="Arial"/>
                <a:cs typeface="Arial"/>
              </a:defRPr>
            </a:lvl8pPr>
            <a:lvl9pPr algn="l">
              <a:defRPr sz="2100" b="0">
                <a:solidFill>
                  <a:srgbClr val="151515"/>
                </a:solidFill>
                <a:latin typeface="Arial"/>
                <a:ea typeface="Arial"/>
                <a:cs typeface="Arial"/>
              </a:defRPr>
            </a:lvl9pPr>
          </a:lstStyle>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Measure prediction errors on withheld observations with a chosen score.</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Use a calibration quantile to turn new point estimates into prediction bands.</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The standard marginal coverage guarantee requires exchangeable scores.</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The rolling, spatially regularised and projected pipeline is evaluated empirically.</a:t>
            </a:r>
          </a:p>
        </p:txBody>
      </p:sp>
      <p:sp>
        <p:nvSpPr>
          <p:cNvPr id="4" name="Nominal target: 90% coverage at held-out quot">
            <a:extLst xmlns:a="http://schemas.openxmlformats.org/drawingml/2006/main">
              <a:ext uri="{FF2B5EF4-FFF2-40B4-BE49-F238E27FC236}">
                <a16:creationId xmlns:a16="http://schemas.microsoft.com/office/drawing/2014/main" id="{5BA1BE96-2748-403A-9F38-CA68CCF0FCB7}"/>
              </a:ext>
            </a:extLst>
          </p:cNvPr>
          <p:cNvSpPr>
            <a:spLocks xmlns:a="http://schemas.openxmlformats.org/drawingml/2006/main" noGrp="1"/>
          </p:cNvSpPr>
          <p:nvPr/>
        </p:nvSpPr>
        <p:spPr>
          <a:xfrm xmlns:a="http://schemas.openxmlformats.org/drawingml/2006/main">
            <a:off x="619125" y="55816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4776C9"/>
                </a:solidFill>
                <a:latin typeface="Arial"/>
                <a:ea typeface="Arial"/>
                <a:cs typeface="Arial"/>
              </a:defRPr>
            </a:defPPr>
            <a:lvl1pPr algn="l">
              <a:defRPr sz="2250" b="1">
                <a:solidFill>
                  <a:srgbClr val="4776C9"/>
                </a:solidFill>
                <a:latin typeface="Arial"/>
                <a:ea typeface="Arial"/>
                <a:cs typeface="Arial"/>
              </a:defRPr>
            </a:lvl1pPr>
            <a:lvl2pPr algn="l">
              <a:defRPr sz="2250" b="1">
                <a:solidFill>
                  <a:srgbClr val="4776C9"/>
                </a:solidFill>
                <a:latin typeface="Arial"/>
                <a:ea typeface="Arial"/>
                <a:cs typeface="Arial"/>
              </a:defRPr>
            </a:lvl2pPr>
            <a:lvl3pPr algn="l">
              <a:defRPr sz="2250" b="1">
                <a:solidFill>
                  <a:srgbClr val="4776C9"/>
                </a:solidFill>
                <a:latin typeface="Arial"/>
                <a:ea typeface="Arial"/>
                <a:cs typeface="Arial"/>
              </a:defRPr>
            </a:lvl3pPr>
            <a:lvl4pPr algn="l">
              <a:defRPr sz="2250" b="1">
                <a:solidFill>
                  <a:srgbClr val="4776C9"/>
                </a:solidFill>
                <a:latin typeface="Arial"/>
                <a:ea typeface="Arial"/>
                <a:cs typeface="Arial"/>
              </a:defRPr>
            </a:lvl4pPr>
            <a:lvl5pPr algn="l">
              <a:defRPr sz="2250" b="1">
                <a:solidFill>
                  <a:srgbClr val="4776C9"/>
                </a:solidFill>
                <a:latin typeface="Arial"/>
                <a:ea typeface="Arial"/>
                <a:cs typeface="Arial"/>
              </a:defRPr>
            </a:lvl5pPr>
            <a:lvl6pPr algn="l">
              <a:defRPr sz="2250" b="1">
                <a:solidFill>
                  <a:srgbClr val="4776C9"/>
                </a:solidFill>
                <a:latin typeface="Arial"/>
                <a:ea typeface="Arial"/>
                <a:cs typeface="Arial"/>
              </a:defRPr>
            </a:lvl6pPr>
            <a:lvl7pPr algn="l">
              <a:defRPr sz="2250" b="1">
                <a:solidFill>
                  <a:srgbClr val="4776C9"/>
                </a:solidFill>
                <a:latin typeface="Arial"/>
                <a:ea typeface="Arial"/>
                <a:cs typeface="Arial"/>
              </a:defRPr>
            </a:lvl7pPr>
            <a:lvl8pPr algn="l">
              <a:defRPr sz="2250" b="1">
                <a:solidFill>
                  <a:srgbClr val="4776C9"/>
                </a:solidFill>
                <a:latin typeface="Arial"/>
                <a:ea typeface="Arial"/>
                <a:cs typeface="Arial"/>
              </a:defRPr>
            </a:lvl8pPr>
            <a:lvl9pPr algn="l">
              <a:defRPr sz="2250" b="1">
                <a:solidFill>
                  <a:srgbClr val="4776C9"/>
                </a:solidFill>
                <a:latin typeface="Arial"/>
                <a:ea typeface="Arial"/>
                <a:cs typeface="Arial"/>
              </a:defRPr>
            </a:lvl9pPr>
          </a:lstStyle>
          <a:p xmlns:a="http://schemas.openxmlformats.org/drawingml/2006/main">
            <a:pPr algn="l">
              <a:defRPr sz="2250" b="1">
                <a:solidFill>
                  <a:srgbClr val="4776C9"/>
                </a:solidFill>
                <a:latin typeface="Arial"/>
                <a:ea typeface="Arial"/>
                <a:cs typeface="Arial"/>
              </a:defRPr>
            </a:pPr>
            <a:r>
              <a:rPr sz="2250" b="1">
                <a:solidFill>
                  <a:srgbClr val="4776C9"/>
                </a:solidFill>
                <a:latin typeface="Arial"/>
                <a:ea typeface="Arial"/>
                <a:cs typeface="Arial"/>
              </a:rPr>
              <a:t>Nominal target: 90% coverage at held-out quote locations</a:t>
            </a:r>
          </a:p>
        </p:txBody>
      </p:sp>
      <p:sp>
        <p:nvSpPr>
          <p:cNvPr id="5" name="source-line">
            <a:extLst xmlns:a="http://schemas.openxmlformats.org/drawingml/2006/main">
              <a:ext uri="{FF2B5EF4-FFF2-40B4-BE49-F238E27FC236}">
                <a16:creationId xmlns:a16="http://schemas.microsoft.com/office/drawing/2014/main" id="{B439599E-96E1-48FB-83CA-C76AB0DA3867}"/>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Angelopoulos and Bates, Barber et al. (2023), thesis §3.3</a:t>
            </a:r>
          </a:p>
        </p:txBody>
      </p:sp>
      <p:sp>
        <p:nvSpPr>
          <p:cNvPr id="6" name="slide-number">
            <a:extLst xmlns:a="http://schemas.openxmlformats.org/drawingml/2006/main">
              <a:ext uri="{FF2B5EF4-FFF2-40B4-BE49-F238E27FC236}">
                <a16:creationId xmlns:a16="http://schemas.microsoft.com/office/drawing/2014/main" id="{65B977C5-EFDB-406B-9711-38A7DD1342BE}"/>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7</a:t>
            </a:r>
          </a:p>
        </p:txBody>
      </p:sp>
    </p:spTree>
    <p:extLst>
      <p:ext uri="{BB962C8B-B14F-4D97-AF65-F5344CB8AC3E}">
        <p14:creationId xmlns:p14="http://schemas.microsoft.com/office/powerpoint/2010/main" val="11896441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E78E2C1-50A7-4748-B368-5DDBA1A5EEA7}"/>
              </a:ext>
            </a:extLst>
          </p:cNvPr>
          <p:cNvPicPr>
            <a:picLocks xmlns:a="http://schemas.openxmlformats.org/drawingml/2006/main" noChangeAspect="1"/>
          </p:cNvPicPr>
          <p:nvPr/>
        </p:nvPicPr>
        <p:blipFill>
          <a:blip xmlns:r="http://schemas.openxmlformats.org/officeDocument/2006/relationships" xmlns:a="http://schemas.openxmlformats.org/drawingml/2006/main" r:embed="Raaa63bbc824441ea"/>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C69200B6-BF31-4E10-9DFB-DC9DBDA67357}"/>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SPX data and chronological split</a:t>
            </a:r>
          </a:p>
        </p:txBody>
      </p:sp>
      <p:sp>
        <p:nvSpPr>
          <p:cNvPr id="3" name="">
            <a:extLst xmlns:a="http://schemas.openxmlformats.org/drawingml/2006/main">
              <a:ext uri="{FF2B5EF4-FFF2-40B4-BE49-F238E27FC236}">
                <a16:creationId xmlns:a16="http://schemas.microsoft.com/office/drawing/2014/main" id="{495DDC56-B375-4A29-B08D-F537A84A194E}"/>
              </a:ext>
            </a:extLst>
          </p:cNvPr>
          <p:cNvSpPr>
            <a:spLocks xmlns:a="http://schemas.openxmlformats.org/drawingml/2006/main" noGrp="1"/>
          </p:cNvSpPr>
          <p:nvPr/>
        </p:nvSpPr>
        <p:spPr>
          <a:xfrm xmlns:a="http://schemas.openxmlformats.org/drawingml/2006/main">
            <a:off x="523875" y="1552575"/>
            <a:ext cx="1104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marL="317500" indent="-165100" algn="l">
              <a:spcAft>
                <a:spcPts val="1200"/>
              </a:spcAft>
              <a:buChar char="•"/>
              <a:defRPr sz="2025" b="0">
                <a:solidFill>
                  <a:srgbClr val="151515"/>
                </a:solidFill>
                <a:latin typeface="Arial"/>
                <a:ea typeface="Arial"/>
                <a:cs typeface="Arial"/>
              </a:defRPr>
            </a:pPr>
            <a:r>
              <a:rPr sz="2025">
                <a:solidFill>
                  <a:srgbClr val="151515"/>
                </a:solidFill>
                <a:latin typeface="Arial"/>
                <a:ea typeface="Arial"/>
                <a:cs typeface="Arial"/>
              </a:rPr>
              <a:t>OpenBB option chains using its Cboe provider, stored in CSV files.</a:t>
            </a:r>
          </a:p>
          <a:p xmlns:a="http://schemas.openxmlformats.org/drawingml/2006/main">
            <a:pPr marL="317500" indent="-165100" algn="l">
              <a:spcAft>
                <a:spcPts val="1200"/>
              </a:spcAft>
              <a:buChar char="•"/>
              <a:defRPr sz="2025" b="0">
                <a:solidFill>
                  <a:srgbClr val="151515"/>
                </a:solidFill>
                <a:latin typeface="Arial"/>
                <a:ea typeface="Arial"/>
                <a:cs typeface="Arial"/>
              </a:defRPr>
            </a:pPr>
            <a:r>
              <a:rPr sz="2025">
                <a:solidFill>
                  <a:srgbClr val="151515"/>
                </a:solidFill>
                <a:latin typeface="Arial"/>
                <a:ea typeface="Arial"/>
                <a:cs typeface="Arial"/>
              </a:rPr>
              <a:t>56 stored snapshots, with 10 non-regular-session date labels excluded.</a:t>
            </a:r>
          </a:p>
        </p:txBody>
      </p:sp>
      <p:graphicFrame>
        <p:nvGraphicFramePr>
          <p:cNvPr id="4" name="">
            <a:extLst xmlns:a="http://schemas.openxmlformats.org/drawingml/2006/main">
              <a:ext uri="{FF2B5EF4-FFF2-40B4-BE49-F238E27FC236}">
                <a16:creationId xmlns:a16="http://schemas.microsoft.com/office/drawing/2014/main" id="{842CF623-7E6A-45F3-BFB3-1E7FD464CFA9}"/>
              </a:ext>
            </a:extLst>
          </p:cNvPr>
          <p:cNvGraphicFramePr/>
          <p:nvPr/>
        </p:nvGraphicFramePr>
        <p:xfrm>
          <a:off xmlns:a="http://schemas.openxmlformats.org/drawingml/2006/main" x="523875" y="3238500"/>
          <a:ext xmlns:a="http://schemas.openxmlformats.org/drawingml/2006/main" cx="11049000" cy="2333625"/>
        </p:xfrm>
        <a:graphic xmlns:a="http://schemas.openxmlformats.org/drawingml/2006/main">
          <a:graphicData uri="http://schemas.openxmlformats.org/drawingml/2006/table">
            <a:tbl>
              <a:tblPr firstRow="0" bandRow="0"/>
              <a:tblGrid>
                <a:gridCol w="4095750"/>
                <a:gridCol w="1619250"/>
                <a:gridCol w="5334000"/>
              </a:tblGrid>
              <a:tr h="583406">
                <a:tc>
                  <a:txBody>
                    <a:bodyPr lIns="95250" tIns="95250" rIns="95250" bIns="95250">
                      <a:noAutofit/>
                    </a:bodyPr>
                    <a:lstStyle/>
                    <a:p>
                      <a:pPr algn="l"/>
                      <a:r>
                        <a:rPr sz="1875" b="1">
                          <a:solidFill>
                            <a:srgbClr val="4776C9"/>
                          </a:solidFill>
                          <a:latin typeface="Arial"/>
                          <a:ea typeface="Arial"/>
                          <a:cs typeface="Arial"/>
                        </a:rPr>
                        <a:t>Retained sample</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Surfaces</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Collection dates</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r>
              <a:tr h="583406">
                <a:tc>
                  <a:txBody>
                    <a:bodyPr lIns="95250" tIns="95250" rIns="95250" bIns="95250">
                      <a:noAutofit/>
                    </a:bodyPr>
                    <a:lstStyle/>
                    <a:p>
                      <a:pPr algn="l"/>
                      <a:r>
                        <a:rPr sz="1875" b="0">
                          <a:solidFill>
                            <a:srgbClr val="151515"/>
                          </a:solidFill>
                          <a:latin typeface="Arial"/>
                          <a:ea typeface="Arial"/>
                          <a:cs typeface="Arial"/>
                        </a:rPr>
                        <a:t>Initial calibration</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15</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11 Dec 2025 to 17 Feb 2026</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83406">
                <a:tc>
                  <a:txBody>
                    <a:bodyPr lIns="95250" tIns="95250" rIns="95250" bIns="95250">
                      <a:noAutofit/>
                    </a:bodyPr>
                    <a:lstStyle/>
                    <a:p>
                      <a:pPr algn="l"/>
                      <a:r>
                        <a:rPr sz="1875" b="0">
                          <a:solidFill>
                            <a:srgbClr val="151515"/>
                          </a:solidFill>
                          <a:latin typeface="Arial"/>
                          <a:ea typeface="Arial"/>
                          <a:cs typeface="Arial"/>
                        </a:rPr>
                        <a:t>Walk-forward evaluation</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31</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3 Mar to 11 Aug 2026</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83406">
                <a:tc>
                  <a:txBody>
                    <a:bodyPr lIns="95250" tIns="95250" rIns="95250" bIns="95250">
                      <a:noAutofit/>
                    </a:bodyPr>
                    <a:lstStyle/>
                    <a:p>
                      <a:pPr algn="l"/>
                      <a:r>
                        <a:rPr sz="1875" b="0">
                          <a:solidFill>
                            <a:srgbClr val="151515"/>
                          </a:solidFill>
                          <a:latin typeface="Arial"/>
                          <a:ea typeface="Arial"/>
                          <a:cs typeface="Arial"/>
                        </a:rPr>
                        <a:t>Total retained</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46</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11 Dec 2025 to 11 Aug 2026</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5" name="Dates identify collection days. Intraday quot">
            <a:extLst xmlns:a="http://schemas.openxmlformats.org/drawingml/2006/main">
              <a:ext uri="{FF2B5EF4-FFF2-40B4-BE49-F238E27FC236}">
                <a16:creationId xmlns:a16="http://schemas.microsoft.com/office/drawing/2014/main" id="{57251A45-CC5D-42F7-88F2-D504263941BA}"/>
              </a:ext>
            </a:extLst>
          </p:cNvPr>
          <p:cNvSpPr>
            <a:spLocks xmlns:a="http://schemas.openxmlformats.org/drawingml/2006/main" noGrp="1"/>
          </p:cNvSpPr>
          <p:nvPr/>
        </p:nvSpPr>
        <p:spPr>
          <a:xfrm xmlns:a="http://schemas.openxmlformats.org/drawingml/2006/main">
            <a:off x="571500" y="59055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05050"/>
                </a:solidFill>
                <a:latin typeface="Arial"/>
                <a:ea typeface="Arial"/>
                <a:cs typeface="Arial"/>
              </a:defRPr>
            </a:defPPr>
            <a:lvl1pPr algn="l">
              <a:defRPr sz="1725" b="0">
                <a:solidFill>
                  <a:srgbClr val="505050"/>
                </a:solidFill>
                <a:latin typeface="Arial"/>
                <a:ea typeface="Arial"/>
                <a:cs typeface="Arial"/>
              </a:defRPr>
            </a:lvl1pPr>
            <a:lvl2pPr algn="l">
              <a:defRPr sz="1725" b="0">
                <a:solidFill>
                  <a:srgbClr val="505050"/>
                </a:solidFill>
                <a:latin typeface="Arial"/>
                <a:ea typeface="Arial"/>
                <a:cs typeface="Arial"/>
              </a:defRPr>
            </a:lvl2pPr>
            <a:lvl3pPr algn="l">
              <a:defRPr sz="1725" b="0">
                <a:solidFill>
                  <a:srgbClr val="505050"/>
                </a:solidFill>
                <a:latin typeface="Arial"/>
                <a:ea typeface="Arial"/>
                <a:cs typeface="Arial"/>
              </a:defRPr>
            </a:lvl3pPr>
            <a:lvl4pPr algn="l">
              <a:defRPr sz="1725" b="0">
                <a:solidFill>
                  <a:srgbClr val="505050"/>
                </a:solidFill>
                <a:latin typeface="Arial"/>
                <a:ea typeface="Arial"/>
                <a:cs typeface="Arial"/>
              </a:defRPr>
            </a:lvl4pPr>
            <a:lvl5pPr algn="l">
              <a:defRPr sz="1725" b="0">
                <a:solidFill>
                  <a:srgbClr val="505050"/>
                </a:solidFill>
                <a:latin typeface="Arial"/>
                <a:ea typeface="Arial"/>
                <a:cs typeface="Arial"/>
              </a:defRPr>
            </a:lvl5pPr>
            <a:lvl6pPr algn="l">
              <a:defRPr sz="1725" b="0">
                <a:solidFill>
                  <a:srgbClr val="505050"/>
                </a:solidFill>
                <a:latin typeface="Arial"/>
                <a:ea typeface="Arial"/>
                <a:cs typeface="Arial"/>
              </a:defRPr>
            </a:lvl6pPr>
            <a:lvl7pPr algn="l">
              <a:defRPr sz="1725" b="0">
                <a:solidFill>
                  <a:srgbClr val="505050"/>
                </a:solidFill>
                <a:latin typeface="Arial"/>
                <a:ea typeface="Arial"/>
                <a:cs typeface="Arial"/>
              </a:defRPr>
            </a:lvl7pPr>
            <a:lvl8pPr algn="l">
              <a:defRPr sz="1725" b="0">
                <a:solidFill>
                  <a:srgbClr val="505050"/>
                </a:solidFill>
                <a:latin typeface="Arial"/>
                <a:ea typeface="Arial"/>
                <a:cs typeface="Arial"/>
              </a:defRPr>
            </a:lvl8pPr>
            <a:lvl9pPr algn="l">
              <a:defRPr sz="1725" b="0">
                <a:solidFill>
                  <a:srgbClr val="505050"/>
                </a:solidFill>
                <a:latin typeface="Arial"/>
                <a:ea typeface="Arial"/>
                <a:cs typeface="Arial"/>
              </a:defRPr>
            </a:lvl9pPr>
          </a:lstStyle>
          <a:p xmlns:a="http://schemas.openxmlformats.org/drawingml/2006/main">
            <a:pPr algn="l">
              <a:defRPr sz="1725" b="0">
                <a:solidFill>
                  <a:srgbClr val="505050"/>
                </a:solidFill>
                <a:latin typeface="Arial"/>
                <a:ea typeface="Arial"/>
                <a:cs typeface="Arial"/>
              </a:defRPr>
            </a:pPr>
            <a:r>
              <a:rPr sz="1725" b="0">
                <a:solidFill>
                  <a:srgbClr val="505050"/>
                </a:solidFill>
                <a:latin typeface="Arial"/>
                <a:ea typeface="Arial"/>
                <a:cs typeface="Arial"/>
              </a:rPr>
              <a:t>Dates identify collection days. Intraday quote and settlement times are unavailable.</a:t>
            </a:r>
          </a:p>
        </p:txBody>
      </p:sp>
      <p:sp>
        <p:nvSpPr>
          <p:cNvPr id="6" name="source-line">
            <a:extLst xmlns:a="http://schemas.openxmlformats.org/drawingml/2006/main">
              <a:ext uri="{FF2B5EF4-FFF2-40B4-BE49-F238E27FC236}">
                <a16:creationId xmlns:a16="http://schemas.microsoft.com/office/drawing/2014/main" id="{53280B12-346F-4F64-BB6C-C5CD2399BEE1}"/>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thesis §4.7, notebook cells 10 and 13</a:t>
            </a:r>
          </a:p>
        </p:txBody>
      </p:sp>
      <p:sp>
        <p:nvSpPr>
          <p:cNvPr id="7" name="slide-number">
            <a:extLst xmlns:a="http://schemas.openxmlformats.org/drawingml/2006/main">
              <a:ext uri="{FF2B5EF4-FFF2-40B4-BE49-F238E27FC236}">
                <a16:creationId xmlns:a16="http://schemas.microsoft.com/office/drawing/2014/main" id="{5D760641-D6EA-4F6F-A180-ACA30BC3D48C}"/>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8</a:t>
            </a:r>
          </a:p>
        </p:txBody>
      </p:sp>
    </p:spTree>
    <p:extLst>
      <p:ext uri="{BB962C8B-B14F-4D97-AF65-F5344CB8AC3E}">
        <p14:creationId xmlns:p14="http://schemas.microsoft.com/office/powerpoint/2010/main" val="2751942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78F3EF9-0BF6-43B3-B360-095B1BBBA7A3}"/>
              </a:ext>
            </a:extLst>
          </p:cNvPr>
          <p:cNvPicPr>
            <a:picLocks xmlns:a="http://schemas.openxmlformats.org/drawingml/2006/main" noChangeAspect="1"/>
          </p:cNvPicPr>
          <p:nvPr/>
        </p:nvPicPr>
        <p:blipFill>
          <a:blip xmlns:r="http://schemas.openxmlformats.org/officeDocument/2006/relationships" xmlns:a="http://schemas.openxmlformats.org/drawingml/2006/main" r:embed="Ra72ce5762ebf4027"/>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A76703EC-0878-4A10-8E30-C33413AC1808}"/>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Evaluation uses held-out quotes</a:t>
            </a:r>
          </a:p>
        </p:txBody>
      </p:sp>
      <p:sp>
        <p:nvSpPr>
          <p:cNvPr id="3" name="">
            <a:extLst xmlns:a="http://schemas.openxmlformats.org/drawingml/2006/main">
              <a:ext uri="{FF2B5EF4-FFF2-40B4-BE49-F238E27FC236}">
                <a16:creationId xmlns:a16="http://schemas.microsoft.com/office/drawing/2014/main" id="{7AEF9D57-CA57-4D12-8F9B-46323FDC9F82}"/>
              </a:ext>
            </a:extLst>
          </p:cNvPr>
          <p:cNvSpPr>
            <a:spLocks xmlns:a="http://schemas.openxmlformats.org/drawingml/2006/main" noGrp="1"/>
          </p:cNvSpPr>
          <p:nvPr/>
        </p:nvSpPr>
        <p:spPr>
          <a:xfrm xmlns:a="http://schemas.openxmlformats.org/drawingml/2006/main">
            <a:off x="523875" y="1619250"/>
            <a:ext cx="11049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marL="317500" indent="-165100" algn="l">
              <a:spcAft>
                <a:spcPts val="1400"/>
              </a:spcAft>
              <a:buChar char="•"/>
              <a:defRPr sz="2025" b="0">
                <a:solidFill>
                  <a:srgbClr val="151515"/>
                </a:solidFill>
                <a:latin typeface="Arial"/>
                <a:ea typeface="Arial"/>
                <a:cs typeface="Arial"/>
              </a:defRPr>
            </a:pPr>
            <a:r>
              <a:rPr sz="2025">
                <a:solidFill>
                  <a:srgbClr val="151515"/>
                </a:solidFill>
                <a:latin typeface="Arial"/>
                <a:ea typeface="Arial"/>
                <a:cs typeface="Arial"/>
              </a:rPr>
              <a:t>Within each surface, an approximately 80% context and 20% target split uses coordinate bins.</a:t>
            </a:r>
          </a:p>
          <a:p xmlns:a="http://schemas.openxmlformats.org/drawingml/2006/main">
            <a:pPr marL="317500" indent="-165100" algn="l">
              <a:spcAft>
                <a:spcPts val="1400"/>
              </a:spcAft>
              <a:buChar char="•"/>
              <a:defRPr sz="2025" b="0">
                <a:solidFill>
                  <a:srgbClr val="151515"/>
                </a:solidFill>
                <a:latin typeface="Arial"/>
                <a:ea typeface="Arial"/>
                <a:cs typeface="Arial"/>
              </a:defRPr>
            </a:pPr>
            <a:r>
              <a:rPr sz="2025">
                <a:solidFill>
                  <a:srgbClr val="151515"/>
                </a:solidFill>
                <a:latin typeface="Arial"/>
                <a:ea typeface="Arial"/>
                <a:cs typeface="Arial"/>
              </a:rPr>
              <a:t>The GNO receives context IVs and target coordinates. Target IVs remain hidden during prediction.</a:t>
            </a:r>
          </a:p>
          <a:p xmlns:a="http://schemas.openxmlformats.org/drawingml/2006/main">
            <a:pPr marL="317500" indent="-165100" algn="l">
              <a:spcAft>
                <a:spcPts val="1400"/>
              </a:spcAft>
              <a:buChar char="•"/>
              <a:defRPr sz="2025" b="0">
                <a:solidFill>
                  <a:srgbClr val="151515"/>
                </a:solidFill>
                <a:latin typeface="Arial"/>
                <a:ea typeface="Arial"/>
                <a:cs typeface="Arial"/>
              </a:defRPr>
            </a:pPr>
            <a:r>
              <a:rPr sz="2025">
                <a:solidFill>
                  <a:srgbClr val="151515"/>
                </a:solidFill>
                <a:latin typeface="Arial"/>
                <a:ea typeface="Arial"/>
                <a:cs typeface="Arial"/>
              </a:rPr>
              <a:t>Both scores use the same fixed masks, point predictions and evaluation sequence.</a:t>
            </a:r>
          </a:p>
          <a:p xmlns:a="http://schemas.openxmlformats.org/drawingml/2006/main">
            <a:pPr marL="317500" indent="-165100" algn="l">
              <a:spcAft>
                <a:spcPts val="1400"/>
              </a:spcAft>
              <a:buChar char="•"/>
              <a:defRPr sz="2025" b="0">
                <a:solidFill>
                  <a:srgbClr val="151515"/>
                </a:solidFill>
                <a:latin typeface="Arial"/>
                <a:ea typeface="Arial"/>
                <a:cs typeface="Arial"/>
              </a:defRPr>
            </a:pPr>
            <a:r>
              <a:rPr sz="2025">
                <a:solidFill>
                  <a:srgbClr val="151515"/>
                </a:solidFill>
                <a:latin typeface="Arial"/>
                <a:ea typeface="Arial"/>
                <a:cs typeface="Arial"/>
              </a:rPr>
              <a:t>Each current surface enters the calibration window after its evaluation.</a:t>
            </a:r>
          </a:p>
        </p:txBody>
      </p:sp>
      <p:sp>
        <p:nvSpPr>
          <p:cNvPr id="4" name="31 evaluation surfaces contain 65,791 held-ou">
            <a:extLst xmlns:a="http://schemas.openxmlformats.org/drawingml/2006/main">
              <a:ext uri="{FF2B5EF4-FFF2-40B4-BE49-F238E27FC236}">
                <a16:creationId xmlns:a16="http://schemas.microsoft.com/office/drawing/2014/main" id="{4DE7BF8D-82C5-409D-B2C7-2C74CFDDEA29}"/>
              </a:ext>
            </a:extLst>
          </p:cNvPr>
          <p:cNvSpPr>
            <a:spLocks xmlns:a="http://schemas.openxmlformats.org/drawingml/2006/main" noGrp="1"/>
          </p:cNvSpPr>
          <p:nvPr/>
        </p:nvSpPr>
        <p:spPr>
          <a:xfrm xmlns:a="http://schemas.openxmlformats.org/drawingml/2006/main">
            <a:off x="619125" y="57245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4776C9"/>
                </a:solidFill>
                <a:latin typeface="Arial"/>
                <a:ea typeface="Arial"/>
                <a:cs typeface="Arial"/>
              </a:defRPr>
            </a:defPPr>
            <a:lvl1pPr algn="l">
              <a:defRPr sz="2250" b="1">
                <a:solidFill>
                  <a:srgbClr val="4776C9"/>
                </a:solidFill>
                <a:latin typeface="Arial"/>
                <a:ea typeface="Arial"/>
                <a:cs typeface="Arial"/>
              </a:defRPr>
            </a:lvl1pPr>
            <a:lvl2pPr algn="l">
              <a:defRPr sz="2250" b="1">
                <a:solidFill>
                  <a:srgbClr val="4776C9"/>
                </a:solidFill>
                <a:latin typeface="Arial"/>
                <a:ea typeface="Arial"/>
                <a:cs typeface="Arial"/>
              </a:defRPr>
            </a:lvl2pPr>
            <a:lvl3pPr algn="l">
              <a:defRPr sz="2250" b="1">
                <a:solidFill>
                  <a:srgbClr val="4776C9"/>
                </a:solidFill>
                <a:latin typeface="Arial"/>
                <a:ea typeface="Arial"/>
                <a:cs typeface="Arial"/>
              </a:defRPr>
            </a:lvl3pPr>
            <a:lvl4pPr algn="l">
              <a:defRPr sz="2250" b="1">
                <a:solidFill>
                  <a:srgbClr val="4776C9"/>
                </a:solidFill>
                <a:latin typeface="Arial"/>
                <a:ea typeface="Arial"/>
                <a:cs typeface="Arial"/>
              </a:defRPr>
            </a:lvl4pPr>
            <a:lvl5pPr algn="l">
              <a:defRPr sz="2250" b="1">
                <a:solidFill>
                  <a:srgbClr val="4776C9"/>
                </a:solidFill>
                <a:latin typeface="Arial"/>
                <a:ea typeface="Arial"/>
                <a:cs typeface="Arial"/>
              </a:defRPr>
            </a:lvl5pPr>
            <a:lvl6pPr algn="l">
              <a:defRPr sz="2250" b="1">
                <a:solidFill>
                  <a:srgbClr val="4776C9"/>
                </a:solidFill>
                <a:latin typeface="Arial"/>
                <a:ea typeface="Arial"/>
                <a:cs typeface="Arial"/>
              </a:defRPr>
            </a:lvl6pPr>
            <a:lvl7pPr algn="l">
              <a:defRPr sz="2250" b="1">
                <a:solidFill>
                  <a:srgbClr val="4776C9"/>
                </a:solidFill>
                <a:latin typeface="Arial"/>
                <a:ea typeface="Arial"/>
                <a:cs typeface="Arial"/>
              </a:defRPr>
            </a:lvl7pPr>
            <a:lvl8pPr algn="l">
              <a:defRPr sz="2250" b="1">
                <a:solidFill>
                  <a:srgbClr val="4776C9"/>
                </a:solidFill>
                <a:latin typeface="Arial"/>
                <a:ea typeface="Arial"/>
                <a:cs typeface="Arial"/>
              </a:defRPr>
            </a:lvl8pPr>
            <a:lvl9pPr algn="l">
              <a:defRPr sz="2250" b="1">
                <a:solidFill>
                  <a:srgbClr val="4776C9"/>
                </a:solidFill>
                <a:latin typeface="Arial"/>
                <a:ea typeface="Arial"/>
                <a:cs typeface="Arial"/>
              </a:defRPr>
            </a:lvl9pPr>
          </a:lstStyle>
          <a:p xmlns:a="http://schemas.openxmlformats.org/drawingml/2006/main">
            <a:pPr algn="l">
              <a:defRPr sz="2250" b="1">
                <a:solidFill>
                  <a:srgbClr val="4776C9"/>
                </a:solidFill>
                <a:latin typeface="Arial"/>
                <a:ea typeface="Arial"/>
                <a:cs typeface="Arial"/>
              </a:defRPr>
            </a:pPr>
            <a:r>
              <a:rPr sz="2250" b="1">
                <a:solidFill>
                  <a:srgbClr val="4776C9"/>
                </a:solidFill>
                <a:latin typeface="Arial"/>
                <a:ea typeface="Arial"/>
                <a:cs typeface="Arial"/>
              </a:rPr>
              <a:t>31 evaluation surfaces contain 65,791 held-out target quotes</a:t>
            </a:r>
          </a:p>
        </p:txBody>
      </p:sp>
      <p:sp>
        <p:nvSpPr>
          <p:cNvPr id="5" name="source-line">
            <a:extLst xmlns:a="http://schemas.openxmlformats.org/drawingml/2006/main">
              <a:ext uri="{FF2B5EF4-FFF2-40B4-BE49-F238E27FC236}">
                <a16:creationId xmlns:a16="http://schemas.microsoft.com/office/drawing/2014/main" id="{93F2ED83-4C60-482B-93E7-F8F724DFED7A}"/>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evaluation.py, notebook cells 6, 8 and 13</a:t>
            </a:r>
          </a:p>
        </p:txBody>
      </p:sp>
      <p:sp>
        <p:nvSpPr>
          <p:cNvPr id="6" name="slide-number">
            <a:extLst xmlns:a="http://schemas.openxmlformats.org/drawingml/2006/main">
              <a:ext uri="{FF2B5EF4-FFF2-40B4-BE49-F238E27FC236}">
                <a16:creationId xmlns:a16="http://schemas.microsoft.com/office/drawing/2014/main" id="{58930514-38F4-440D-B0FC-8FD9A02C3955}"/>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9</a:t>
            </a:r>
          </a:p>
        </p:txBody>
      </p:sp>
    </p:spTree>
    <p:extLst>
      <p:ext uri="{BB962C8B-B14F-4D97-AF65-F5344CB8AC3E}">
        <p14:creationId xmlns:p14="http://schemas.microsoft.com/office/powerpoint/2010/main" val="21432021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C09B650-50E3-4C4F-983F-3A46100EF83C}"/>
              </a:ext>
            </a:extLst>
          </p:cNvPr>
          <p:cNvPicPr>
            <a:picLocks xmlns:a="http://schemas.openxmlformats.org/drawingml/2006/main" noChangeAspect="1"/>
          </p:cNvPicPr>
          <p:nvPr/>
        </p:nvPicPr>
        <p:blipFill>
          <a:blip xmlns:r="http://schemas.openxmlformats.org/officeDocument/2006/relationships" xmlns:a="http://schemas.openxmlformats.org/drawingml/2006/main" r:embed="R2eab88b119664fa7"/>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504DCC51-6547-4012-A953-0F06D962E098}"/>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Two scores measure different errors</a:t>
            </a:r>
          </a:p>
        </p:txBody>
      </p:sp>
      <p:sp>
        <p:nvSpPr>
          <p:cNvPr id="3" name="Score A: spread-normalised price error">
            <a:extLst xmlns:a="http://schemas.openxmlformats.org/drawingml/2006/main">
              <a:ext uri="{FF2B5EF4-FFF2-40B4-BE49-F238E27FC236}">
                <a16:creationId xmlns:a16="http://schemas.microsoft.com/office/drawing/2014/main" id="{414F267D-F026-4986-9A0B-CD7C28574B1D}"/>
              </a:ext>
            </a:extLst>
          </p:cNvPr>
          <p:cNvSpPr>
            <a:spLocks xmlns:a="http://schemas.openxmlformats.org/drawingml/2006/main" noGrp="1"/>
          </p:cNvSpPr>
          <p:nvPr/>
        </p:nvSpPr>
        <p:spPr>
          <a:xfrm xmlns:a="http://schemas.openxmlformats.org/drawingml/2006/main">
            <a:off x="523875" y="1638300"/>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4776C9"/>
                </a:solidFill>
                <a:latin typeface="Arial"/>
                <a:ea typeface="Arial"/>
                <a:cs typeface="Arial"/>
              </a:defRPr>
            </a:defPPr>
            <a:lvl1pPr algn="l">
              <a:defRPr sz="2100" b="1">
                <a:solidFill>
                  <a:srgbClr val="4776C9"/>
                </a:solidFill>
                <a:latin typeface="Arial"/>
                <a:ea typeface="Arial"/>
                <a:cs typeface="Arial"/>
              </a:defRPr>
            </a:lvl1pPr>
            <a:lvl2pPr algn="l">
              <a:defRPr sz="2100" b="1">
                <a:solidFill>
                  <a:srgbClr val="4776C9"/>
                </a:solidFill>
                <a:latin typeface="Arial"/>
                <a:ea typeface="Arial"/>
                <a:cs typeface="Arial"/>
              </a:defRPr>
            </a:lvl2pPr>
            <a:lvl3pPr algn="l">
              <a:defRPr sz="2100" b="1">
                <a:solidFill>
                  <a:srgbClr val="4776C9"/>
                </a:solidFill>
                <a:latin typeface="Arial"/>
                <a:ea typeface="Arial"/>
                <a:cs typeface="Arial"/>
              </a:defRPr>
            </a:lvl3pPr>
            <a:lvl4pPr algn="l">
              <a:defRPr sz="2100" b="1">
                <a:solidFill>
                  <a:srgbClr val="4776C9"/>
                </a:solidFill>
                <a:latin typeface="Arial"/>
                <a:ea typeface="Arial"/>
                <a:cs typeface="Arial"/>
              </a:defRPr>
            </a:lvl4pPr>
            <a:lvl5pPr algn="l">
              <a:defRPr sz="2100" b="1">
                <a:solidFill>
                  <a:srgbClr val="4776C9"/>
                </a:solidFill>
                <a:latin typeface="Arial"/>
                <a:ea typeface="Arial"/>
                <a:cs typeface="Arial"/>
              </a:defRPr>
            </a:lvl5pPr>
            <a:lvl6pPr algn="l">
              <a:defRPr sz="2100" b="1">
                <a:solidFill>
                  <a:srgbClr val="4776C9"/>
                </a:solidFill>
                <a:latin typeface="Arial"/>
                <a:ea typeface="Arial"/>
                <a:cs typeface="Arial"/>
              </a:defRPr>
            </a:lvl6pPr>
            <a:lvl7pPr algn="l">
              <a:defRPr sz="2100" b="1">
                <a:solidFill>
                  <a:srgbClr val="4776C9"/>
                </a:solidFill>
                <a:latin typeface="Arial"/>
                <a:ea typeface="Arial"/>
                <a:cs typeface="Arial"/>
              </a:defRPr>
            </a:lvl7pPr>
            <a:lvl8pPr algn="l">
              <a:defRPr sz="2100" b="1">
                <a:solidFill>
                  <a:srgbClr val="4776C9"/>
                </a:solidFill>
                <a:latin typeface="Arial"/>
                <a:ea typeface="Arial"/>
                <a:cs typeface="Arial"/>
              </a:defRPr>
            </a:lvl8pPr>
            <a:lvl9pPr algn="l">
              <a:defRPr sz="2100" b="1">
                <a:solidFill>
                  <a:srgbClr val="4776C9"/>
                </a:solidFill>
                <a:latin typeface="Arial"/>
                <a:ea typeface="Arial"/>
                <a:cs typeface="Arial"/>
              </a:defRPr>
            </a:lvl9pPr>
          </a:lstStyle>
          <a:p xmlns:a="http://schemas.openxmlformats.org/drawingml/2006/main">
            <a:pPr algn="l">
              <a:defRPr sz="2100" b="1">
                <a:solidFill>
                  <a:srgbClr val="4776C9"/>
                </a:solidFill>
                <a:latin typeface="Arial"/>
                <a:ea typeface="Arial"/>
                <a:cs typeface="Arial"/>
              </a:defRPr>
            </a:pPr>
            <a:r>
              <a:rPr sz="2100" b="1">
                <a:solidFill>
                  <a:srgbClr val="4776C9"/>
                </a:solidFill>
                <a:latin typeface="Arial"/>
                <a:ea typeface="Arial"/>
                <a:cs typeface="Arial"/>
              </a:rPr>
              <a:t>Score A: spread-normalised price error</a:t>
            </a:r>
          </a:p>
        </p:txBody>
      </p:sp>
      <p:sp>
        <p:nvSpPr>
          <p:cNvPr id="4" name="A = 2 × abs(P(v̂) − P(v)) / s">
            <a:extLst xmlns:a="http://schemas.openxmlformats.org/drawingml/2006/main">
              <a:ext uri="{FF2B5EF4-FFF2-40B4-BE49-F238E27FC236}">
                <a16:creationId xmlns:a16="http://schemas.microsoft.com/office/drawing/2014/main" id="{F396689F-8F05-49AB-9CD6-1B40FB68A5E8}"/>
              </a:ext>
            </a:extLst>
          </p:cNvPr>
          <p:cNvSpPr>
            <a:spLocks xmlns:a="http://schemas.openxmlformats.org/drawingml/2006/main" noGrp="1"/>
          </p:cNvSpPr>
          <p:nvPr/>
        </p:nvSpPr>
        <p:spPr>
          <a:xfrm xmlns:a="http://schemas.openxmlformats.org/drawingml/2006/main">
            <a:off x="523875" y="25431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51515"/>
                </a:solidFill>
                <a:latin typeface="Arial"/>
                <a:ea typeface="Arial"/>
                <a:cs typeface="Arial"/>
              </a:defRPr>
            </a:defPPr>
            <a:lvl1pPr algn="l">
              <a:defRPr sz="2175" b="0">
                <a:solidFill>
                  <a:srgbClr val="151515"/>
                </a:solidFill>
                <a:latin typeface="Arial"/>
                <a:ea typeface="Arial"/>
                <a:cs typeface="Arial"/>
              </a:defRPr>
            </a:lvl1pPr>
            <a:lvl2pPr algn="l">
              <a:defRPr sz="2175" b="0">
                <a:solidFill>
                  <a:srgbClr val="151515"/>
                </a:solidFill>
                <a:latin typeface="Arial"/>
                <a:ea typeface="Arial"/>
                <a:cs typeface="Arial"/>
              </a:defRPr>
            </a:lvl2pPr>
            <a:lvl3pPr algn="l">
              <a:defRPr sz="2175" b="0">
                <a:solidFill>
                  <a:srgbClr val="151515"/>
                </a:solidFill>
                <a:latin typeface="Arial"/>
                <a:ea typeface="Arial"/>
                <a:cs typeface="Arial"/>
              </a:defRPr>
            </a:lvl3pPr>
            <a:lvl4pPr algn="l">
              <a:defRPr sz="2175" b="0">
                <a:solidFill>
                  <a:srgbClr val="151515"/>
                </a:solidFill>
                <a:latin typeface="Arial"/>
                <a:ea typeface="Arial"/>
                <a:cs typeface="Arial"/>
              </a:defRPr>
            </a:lvl4pPr>
            <a:lvl5pPr algn="l">
              <a:defRPr sz="2175" b="0">
                <a:solidFill>
                  <a:srgbClr val="151515"/>
                </a:solidFill>
                <a:latin typeface="Arial"/>
                <a:ea typeface="Arial"/>
                <a:cs typeface="Arial"/>
              </a:defRPr>
            </a:lvl5pPr>
            <a:lvl6pPr algn="l">
              <a:defRPr sz="2175" b="0">
                <a:solidFill>
                  <a:srgbClr val="151515"/>
                </a:solidFill>
                <a:latin typeface="Arial"/>
                <a:ea typeface="Arial"/>
                <a:cs typeface="Arial"/>
              </a:defRPr>
            </a:lvl6pPr>
            <a:lvl7pPr algn="l">
              <a:defRPr sz="2175" b="0">
                <a:solidFill>
                  <a:srgbClr val="151515"/>
                </a:solidFill>
                <a:latin typeface="Arial"/>
                <a:ea typeface="Arial"/>
                <a:cs typeface="Arial"/>
              </a:defRPr>
            </a:lvl7pPr>
            <a:lvl8pPr algn="l">
              <a:defRPr sz="2175" b="0">
                <a:solidFill>
                  <a:srgbClr val="151515"/>
                </a:solidFill>
                <a:latin typeface="Arial"/>
                <a:ea typeface="Arial"/>
                <a:cs typeface="Arial"/>
              </a:defRPr>
            </a:lvl8pPr>
            <a:lvl9pPr algn="l">
              <a:defRPr sz="2175" b="0">
                <a:solidFill>
                  <a:srgbClr val="151515"/>
                </a:solidFill>
                <a:latin typeface="Arial"/>
                <a:ea typeface="Arial"/>
                <a:cs typeface="Arial"/>
              </a:defRPr>
            </a:lvl9pPr>
          </a:lstStyle>
          <a:p xmlns:a="http://schemas.openxmlformats.org/drawingml/2006/main">
            <a:pPr algn="l">
              <a:defRPr sz="2175" b="0">
                <a:solidFill>
                  <a:srgbClr val="151515"/>
                </a:solidFill>
                <a:latin typeface="Arial"/>
                <a:ea typeface="Arial"/>
                <a:cs typeface="Arial"/>
              </a:defRPr>
            </a:pPr>
            <a:r>
              <a:rPr sz="2175" b="0">
                <a:solidFill>
                  <a:srgbClr val="151515"/>
                </a:solidFill>
                <a:latin typeface="Arial"/>
                <a:ea typeface="Arial"/>
                <a:cs typeface="Arial"/>
              </a:rPr>
              <a:t>A = 2 × abs(P(v̂) − P(v)) / s</a:t>
            </a:r>
          </a:p>
        </p:txBody>
      </p:sp>
      <p:sp>
        <p:nvSpPr>
          <p:cNvPr id="5" name="s = max(ask − bid, 0.10)">
            <a:extLst xmlns:a="http://schemas.openxmlformats.org/drawingml/2006/main">
              <a:ext uri="{FF2B5EF4-FFF2-40B4-BE49-F238E27FC236}">
                <a16:creationId xmlns:a16="http://schemas.microsoft.com/office/drawing/2014/main" id="{70CD7681-194D-47FB-A9F2-4D649690D207}"/>
              </a:ext>
            </a:extLst>
          </p:cNvPr>
          <p:cNvSpPr>
            <a:spLocks xmlns:a="http://schemas.openxmlformats.org/drawingml/2006/main" noGrp="1"/>
          </p:cNvSpPr>
          <p:nvPr/>
        </p:nvSpPr>
        <p:spPr>
          <a:xfrm xmlns:a="http://schemas.openxmlformats.org/drawingml/2006/main">
            <a:off x="523875" y="31527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algn="l">
              <a:defRPr sz="2025" b="0">
                <a:solidFill>
                  <a:srgbClr val="151515"/>
                </a:solidFill>
                <a:latin typeface="Arial"/>
                <a:ea typeface="Arial"/>
                <a:cs typeface="Arial"/>
              </a:defRPr>
            </a:pPr>
            <a:r>
              <a:rPr sz="2025" b="0">
                <a:solidFill>
                  <a:srgbClr val="151515"/>
                </a:solidFill>
                <a:latin typeface="Arial"/>
                <a:ea typeface="Arial"/>
                <a:cs typeface="Arial"/>
              </a:rPr>
              <a:t>s = max(ask − bid, 0.10)</a:t>
            </a:r>
          </a:p>
        </p:txBody>
      </p:sp>
      <p:sp>
        <p:nvSpPr>
          <p:cNvPr id="6" name="Black–Scholes prices reconstructed from IVs d">
            <a:extLst xmlns:a="http://schemas.openxmlformats.org/drawingml/2006/main">
              <a:ext uri="{FF2B5EF4-FFF2-40B4-BE49-F238E27FC236}">
                <a16:creationId xmlns:a16="http://schemas.microsoft.com/office/drawing/2014/main" id="{C4000E14-70F2-4317-B24E-445564C3FC27}"/>
              </a:ext>
            </a:extLst>
          </p:cNvPr>
          <p:cNvSpPr>
            <a:spLocks xmlns:a="http://schemas.openxmlformats.org/drawingml/2006/main" noGrp="1"/>
          </p:cNvSpPr>
          <p:nvPr/>
        </p:nvSpPr>
        <p:spPr>
          <a:xfrm xmlns:a="http://schemas.openxmlformats.org/drawingml/2006/main">
            <a:off x="523875" y="39814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51515"/>
                </a:solidFill>
                <a:latin typeface="Arial"/>
                <a:ea typeface="Arial"/>
                <a:cs typeface="Arial"/>
              </a:defRPr>
            </a:defPPr>
            <a:lvl1pPr algn="l">
              <a:defRPr sz="1950" b="0">
                <a:solidFill>
                  <a:srgbClr val="151515"/>
                </a:solidFill>
                <a:latin typeface="Arial"/>
                <a:ea typeface="Arial"/>
                <a:cs typeface="Arial"/>
              </a:defRPr>
            </a:lvl1pPr>
            <a:lvl2pPr algn="l">
              <a:defRPr sz="1950" b="0">
                <a:solidFill>
                  <a:srgbClr val="151515"/>
                </a:solidFill>
                <a:latin typeface="Arial"/>
                <a:ea typeface="Arial"/>
                <a:cs typeface="Arial"/>
              </a:defRPr>
            </a:lvl2pPr>
            <a:lvl3pPr algn="l">
              <a:defRPr sz="1950" b="0">
                <a:solidFill>
                  <a:srgbClr val="151515"/>
                </a:solidFill>
                <a:latin typeface="Arial"/>
                <a:ea typeface="Arial"/>
                <a:cs typeface="Arial"/>
              </a:defRPr>
            </a:lvl3pPr>
            <a:lvl4pPr algn="l">
              <a:defRPr sz="1950" b="0">
                <a:solidFill>
                  <a:srgbClr val="151515"/>
                </a:solidFill>
                <a:latin typeface="Arial"/>
                <a:ea typeface="Arial"/>
                <a:cs typeface="Arial"/>
              </a:defRPr>
            </a:lvl4pPr>
            <a:lvl5pPr algn="l">
              <a:defRPr sz="1950" b="0">
                <a:solidFill>
                  <a:srgbClr val="151515"/>
                </a:solidFill>
                <a:latin typeface="Arial"/>
                <a:ea typeface="Arial"/>
                <a:cs typeface="Arial"/>
              </a:defRPr>
            </a:lvl5pPr>
            <a:lvl6pPr algn="l">
              <a:defRPr sz="1950" b="0">
                <a:solidFill>
                  <a:srgbClr val="151515"/>
                </a:solidFill>
                <a:latin typeface="Arial"/>
                <a:ea typeface="Arial"/>
                <a:cs typeface="Arial"/>
              </a:defRPr>
            </a:lvl6pPr>
            <a:lvl7pPr algn="l">
              <a:defRPr sz="1950" b="0">
                <a:solidFill>
                  <a:srgbClr val="151515"/>
                </a:solidFill>
                <a:latin typeface="Arial"/>
                <a:ea typeface="Arial"/>
                <a:cs typeface="Arial"/>
              </a:defRPr>
            </a:lvl7pPr>
            <a:lvl8pPr algn="l">
              <a:defRPr sz="1950" b="0">
                <a:solidFill>
                  <a:srgbClr val="151515"/>
                </a:solidFill>
                <a:latin typeface="Arial"/>
                <a:ea typeface="Arial"/>
                <a:cs typeface="Arial"/>
              </a:defRPr>
            </a:lvl8pPr>
            <a:lvl9pPr algn="l">
              <a:defRPr sz="1950" b="0">
                <a:solidFill>
                  <a:srgbClr val="151515"/>
                </a:solidFill>
                <a:latin typeface="Arial"/>
                <a:ea typeface="Arial"/>
                <a:cs typeface="Arial"/>
              </a:defRPr>
            </a:lvl9pPr>
          </a:lstStyle>
          <a:p xmlns:a="http://schemas.openxmlformats.org/drawingml/2006/main">
            <a:pPr algn="l">
              <a:defRPr sz="1950" b="0">
                <a:solidFill>
                  <a:srgbClr val="151515"/>
                </a:solidFill>
                <a:latin typeface="Arial"/>
                <a:ea typeface="Arial"/>
                <a:cs typeface="Arial"/>
              </a:defRPr>
            </a:pPr>
            <a:r>
              <a:rPr sz="1950" b="0">
                <a:solidFill>
                  <a:srgbClr val="151515"/>
                </a:solidFill>
                <a:latin typeface="Arial"/>
                <a:ea typeface="Arial"/>
                <a:cs typeface="Arial"/>
              </a:rPr>
              <a:t>Black–Scholes prices reconstructed from IVs determine the residual.</a:t>
            </a:r>
          </a:p>
        </p:txBody>
      </p:sp>
      <p:sp>
        <p:nvSpPr>
          <p:cNvPr id="7" name="Score B: Vega-weighted IV error">
            <a:extLst xmlns:a="http://schemas.openxmlformats.org/drawingml/2006/main">
              <a:ext uri="{FF2B5EF4-FFF2-40B4-BE49-F238E27FC236}">
                <a16:creationId xmlns:a16="http://schemas.microsoft.com/office/drawing/2014/main" id="{2F760DE2-770C-43D3-9531-CA0210AC14A8}"/>
              </a:ext>
            </a:extLst>
          </p:cNvPr>
          <p:cNvSpPr>
            <a:spLocks xmlns:a="http://schemas.openxmlformats.org/drawingml/2006/main" noGrp="1"/>
          </p:cNvSpPr>
          <p:nvPr/>
        </p:nvSpPr>
        <p:spPr>
          <a:xfrm xmlns:a="http://schemas.openxmlformats.org/drawingml/2006/main">
            <a:off x="6477000" y="16383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4776C9"/>
                </a:solidFill>
                <a:latin typeface="Arial"/>
                <a:ea typeface="Arial"/>
                <a:cs typeface="Arial"/>
              </a:defRPr>
            </a:defPPr>
            <a:lvl1pPr algn="l">
              <a:defRPr sz="2100" b="1">
                <a:solidFill>
                  <a:srgbClr val="4776C9"/>
                </a:solidFill>
                <a:latin typeface="Arial"/>
                <a:ea typeface="Arial"/>
                <a:cs typeface="Arial"/>
              </a:defRPr>
            </a:lvl1pPr>
            <a:lvl2pPr algn="l">
              <a:defRPr sz="2100" b="1">
                <a:solidFill>
                  <a:srgbClr val="4776C9"/>
                </a:solidFill>
                <a:latin typeface="Arial"/>
                <a:ea typeface="Arial"/>
                <a:cs typeface="Arial"/>
              </a:defRPr>
            </a:lvl2pPr>
            <a:lvl3pPr algn="l">
              <a:defRPr sz="2100" b="1">
                <a:solidFill>
                  <a:srgbClr val="4776C9"/>
                </a:solidFill>
                <a:latin typeface="Arial"/>
                <a:ea typeface="Arial"/>
                <a:cs typeface="Arial"/>
              </a:defRPr>
            </a:lvl3pPr>
            <a:lvl4pPr algn="l">
              <a:defRPr sz="2100" b="1">
                <a:solidFill>
                  <a:srgbClr val="4776C9"/>
                </a:solidFill>
                <a:latin typeface="Arial"/>
                <a:ea typeface="Arial"/>
                <a:cs typeface="Arial"/>
              </a:defRPr>
            </a:lvl4pPr>
            <a:lvl5pPr algn="l">
              <a:defRPr sz="2100" b="1">
                <a:solidFill>
                  <a:srgbClr val="4776C9"/>
                </a:solidFill>
                <a:latin typeface="Arial"/>
                <a:ea typeface="Arial"/>
                <a:cs typeface="Arial"/>
              </a:defRPr>
            </a:lvl5pPr>
            <a:lvl6pPr algn="l">
              <a:defRPr sz="2100" b="1">
                <a:solidFill>
                  <a:srgbClr val="4776C9"/>
                </a:solidFill>
                <a:latin typeface="Arial"/>
                <a:ea typeface="Arial"/>
                <a:cs typeface="Arial"/>
              </a:defRPr>
            </a:lvl6pPr>
            <a:lvl7pPr algn="l">
              <a:defRPr sz="2100" b="1">
                <a:solidFill>
                  <a:srgbClr val="4776C9"/>
                </a:solidFill>
                <a:latin typeface="Arial"/>
                <a:ea typeface="Arial"/>
                <a:cs typeface="Arial"/>
              </a:defRPr>
            </a:lvl7pPr>
            <a:lvl8pPr algn="l">
              <a:defRPr sz="2100" b="1">
                <a:solidFill>
                  <a:srgbClr val="4776C9"/>
                </a:solidFill>
                <a:latin typeface="Arial"/>
                <a:ea typeface="Arial"/>
                <a:cs typeface="Arial"/>
              </a:defRPr>
            </a:lvl8pPr>
            <a:lvl9pPr algn="l">
              <a:defRPr sz="2100" b="1">
                <a:solidFill>
                  <a:srgbClr val="4776C9"/>
                </a:solidFill>
                <a:latin typeface="Arial"/>
                <a:ea typeface="Arial"/>
                <a:cs typeface="Arial"/>
              </a:defRPr>
            </a:lvl9pPr>
          </a:lstStyle>
          <a:p xmlns:a="http://schemas.openxmlformats.org/drawingml/2006/main">
            <a:pPr algn="l">
              <a:defRPr sz="2100" b="1">
                <a:solidFill>
                  <a:srgbClr val="4776C9"/>
                </a:solidFill>
                <a:latin typeface="Arial"/>
                <a:ea typeface="Arial"/>
                <a:cs typeface="Arial"/>
              </a:defRPr>
            </a:pPr>
            <a:r>
              <a:rPr sz="2100" b="1">
                <a:solidFill>
                  <a:srgbClr val="4776C9"/>
                </a:solidFill>
                <a:latin typeface="Arial"/>
                <a:ea typeface="Arial"/>
                <a:cs typeface="Arial"/>
              </a:rPr>
              <a:t>Score B: Vega-weighted IV error</a:t>
            </a:r>
          </a:p>
        </p:txBody>
      </p:sp>
      <p:sp>
        <p:nvSpPr>
          <p:cNvPr id="8" name="B = w(v̂) × abs(v̂ − v)">
            <a:extLst xmlns:a="http://schemas.openxmlformats.org/drawingml/2006/main">
              <a:ext uri="{FF2B5EF4-FFF2-40B4-BE49-F238E27FC236}">
                <a16:creationId xmlns:a16="http://schemas.microsoft.com/office/drawing/2014/main" id="{8CDAF9E7-603F-4EBA-AE13-F1E87F8E43F0}"/>
              </a:ext>
            </a:extLst>
          </p:cNvPr>
          <p:cNvSpPr>
            <a:spLocks xmlns:a="http://schemas.openxmlformats.org/drawingml/2006/main" noGrp="1"/>
          </p:cNvSpPr>
          <p:nvPr/>
        </p:nvSpPr>
        <p:spPr>
          <a:xfrm xmlns:a="http://schemas.openxmlformats.org/drawingml/2006/main">
            <a:off x="6477000" y="25431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51515"/>
                </a:solidFill>
                <a:latin typeface="Arial"/>
                <a:ea typeface="Arial"/>
                <a:cs typeface="Arial"/>
              </a:defRPr>
            </a:defPPr>
            <a:lvl1pPr algn="l">
              <a:defRPr sz="2250" b="0">
                <a:solidFill>
                  <a:srgbClr val="151515"/>
                </a:solidFill>
                <a:latin typeface="Arial"/>
                <a:ea typeface="Arial"/>
                <a:cs typeface="Arial"/>
              </a:defRPr>
            </a:lvl1pPr>
            <a:lvl2pPr algn="l">
              <a:defRPr sz="2250" b="0">
                <a:solidFill>
                  <a:srgbClr val="151515"/>
                </a:solidFill>
                <a:latin typeface="Arial"/>
                <a:ea typeface="Arial"/>
                <a:cs typeface="Arial"/>
              </a:defRPr>
            </a:lvl2pPr>
            <a:lvl3pPr algn="l">
              <a:defRPr sz="2250" b="0">
                <a:solidFill>
                  <a:srgbClr val="151515"/>
                </a:solidFill>
                <a:latin typeface="Arial"/>
                <a:ea typeface="Arial"/>
                <a:cs typeface="Arial"/>
              </a:defRPr>
            </a:lvl3pPr>
            <a:lvl4pPr algn="l">
              <a:defRPr sz="2250" b="0">
                <a:solidFill>
                  <a:srgbClr val="151515"/>
                </a:solidFill>
                <a:latin typeface="Arial"/>
                <a:ea typeface="Arial"/>
                <a:cs typeface="Arial"/>
              </a:defRPr>
            </a:lvl4pPr>
            <a:lvl5pPr algn="l">
              <a:defRPr sz="2250" b="0">
                <a:solidFill>
                  <a:srgbClr val="151515"/>
                </a:solidFill>
                <a:latin typeface="Arial"/>
                <a:ea typeface="Arial"/>
                <a:cs typeface="Arial"/>
              </a:defRPr>
            </a:lvl5pPr>
            <a:lvl6pPr algn="l">
              <a:defRPr sz="2250" b="0">
                <a:solidFill>
                  <a:srgbClr val="151515"/>
                </a:solidFill>
                <a:latin typeface="Arial"/>
                <a:ea typeface="Arial"/>
                <a:cs typeface="Arial"/>
              </a:defRPr>
            </a:lvl6pPr>
            <a:lvl7pPr algn="l">
              <a:defRPr sz="2250" b="0">
                <a:solidFill>
                  <a:srgbClr val="151515"/>
                </a:solidFill>
                <a:latin typeface="Arial"/>
                <a:ea typeface="Arial"/>
                <a:cs typeface="Arial"/>
              </a:defRPr>
            </a:lvl7pPr>
            <a:lvl8pPr algn="l">
              <a:defRPr sz="2250" b="0">
                <a:solidFill>
                  <a:srgbClr val="151515"/>
                </a:solidFill>
                <a:latin typeface="Arial"/>
                <a:ea typeface="Arial"/>
                <a:cs typeface="Arial"/>
              </a:defRPr>
            </a:lvl8pPr>
            <a:lvl9pPr algn="l">
              <a:defRPr sz="2250" b="0">
                <a:solidFill>
                  <a:srgbClr val="151515"/>
                </a:solidFill>
                <a:latin typeface="Arial"/>
                <a:ea typeface="Arial"/>
                <a:cs typeface="Arial"/>
              </a:defRPr>
            </a:lvl9pPr>
          </a:lstStyle>
          <a:p xmlns:a="http://schemas.openxmlformats.org/drawingml/2006/main">
            <a:pPr algn="l">
              <a:defRPr sz="2250" b="0">
                <a:solidFill>
                  <a:srgbClr val="151515"/>
                </a:solidFill>
                <a:latin typeface="Arial"/>
                <a:ea typeface="Arial"/>
                <a:cs typeface="Arial"/>
              </a:defRPr>
            </a:pPr>
            <a:r>
              <a:rPr sz="2250" b="0">
                <a:solidFill>
                  <a:srgbClr val="151515"/>
                </a:solidFill>
                <a:latin typeface="Arial"/>
                <a:ea typeface="Arial"/>
                <a:cs typeface="Arial"/>
              </a:rPr>
              <a:t>B = w(v̂) × abs(v̂ − v)</a:t>
            </a:r>
          </a:p>
        </p:txBody>
      </p:sp>
      <p:sp>
        <p:nvSpPr>
          <p:cNvPr id="9" name="w = max(V(v̂) / mean(V(v̂)), 1)">
            <a:extLst xmlns:a="http://schemas.openxmlformats.org/drawingml/2006/main">
              <a:ext uri="{FF2B5EF4-FFF2-40B4-BE49-F238E27FC236}">
                <a16:creationId xmlns:a16="http://schemas.microsoft.com/office/drawing/2014/main" id="{B41305ED-0A0B-4EC1-8A2D-FF214BD6F04F}"/>
              </a:ext>
            </a:extLst>
          </p:cNvPr>
          <p:cNvSpPr>
            <a:spLocks xmlns:a="http://schemas.openxmlformats.org/drawingml/2006/main" noGrp="1"/>
          </p:cNvSpPr>
          <p:nvPr/>
        </p:nvSpPr>
        <p:spPr>
          <a:xfrm xmlns:a="http://schemas.openxmlformats.org/drawingml/2006/main">
            <a:off x="6477000" y="31527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algn="l">
              <a:defRPr sz="2025" b="0">
                <a:solidFill>
                  <a:srgbClr val="151515"/>
                </a:solidFill>
                <a:latin typeface="Arial"/>
                <a:ea typeface="Arial"/>
                <a:cs typeface="Arial"/>
              </a:defRPr>
            </a:pPr>
            <a:r>
              <a:rPr sz="2025" b="0">
                <a:solidFill>
                  <a:srgbClr val="151515"/>
                </a:solidFill>
                <a:latin typeface="Arial"/>
                <a:ea typeface="Arial"/>
                <a:cs typeface="Arial"/>
              </a:rPr>
              <a:t>w = max(V(v̂) / mean(V(v̂)), 1)</a:t>
            </a:r>
          </a:p>
        </p:txBody>
      </p:sp>
      <p:sp>
        <p:nvSpPr>
          <p:cNvPr id="10" name="The mean uses the target points of one surfac">
            <a:extLst xmlns:a="http://schemas.openxmlformats.org/drawingml/2006/main">
              <a:ext uri="{FF2B5EF4-FFF2-40B4-BE49-F238E27FC236}">
                <a16:creationId xmlns:a16="http://schemas.microsoft.com/office/drawing/2014/main" id="{3E451626-1318-4EAD-BBE5-E22B0308DF52}"/>
              </a:ext>
            </a:extLst>
          </p:cNvPr>
          <p:cNvSpPr>
            <a:spLocks xmlns:a="http://schemas.openxmlformats.org/drawingml/2006/main" noGrp="1"/>
          </p:cNvSpPr>
          <p:nvPr/>
        </p:nvSpPr>
        <p:spPr>
          <a:xfrm xmlns:a="http://schemas.openxmlformats.org/drawingml/2006/main">
            <a:off x="6477000" y="4219575"/>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51515"/>
                </a:solidFill>
                <a:latin typeface="Arial"/>
                <a:ea typeface="Arial"/>
                <a:cs typeface="Arial"/>
              </a:defRPr>
            </a:defPPr>
            <a:lvl1pPr algn="l">
              <a:defRPr sz="1950" b="0">
                <a:solidFill>
                  <a:srgbClr val="151515"/>
                </a:solidFill>
                <a:latin typeface="Arial"/>
                <a:ea typeface="Arial"/>
                <a:cs typeface="Arial"/>
              </a:defRPr>
            </a:lvl1pPr>
            <a:lvl2pPr algn="l">
              <a:defRPr sz="1950" b="0">
                <a:solidFill>
                  <a:srgbClr val="151515"/>
                </a:solidFill>
                <a:latin typeface="Arial"/>
                <a:ea typeface="Arial"/>
                <a:cs typeface="Arial"/>
              </a:defRPr>
            </a:lvl2pPr>
            <a:lvl3pPr algn="l">
              <a:defRPr sz="1950" b="0">
                <a:solidFill>
                  <a:srgbClr val="151515"/>
                </a:solidFill>
                <a:latin typeface="Arial"/>
                <a:ea typeface="Arial"/>
                <a:cs typeface="Arial"/>
              </a:defRPr>
            </a:lvl3pPr>
            <a:lvl4pPr algn="l">
              <a:defRPr sz="1950" b="0">
                <a:solidFill>
                  <a:srgbClr val="151515"/>
                </a:solidFill>
                <a:latin typeface="Arial"/>
                <a:ea typeface="Arial"/>
                <a:cs typeface="Arial"/>
              </a:defRPr>
            </a:lvl4pPr>
            <a:lvl5pPr algn="l">
              <a:defRPr sz="1950" b="0">
                <a:solidFill>
                  <a:srgbClr val="151515"/>
                </a:solidFill>
                <a:latin typeface="Arial"/>
                <a:ea typeface="Arial"/>
                <a:cs typeface="Arial"/>
              </a:defRPr>
            </a:lvl5pPr>
            <a:lvl6pPr algn="l">
              <a:defRPr sz="1950" b="0">
                <a:solidFill>
                  <a:srgbClr val="151515"/>
                </a:solidFill>
                <a:latin typeface="Arial"/>
                <a:ea typeface="Arial"/>
                <a:cs typeface="Arial"/>
              </a:defRPr>
            </a:lvl6pPr>
            <a:lvl7pPr algn="l">
              <a:defRPr sz="1950" b="0">
                <a:solidFill>
                  <a:srgbClr val="151515"/>
                </a:solidFill>
                <a:latin typeface="Arial"/>
                <a:ea typeface="Arial"/>
                <a:cs typeface="Arial"/>
              </a:defRPr>
            </a:lvl7pPr>
            <a:lvl8pPr algn="l">
              <a:defRPr sz="1950" b="0">
                <a:solidFill>
                  <a:srgbClr val="151515"/>
                </a:solidFill>
                <a:latin typeface="Arial"/>
                <a:ea typeface="Arial"/>
                <a:cs typeface="Arial"/>
              </a:defRPr>
            </a:lvl8pPr>
            <a:lvl9pPr algn="l">
              <a:defRPr sz="1950" b="0">
                <a:solidFill>
                  <a:srgbClr val="151515"/>
                </a:solidFill>
                <a:latin typeface="Arial"/>
                <a:ea typeface="Arial"/>
                <a:cs typeface="Arial"/>
              </a:defRPr>
            </a:lvl9pPr>
          </a:lstStyle>
          <a:p xmlns:a="http://schemas.openxmlformats.org/drawingml/2006/main">
            <a:pPr algn="l">
              <a:defRPr sz="1950" b="0">
                <a:solidFill>
                  <a:srgbClr val="151515"/>
                </a:solidFill>
                <a:latin typeface="Arial"/>
                <a:ea typeface="Arial"/>
                <a:cs typeface="Arial"/>
              </a:defRPr>
            </a:pPr>
            <a:r>
              <a:rPr sz="1950" b="0">
                <a:solidFill>
                  <a:srgbClr val="151515"/>
                </a:solidFill>
                <a:latin typeface="Arial"/>
                <a:ea typeface="Arial"/>
                <a:cs typeface="Arial"/>
              </a:rPr>
              <a:t>The mean uses the target points of one surface. Vega uses predicted IV.</a:t>
            </a:r>
          </a:p>
        </p:txBody>
      </p:sp>
      <p:sp>
        <p:nvSpPr>
          <p:cNvPr id="11" name="v̂ = GNO prediction, v = withheld market IV, ">
            <a:extLst xmlns:a="http://schemas.openxmlformats.org/drawingml/2006/main">
              <a:ext uri="{FF2B5EF4-FFF2-40B4-BE49-F238E27FC236}">
                <a16:creationId xmlns:a16="http://schemas.microsoft.com/office/drawing/2014/main" id="{05CA7121-8662-40C7-9199-D855755CDB92}"/>
              </a:ext>
            </a:extLst>
          </p:cNvPr>
          <p:cNvSpPr>
            <a:spLocks xmlns:a="http://schemas.openxmlformats.org/drawingml/2006/main" noGrp="1"/>
          </p:cNvSpPr>
          <p:nvPr/>
        </p:nvSpPr>
        <p:spPr>
          <a:xfrm xmlns:a="http://schemas.openxmlformats.org/drawingml/2006/main">
            <a:off x="523875" y="5829300"/>
            <a:ext cx="1114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05050"/>
                </a:solidFill>
                <a:latin typeface="Arial"/>
                <a:ea typeface="Arial"/>
                <a:cs typeface="Arial"/>
              </a:defRPr>
            </a:defPPr>
            <a:lvl1pPr algn="l">
              <a:defRPr sz="1725" b="0">
                <a:solidFill>
                  <a:srgbClr val="505050"/>
                </a:solidFill>
                <a:latin typeface="Arial"/>
                <a:ea typeface="Arial"/>
                <a:cs typeface="Arial"/>
              </a:defRPr>
            </a:lvl1pPr>
            <a:lvl2pPr algn="l">
              <a:defRPr sz="1725" b="0">
                <a:solidFill>
                  <a:srgbClr val="505050"/>
                </a:solidFill>
                <a:latin typeface="Arial"/>
                <a:ea typeface="Arial"/>
                <a:cs typeface="Arial"/>
              </a:defRPr>
            </a:lvl2pPr>
            <a:lvl3pPr algn="l">
              <a:defRPr sz="1725" b="0">
                <a:solidFill>
                  <a:srgbClr val="505050"/>
                </a:solidFill>
                <a:latin typeface="Arial"/>
                <a:ea typeface="Arial"/>
                <a:cs typeface="Arial"/>
              </a:defRPr>
            </a:lvl3pPr>
            <a:lvl4pPr algn="l">
              <a:defRPr sz="1725" b="0">
                <a:solidFill>
                  <a:srgbClr val="505050"/>
                </a:solidFill>
                <a:latin typeface="Arial"/>
                <a:ea typeface="Arial"/>
                <a:cs typeface="Arial"/>
              </a:defRPr>
            </a:lvl4pPr>
            <a:lvl5pPr algn="l">
              <a:defRPr sz="1725" b="0">
                <a:solidFill>
                  <a:srgbClr val="505050"/>
                </a:solidFill>
                <a:latin typeface="Arial"/>
                <a:ea typeface="Arial"/>
                <a:cs typeface="Arial"/>
              </a:defRPr>
            </a:lvl5pPr>
            <a:lvl6pPr algn="l">
              <a:defRPr sz="1725" b="0">
                <a:solidFill>
                  <a:srgbClr val="505050"/>
                </a:solidFill>
                <a:latin typeface="Arial"/>
                <a:ea typeface="Arial"/>
                <a:cs typeface="Arial"/>
              </a:defRPr>
            </a:lvl6pPr>
            <a:lvl7pPr algn="l">
              <a:defRPr sz="1725" b="0">
                <a:solidFill>
                  <a:srgbClr val="505050"/>
                </a:solidFill>
                <a:latin typeface="Arial"/>
                <a:ea typeface="Arial"/>
                <a:cs typeface="Arial"/>
              </a:defRPr>
            </a:lvl7pPr>
            <a:lvl8pPr algn="l">
              <a:defRPr sz="1725" b="0">
                <a:solidFill>
                  <a:srgbClr val="505050"/>
                </a:solidFill>
                <a:latin typeface="Arial"/>
                <a:ea typeface="Arial"/>
                <a:cs typeface="Arial"/>
              </a:defRPr>
            </a:lvl8pPr>
            <a:lvl9pPr algn="l">
              <a:defRPr sz="1725" b="0">
                <a:solidFill>
                  <a:srgbClr val="505050"/>
                </a:solidFill>
                <a:latin typeface="Arial"/>
                <a:ea typeface="Arial"/>
                <a:cs typeface="Arial"/>
              </a:defRPr>
            </a:lvl9pPr>
          </a:lstStyle>
          <a:p xmlns:a="http://schemas.openxmlformats.org/drawingml/2006/main">
            <a:pPr algn="l">
              <a:defRPr sz="1725" b="0">
                <a:solidFill>
                  <a:srgbClr val="505050"/>
                </a:solidFill>
                <a:latin typeface="Arial"/>
                <a:ea typeface="Arial"/>
                <a:cs typeface="Arial"/>
              </a:defRPr>
            </a:pPr>
            <a:r>
              <a:rPr sz="1725" b="0">
                <a:solidFill>
                  <a:srgbClr val="505050"/>
                </a:solidFill>
                <a:latin typeface="Arial"/>
                <a:ea typeface="Arial"/>
                <a:cs typeface="Arial"/>
              </a:rPr>
              <a:t>v̂ = GNO prediction, v = withheld market IV, V = forward-normalised Vega</a:t>
            </a:r>
          </a:p>
        </p:txBody>
      </p:sp>
      <p:sp>
        <p:nvSpPr>
          <p:cNvPr id="12" name="source-line">
            <a:extLst xmlns:a="http://schemas.openxmlformats.org/drawingml/2006/main">
              <a:ext uri="{FF2B5EF4-FFF2-40B4-BE49-F238E27FC236}">
                <a16:creationId xmlns:a16="http://schemas.microsoft.com/office/drawing/2014/main" id="{045D1A4B-C5C9-4CFD-B865-CF3EED8C29A6}"/>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exposé Eqs. (1)–(2), revised thesis §3.2, nonconformity_scores.py</a:t>
            </a:r>
          </a:p>
        </p:txBody>
      </p:sp>
      <p:sp>
        <p:nvSpPr>
          <p:cNvPr id="13" name="slide-number">
            <a:extLst xmlns:a="http://schemas.openxmlformats.org/drawingml/2006/main">
              <a:ext uri="{FF2B5EF4-FFF2-40B4-BE49-F238E27FC236}">
                <a16:creationId xmlns:a16="http://schemas.microsoft.com/office/drawing/2014/main" id="{C32D211D-5681-46A2-BD23-C7498F692A13}"/>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10</a:t>
            </a:r>
          </a:p>
        </p:txBody>
      </p:sp>
    </p:spTree>
    <p:extLst>
      <p:ext uri="{BB962C8B-B14F-4D97-AF65-F5344CB8AC3E}">
        <p14:creationId xmlns:p14="http://schemas.microsoft.com/office/powerpoint/2010/main" val="620817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636763D-B3D0-42C0-B4D7-F037E7E1B5CD}"/>
              </a:ext>
            </a:extLst>
          </p:cNvPr>
          <p:cNvPicPr>
            <a:picLocks xmlns:a="http://schemas.openxmlformats.org/drawingml/2006/main" noChangeAspect="1"/>
          </p:cNvPicPr>
          <p:nvPr/>
        </p:nvPicPr>
        <p:blipFill>
          <a:blip xmlns:r="http://schemas.openxmlformats.org/officeDocument/2006/relationships" xmlns:a="http://schemas.openxmlformats.org/drawingml/2006/main" r:embed="Rae1fd338d0834bb3"/>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F4B874FE-5D6E-4F0A-AEA6-F5AD1A87EB54}"/>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Calibration adapts in time and space</a:t>
            </a:r>
          </a:p>
        </p:txBody>
      </p:sp>
      <p:sp>
        <p:nvSpPr>
          <p:cNvPr id="3" name="">
            <a:extLst xmlns:a="http://schemas.openxmlformats.org/drawingml/2006/main">
              <a:ext uri="{FF2B5EF4-FFF2-40B4-BE49-F238E27FC236}">
                <a16:creationId xmlns:a16="http://schemas.microsoft.com/office/drawing/2014/main" id="{1AC5A051-4CD0-47C8-A2C8-BF7C4F102850}"/>
              </a:ext>
            </a:extLst>
          </p:cNvPr>
          <p:cNvSpPr>
            <a:spLocks xmlns:a="http://schemas.openxmlformats.org/drawingml/2006/main" noGrp="1"/>
          </p:cNvSpPr>
          <p:nvPr/>
        </p:nvSpPr>
        <p:spPr>
          <a:xfrm xmlns:a="http://schemas.openxmlformats.org/drawingml/2006/main">
            <a:off x="523875" y="1619250"/>
            <a:ext cx="11049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51515"/>
                </a:solidFill>
                <a:latin typeface="Arial"/>
                <a:ea typeface="Arial"/>
                <a:cs typeface="Arial"/>
              </a:defRPr>
            </a:defPPr>
            <a:lvl1pPr algn="l">
              <a:defRPr sz="2100" b="0">
                <a:solidFill>
                  <a:srgbClr val="151515"/>
                </a:solidFill>
                <a:latin typeface="Arial"/>
                <a:ea typeface="Arial"/>
                <a:cs typeface="Arial"/>
              </a:defRPr>
            </a:lvl1pPr>
            <a:lvl2pPr algn="l">
              <a:defRPr sz="2100" b="0">
                <a:solidFill>
                  <a:srgbClr val="151515"/>
                </a:solidFill>
                <a:latin typeface="Arial"/>
                <a:ea typeface="Arial"/>
                <a:cs typeface="Arial"/>
              </a:defRPr>
            </a:lvl2pPr>
            <a:lvl3pPr algn="l">
              <a:defRPr sz="2100" b="0">
                <a:solidFill>
                  <a:srgbClr val="151515"/>
                </a:solidFill>
                <a:latin typeface="Arial"/>
                <a:ea typeface="Arial"/>
                <a:cs typeface="Arial"/>
              </a:defRPr>
            </a:lvl3pPr>
            <a:lvl4pPr algn="l">
              <a:defRPr sz="2100" b="0">
                <a:solidFill>
                  <a:srgbClr val="151515"/>
                </a:solidFill>
                <a:latin typeface="Arial"/>
                <a:ea typeface="Arial"/>
                <a:cs typeface="Arial"/>
              </a:defRPr>
            </a:lvl4pPr>
            <a:lvl5pPr algn="l">
              <a:defRPr sz="2100" b="0">
                <a:solidFill>
                  <a:srgbClr val="151515"/>
                </a:solidFill>
                <a:latin typeface="Arial"/>
                <a:ea typeface="Arial"/>
                <a:cs typeface="Arial"/>
              </a:defRPr>
            </a:lvl5pPr>
            <a:lvl6pPr algn="l">
              <a:defRPr sz="2100" b="0">
                <a:solidFill>
                  <a:srgbClr val="151515"/>
                </a:solidFill>
                <a:latin typeface="Arial"/>
                <a:ea typeface="Arial"/>
                <a:cs typeface="Arial"/>
              </a:defRPr>
            </a:lvl6pPr>
            <a:lvl7pPr algn="l">
              <a:defRPr sz="2100" b="0">
                <a:solidFill>
                  <a:srgbClr val="151515"/>
                </a:solidFill>
                <a:latin typeface="Arial"/>
                <a:ea typeface="Arial"/>
                <a:cs typeface="Arial"/>
              </a:defRPr>
            </a:lvl7pPr>
            <a:lvl8pPr algn="l">
              <a:defRPr sz="2100" b="0">
                <a:solidFill>
                  <a:srgbClr val="151515"/>
                </a:solidFill>
                <a:latin typeface="Arial"/>
                <a:ea typeface="Arial"/>
                <a:cs typeface="Arial"/>
              </a:defRPr>
            </a:lvl8pPr>
            <a:lvl9pPr algn="l">
              <a:defRPr sz="2100" b="0">
                <a:solidFill>
                  <a:srgbClr val="151515"/>
                </a:solidFill>
                <a:latin typeface="Arial"/>
                <a:ea typeface="Arial"/>
                <a:cs typeface="Arial"/>
              </a:defRPr>
            </a:lvl9pPr>
          </a:lstStyle>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Rolling window: the five most recent available surfaces.</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Global calibration: one threshold from all target scores in that window.</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Mondrian calibration: a 4 × 4 partition of (ρ, z).</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Bins with fewer than 10 scores use the global threshold.</a:t>
            </a:r>
          </a:p>
        </p:txBody>
      </p:sp>
      <p:sp>
        <p:nvSpPr>
          <p:cNvPr id="4" name="Applied bin threshold = 30% global + 70% raw ">
            <a:extLst xmlns:a="http://schemas.openxmlformats.org/drawingml/2006/main">
              <a:ext uri="{FF2B5EF4-FFF2-40B4-BE49-F238E27FC236}">
                <a16:creationId xmlns:a16="http://schemas.microsoft.com/office/drawing/2014/main" id="{215B347C-C1A2-46EB-B839-369B9BDF8873}"/>
              </a:ext>
            </a:extLst>
          </p:cNvPr>
          <p:cNvSpPr>
            <a:spLocks xmlns:a="http://schemas.openxmlformats.org/drawingml/2006/main" noGrp="1"/>
          </p:cNvSpPr>
          <p:nvPr/>
        </p:nvSpPr>
        <p:spPr>
          <a:xfrm xmlns:a="http://schemas.openxmlformats.org/drawingml/2006/main">
            <a:off x="619125" y="52101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4776C9"/>
                </a:solidFill>
                <a:latin typeface="Arial"/>
                <a:ea typeface="Arial"/>
                <a:cs typeface="Arial"/>
              </a:defRPr>
            </a:defPPr>
            <a:lvl1pPr algn="l">
              <a:defRPr sz="2250" b="1">
                <a:solidFill>
                  <a:srgbClr val="4776C9"/>
                </a:solidFill>
                <a:latin typeface="Arial"/>
                <a:ea typeface="Arial"/>
                <a:cs typeface="Arial"/>
              </a:defRPr>
            </a:lvl1pPr>
            <a:lvl2pPr algn="l">
              <a:defRPr sz="2250" b="1">
                <a:solidFill>
                  <a:srgbClr val="4776C9"/>
                </a:solidFill>
                <a:latin typeface="Arial"/>
                <a:ea typeface="Arial"/>
                <a:cs typeface="Arial"/>
              </a:defRPr>
            </a:lvl2pPr>
            <a:lvl3pPr algn="l">
              <a:defRPr sz="2250" b="1">
                <a:solidFill>
                  <a:srgbClr val="4776C9"/>
                </a:solidFill>
                <a:latin typeface="Arial"/>
                <a:ea typeface="Arial"/>
                <a:cs typeface="Arial"/>
              </a:defRPr>
            </a:lvl3pPr>
            <a:lvl4pPr algn="l">
              <a:defRPr sz="2250" b="1">
                <a:solidFill>
                  <a:srgbClr val="4776C9"/>
                </a:solidFill>
                <a:latin typeface="Arial"/>
                <a:ea typeface="Arial"/>
                <a:cs typeface="Arial"/>
              </a:defRPr>
            </a:lvl4pPr>
            <a:lvl5pPr algn="l">
              <a:defRPr sz="2250" b="1">
                <a:solidFill>
                  <a:srgbClr val="4776C9"/>
                </a:solidFill>
                <a:latin typeface="Arial"/>
                <a:ea typeface="Arial"/>
                <a:cs typeface="Arial"/>
              </a:defRPr>
            </a:lvl5pPr>
            <a:lvl6pPr algn="l">
              <a:defRPr sz="2250" b="1">
                <a:solidFill>
                  <a:srgbClr val="4776C9"/>
                </a:solidFill>
                <a:latin typeface="Arial"/>
                <a:ea typeface="Arial"/>
                <a:cs typeface="Arial"/>
              </a:defRPr>
            </a:lvl6pPr>
            <a:lvl7pPr algn="l">
              <a:defRPr sz="2250" b="1">
                <a:solidFill>
                  <a:srgbClr val="4776C9"/>
                </a:solidFill>
                <a:latin typeface="Arial"/>
                <a:ea typeface="Arial"/>
                <a:cs typeface="Arial"/>
              </a:defRPr>
            </a:lvl7pPr>
            <a:lvl8pPr algn="l">
              <a:defRPr sz="2250" b="1">
                <a:solidFill>
                  <a:srgbClr val="4776C9"/>
                </a:solidFill>
                <a:latin typeface="Arial"/>
                <a:ea typeface="Arial"/>
                <a:cs typeface="Arial"/>
              </a:defRPr>
            </a:lvl8pPr>
            <a:lvl9pPr algn="l">
              <a:defRPr sz="2250" b="1">
                <a:solidFill>
                  <a:srgbClr val="4776C9"/>
                </a:solidFill>
                <a:latin typeface="Arial"/>
                <a:ea typeface="Arial"/>
                <a:cs typeface="Arial"/>
              </a:defRPr>
            </a:lvl9pPr>
          </a:lstStyle>
          <a:p xmlns:a="http://schemas.openxmlformats.org/drawingml/2006/main">
            <a:pPr algn="l">
              <a:defRPr sz="2250" b="1">
                <a:solidFill>
                  <a:srgbClr val="4776C9"/>
                </a:solidFill>
                <a:latin typeface="Arial"/>
                <a:ea typeface="Arial"/>
                <a:cs typeface="Arial"/>
              </a:defRPr>
            </a:pPr>
            <a:r>
              <a:rPr sz="2250" b="1">
                <a:solidFill>
                  <a:srgbClr val="4776C9"/>
                </a:solidFill>
                <a:latin typeface="Arial"/>
                <a:ea typeface="Arial"/>
                <a:cs typeface="Arial"/>
              </a:rPr>
              <a:t>Applied bin threshold = 30% global + 70% raw local threshold</a:t>
            </a:r>
          </a:p>
        </p:txBody>
      </p:sp>
      <p:sp>
        <p:nvSpPr>
          <p:cNvPr id="5" name="The exact conformal rank is ceil(0.9(n + 1)),">
            <a:extLst xmlns:a="http://schemas.openxmlformats.org/drawingml/2006/main">
              <a:ext uri="{FF2B5EF4-FFF2-40B4-BE49-F238E27FC236}">
                <a16:creationId xmlns:a16="http://schemas.microsoft.com/office/drawing/2014/main" id="{E67AE733-E107-4630-85BE-4CEF8F4086F1}"/>
              </a:ext>
            </a:extLst>
          </p:cNvPr>
          <p:cNvSpPr>
            <a:spLocks xmlns:a="http://schemas.openxmlformats.org/drawingml/2006/main" noGrp="1"/>
          </p:cNvSpPr>
          <p:nvPr/>
        </p:nvSpPr>
        <p:spPr>
          <a:xfrm xmlns:a="http://schemas.openxmlformats.org/drawingml/2006/main">
            <a:off x="619125" y="598170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05050"/>
                </a:solidFill>
                <a:latin typeface="Arial"/>
                <a:ea typeface="Arial"/>
                <a:cs typeface="Arial"/>
              </a:defRPr>
            </a:defPPr>
            <a:lvl1pPr algn="l">
              <a:defRPr sz="1725" b="0">
                <a:solidFill>
                  <a:srgbClr val="505050"/>
                </a:solidFill>
                <a:latin typeface="Arial"/>
                <a:ea typeface="Arial"/>
                <a:cs typeface="Arial"/>
              </a:defRPr>
            </a:lvl1pPr>
            <a:lvl2pPr algn="l">
              <a:defRPr sz="1725" b="0">
                <a:solidFill>
                  <a:srgbClr val="505050"/>
                </a:solidFill>
                <a:latin typeface="Arial"/>
                <a:ea typeface="Arial"/>
                <a:cs typeface="Arial"/>
              </a:defRPr>
            </a:lvl2pPr>
            <a:lvl3pPr algn="l">
              <a:defRPr sz="1725" b="0">
                <a:solidFill>
                  <a:srgbClr val="505050"/>
                </a:solidFill>
                <a:latin typeface="Arial"/>
                <a:ea typeface="Arial"/>
                <a:cs typeface="Arial"/>
              </a:defRPr>
            </a:lvl3pPr>
            <a:lvl4pPr algn="l">
              <a:defRPr sz="1725" b="0">
                <a:solidFill>
                  <a:srgbClr val="505050"/>
                </a:solidFill>
                <a:latin typeface="Arial"/>
                <a:ea typeface="Arial"/>
                <a:cs typeface="Arial"/>
              </a:defRPr>
            </a:lvl4pPr>
            <a:lvl5pPr algn="l">
              <a:defRPr sz="1725" b="0">
                <a:solidFill>
                  <a:srgbClr val="505050"/>
                </a:solidFill>
                <a:latin typeface="Arial"/>
                <a:ea typeface="Arial"/>
                <a:cs typeface="Arial"/>
              </a:defRPr>
            </a:lvl5pPr>
            <a:lvl6pPr algn="l">
              <a:defRPr sz="1725" b="0">
                <a:solidFill>
                  <a:srgbClr val="505050"/>
                </a:solidFill>
                <a:latin typeface="Arial"/>
                <a:ea typeface="Arial"/>
                <a:cs typeface="Arial"/>
              </a:defRPr>
            </a:lvl6pPr>
            <a:lvl7pPr algn="l">
              <a:defRPr sz="1725" b="0">
                <a:solidFill>
                  <a:srgbClr val="505050"/>
                </a:solidFill>
                <a:latin typeface="Arial"/>
                <a:ea typeface="Arial"/>
                <a:cs typeface="Arial"/>
              </a:defRPr>
            </a:lvl7pPr>
            <a:lvl8pPr algn="l">
              <a:defRPr sz="1725" b="0">
                <a:solidFill>
                  <a:srgbClr val="505050"/>
                </a:solidFill>
                <a:latin typeface="Arial"/>
                <a:ea typeface="Arial"/>
                <a:cs typeface="Arial"/>
              </a:defRPr>
            </a:lvl8pPr>
            <a:lvl9pPr algn="l">
              <a:defRPr sz="1725" b="0">
                <a:solidFill>
                  <a:srgbClr val="505050"/>
                </a:solidFill>
                <a:latin typeface="Arial"/>
                <a:ea typeface="Arial"/>
                <a:cs typeface="Arial"/>
              </a:defRPr>
            </a:lvl9pPr>
          </a:lstStyle>
          <a:p xmlns:a="http://schemas.openxmlformats.org/drawingml/2006/main">
            <a:pPr algn="l">
              <a:defRPr sz="1725" b="0">
                <a:solidFill>
                  <a:srgbClr val="505050"/>
                </a:solidFill>
                <a:latin typeface="Arial"/>
                <a:ea typeface="Arial"/>
                <a:cs typeface="Arial"/>
              </a:defRPr>
            </a:pPr>
            <a:r>
              <a:rPr sz="1725" b="0">
                <a:solidFill>
                  <a:srgbClr val="505050"/>
                </a:solidFill>
                <a:latin typeface="Arial"/>
                <a:ea typeface="Arial"/>
                <a:cs typeface="Arial"/>
              </a:rPr>
              <a:t>The exact conformal rank is ceil(0.9(n + 1)), with q = ∞ if the rank exceeds n.</a:t>
            </a:r>
          </a:p>
        </p:txBody>
      </p:sp>
      <p:sp>
        <p:nvSpPr>
          <p:cNvPr id="6" name="source-line">
            <a:extLst xmlns:a="http://schemas.openxmlformats.org/drawingml/2006/main">
              <a:ext uri="{FF2B5EF4-FFF2-40B4-BE49-F238E27FC236}">
                <a16:creationId xmlns:a16="http://schemas.microsoft.com/office/drawing/2014/main" id="{1781B74D-4BA8-48CF-B746-7629A6B152F5}"/>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notebook cells 4 and 6, thesis §§3.3 and 4.4</a:t>
            </a:r>
          </a:p>
        </p:txBody>
      </p:sp>
      <p:sp>
        <p:nvSpPr>
          <p:cNvPr id="7" name="slide-number">
            <a:extLst xmlns:a="http://schemas.openxmlformats.org/drawingml/2006/main">
              <a:ext uri="{FF2B5EF4-FFF2-40B4-BE49-F238E27FC236}">
                <a16:creationId xmlns:a16="http://schemas.microsoft.com/office/drawing/2014/main" id="{7A1A05F7-BC95-40DA-B2E4-3AADFEE36677}"/>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11</a:t>
            </a:r>
          </a:p>
        </p:txBody>
      </p:sp>
    </p:spTree>
    <p:extLst>
      <p:ext uri="{BB962C8B-B14F-4D97-AF65-F5344CB8AC3E}">
        <p14:creationId xmlns:p14="http://schemas.microsoft.com/office/powerpoint/2010/main" val="3297538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6C9F924-03C8-4972-B5C1-BD6012AAC546}"/>
              </a:ext>
            </a:extLst>
          </p:cNvPr>
          <p:cNvPicPr>
            <a:picLocks xmlns:a="http://schemas.openxmlformats.org/drawingml/2006/main" noChangeAspect="1"/>
          </p:cNvPicPr>
          <p:nvPr/>
        </p:nvPicPr>
        <p:blipFill>
          <a:blip xmlns:r="http://schemas.openxmlformats.org/officeDocument/2006/relationships" xmlns:a="http://schemas.openxmlformats.org/drawingml/2006/main" r:embed="R8de5f9ad194e40a2"/>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4B7BA55A-7844-4E0A-A923-5D4DAE351BC4}"/>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Each score determines its band construction</a:t>
            </a:r>
          </a:p>
        </p:txBody>
      </p:sp>
      <p:sp>
        <p:nvSpPr>
          <p:cNvPr id="3" name="Score A: price-spread bands">
            <a:extLst xmlns:a="http://schemas.openxmlformats.org/drawingml/2006/main">
              <a:ext uri="{FF2B5EF4-FFF2-40B4-BE49-F238E27FC236}">
                <a16:creationId xmlns:a16="http://schemas.microsoft.com/office/drawing/2014/main" id="{16E24C81-32AC-4AE3-886B-D31F4F223D01}"/>
              </a:ext>
            </a:extLst>
          </p:cNvPr>
          <p:cNvSpPr>
            <a:spLocks xmlns:a="http://schemas.openxmlformats.org/drawingml/2006/main" noGrp="1"/>
          </p:cNvSpPr>
          <p:nvPr/>
        </p:nvSpPr>
        <p:spPr>
          <a:xfrm xmlns:a="http://schemas.openxmlformats.org/drawingml/2006/main">
            <a:off x="523875" y="1714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4776C9"/>
                </a:solidFill>
                <a:latin typeface="Arial"/>
                <a:ea typeface="Arial"/>
                <a:cs typeface="Arial"/>
              </a:defRPr>
            </a:defPPr>
            <a:lvl1pPr algn="l">
              <a:defRPr sz="2175" b="1">
                <a:solidFill>
                  <a:srgbClr val="4776C9"/>
                </a:solidFill>
                <a:latin typeface="Arial"/>
                <a:ea typeface="Arial"/>
                <a:cs typeface="Arial"/>
              </a:defRPr>
            </a:lvl1pPr>
            <a:lvl2pPr algn="l">
              <a:defRPr sz="2175" b="1">
                <a:solidFill>
                  <a:srgbClr val="4776C9"/>
                </a:solidFill>
                <a:latin typeface="Arial"/>
                <a:ea typeface="Arial"/>
                <a:cs typeface="Arial"/>
              </a:defRPr>
            </a:lvl2pPr>
            <a:lvl3pPr algn="l">
              <a:defRPr sz="2175" b="1">
                <a:solidFill>
                  <a:srgbClr val="4776C9"/>
                </a:solidFill>
                <a:latin typeface="Arial"/>
                <a:ea typeface="Arial"/>
                <a:cs typeface="Arial"/>
              </a:defRPr>
            </a:lvl3pPr>
            <a:lvl4pPr algn="l">
              <a:defRPr sz="2175" b="1">
                <a:solidFill>
                  <a:srgbClr val="4776C9"/>
                </a:solidFill>
                <a:latin typeface="Arial"/>
                <a:ea typeface="Arial"/>
                <a:cs typeface="Arial"/>
              </a:defRPr>
            </a:lvl4pPr>
            <a:lvl5pPr algn="l">
              <a:defRPr sz="2175" b="1">
                <a:solidFill>
                  <a:srgbClr val="4776C9"/>
                </a:solidFill>
                <a:latin typeface="Arial"/>
                <a:ea typeface="Arial"/>
                <a:cs typeface="Arial"/>
              </a:defRPr>
            </a:lvl5pPr>
            <a:lvl6pPr algn="l">
              <a:defRPr sz="2175" b="1">
                <a:solidFill>
                  <a:srgbClr val="4776C9"/>
                </a:solidFill>
                <a:latin typeface="Arial"/>
                <a:ea typeface="Arial"/>
                <a:cs typeface="Arial"/>
              </a:defRPr>
            </a:lvl6pPr>
            <a:lvl7pPr algn="l">
              <a:defRPr sz="2175" b="1">
                <a:solidFill>
                  <a:srgbClr val="4776C9"/>
                </a:solidFill>
                <a:latin typeface="Arial"/>
                <a:ea typeface="Arial"/>
                <a:cs typeface="Arial"/>
              </a:defRPr>
            </a:lvl7pPr>
            <a:lvl8pPr algn="l">
              <a:defRPr sz="2175" b="1">
                <a:solidFill>
                  <a:srgbClr val="4776C9"/>
                </a:solidFill>
                <a:latin typeface="Arial"/>
                <a:ea typeface="Arial"/>
                <a:cs typeface="Arial"/>
              </a:defRPr>
            </a:lvl8pPr>
            <a:lvl9pPr algn="l">
              <a:defRPr sz="2175" b="1">
                <a:solidFill>
                  <a:srgbClr val="4776C9"/>
                </a:solidFill>
                <a:latin typeface="Arial"/>
                <a:ea typeface="Arial"/>
                <a:cs typeface="Arial"/>
              </a:defRPr>
            </a:lvl9pPr>
          </a:lstStyle>
          <a:p xmlns:a="http://schemas.openxmlformats.org/drawingml/2006/main">
            <a:pPr algn="l">
              <a:defRPr sz="2175" b="1">
                <a:solidFill>
                  <a:srgbClr val="4776C9"/>
                </a:solidFill>
                <a:latin typeface="Arial"/>
                <a:ea typeface="Arial"/>
                <a:cs typeface="Arial"/>
              </a:defRPr>
            </a:pPr>
            <a:r>
              <a:rPr sz="2175" b="1">
                <a:solidFill>
                  <a:srgbClr val="4776C9"/>
                </a:solidFill>
                <a:latin typeface="Arial"/>
                <a:ea typeface="Arial"/>
                <a:cs typeface="Arial"/>
              </a:rPr>
              <a:t>Score A: price-spread bands</a:t>
            </a:r>
          </a:p>
        </p:txBody>
      </p:sp>
      <p:sp>
        <p:nvSpPr>
          <p:cNvPr id="4" name="Price half-width:  hP = q s / 2">
            <a:extLst xmlns:a="http://schemas.openxmlformats.org/drawingml/2006/main">
              <a:ext uri="{FF2B5EF4-FFF2-40B4-BE49-F238E27FC236}">
                <a16:creationId xmlns:a16="http://schemas.microsoft.com/office/drawing/2014/main" id="{FFE1950D-881F-4B10-90CC-DAD70D303748}"/>
              </a:ext>
            </a:extLst>
          </p:cNvPr>
          <p:cNvSpPr>
            <a:spLocks xmlns:a="http://schemas.openxmlformats.org/drawingml/2006/main" noGrp="1"/>
          </p:cNvSpPr>
          <p:nvPr/>
        </p:nvSpPr>
        <p:spPr>
          <a:xfrm xmlns:a="http://schemas.openxmlformats.org/drawingml/2006/main">
            <a:off x="523875" y="25431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51515"/>
                </a:solidFill>
                <a:latin typeface="Arial"/>
                <a:ea typeface="Arial"/>
                <a:cs typeface="Arial"/>
              </a:defRPr>
            </a:defPPr>
            <a:lvl1pPr algn="l">
              <a:defRPr sz="2175" b="0">
                <a:solidFill>
                  <a:srgbClr val="151515"/>
                </a:solidFill>
                <a:latin typeface="Arial"/>
                <a:ea typeface="Arial"/>
                <a:cs typeface="Arial"/>
              </a:defRPr>
            </a:lvl1pPr>
            <a:lvl2pPr algn="l">
              <a:defRPr sz="2175" b="0">
                <a:solidFill>
                  <a:srgbClr val="151515"/>
                </a:solidFill>
                <a:latin typeface="Arial"/>
                <a:ea typeface="Arial"/>
                <a:cs typeface="Arial"/>
              </a:defRPr>
            </a:lvl2pPr>
            <a:lvl3pPr algn="l">
              <a:defRPr sz="2175" b="0">
                <a:solidFill>
                  <a:srgbClr val="151515"/>
                </a:solidFill>
                <a:latin typeface="Arial"/>
                <a:ea typeface="Arial"/>
                <a:cs typeface="Arial"/>
              </a:defRPr>
            </a:lvl3pPr>
            <a:lvl4pPr algn="l">
              <a:defRPr sz="2175" b="0">
                <a:solidFill>
                  <a:srgbClr val="151515"/>
                </a:solidFill>
                <a:latin typeface="Arial"/>
                <a:ea typeface="Arial"/>
                <a:cs typeface="Arial"/>
              </a:defRPr>
            </a:lvl4pPr>
            <a:lvl5pPr algn="l">
              <a:defRPr sz="2175" b="0">
                <a:solidFill>
                  <a:srgbClr val="151515"/>
                </a:solidFill>
                <a:latin typeface="Arial"/>
                <a:ea typeface="Arial"/>
                <a:cs typeface="Arial"/>
              </a:defRPr>
            </a:lvl5pPr>
            <a:lvl6pPr algn="l">
              <a:defRPr sz="2175" b="0">
                <a:solidFill>
                  <a:srgbClr val="151515"/>
                </a:solidFill>
                <a:latin typeface="Arial"/>
                <a:ea typeface="Arial"/>
                <a:cs typeface="Arial"/>
              </a:defRPr>
            </a:lvl6pPr>
            <a:lvl7pPr algn="l">
              <a:defRPr sz="2175" b="0">
                <a:solidFill>
                  <a:srgbClr val="151515"/>
                </a:solidFill>
                <a:latin typeface="Arial"/>
                <a:ea typeface="Arial"/>
                <a:cs typeface="Arial"/>
              </a:defRPr>
            </a:lvl7pPr>
            <a:lvl8pPr algn="l">
              <a:defRPr sz="2175" b="0">
                <a:solidFill>
                  <a:srgbClr val="151515"/>
                </a:solidFill>
                <a:latin typeface="Arial"/>
                <a:ea typeface="Arial"/>
                <a:cs typeface="Arial"/>
              </a:defRPr>
            </a:lvl8pPr>
            <a:lvl9pPr algn="l">
              <a:defRPr sz="2175" b="0">
                <a:solidFill>
                  <a:srgbClr val="151515"/>
                </a:solidFill>
                <a:latin typeface="Arial"/>
                <a:ea typeface="Arial"/>
                <a:cs typeface="Arial"/>
              </a:defRPr>
            </a:lvl9pPr>
          </a:lstStyle>
          <a:p xmlns:a="http://schemas.openxmlformats.org/drawingml/2006/main">
            <a:pPr algn="l">
              <a:defRPr sz="2175" b="0">
                <a:solidFill>
                  <a:srgbClr val="151515"/>
                </a:solidFill>
                <a:latin typeface="Arial"/>
                <a:ea typeface="Arial"/>
                <a:cs typeface="Arial"/>
              </a:defRPr>
            </a:pPr>
            <a:r>
              <a:rPr sz="2175" b="0">
                <a:solidFill>
                  <a:srgbClr val="151515"/>
                </a:solidFill>
                <a:latin typeface="Arial"/>
                <a:ea typeface="Arial"/>
                <a:cs typeface="Arial"/>
              </a:rPr>
              <a:t>Price half-width:  hP = q s / 2</a:t>
            </a:r>
          </a:p>
        </p:txBody>
      </p:sp>
      <p:sp>
        <p:nvSpPr>
          <p:cNvPr id="5" name="Price endpoints:  P(v̂) ± hP">
            <a:extLst xmlns:a="http://schemas.openxmlformats.org/drawingml/2006/main">
              <a:ext uri="{FF2B5EF4-FFF2-40B4-BE49-F238E27FC236}">
                <a16:creationId xmlns:a16="http://schemas.microsoft.com/office/drawing/2014/main" id="{D836B105-07E6-4400-8405-DB56D97ED340}"/>
              </a:ext>
            </a:extLst>
          </p:cNvPr>
          <p:cNvSpPr>
            <a:spLocks xmlns:a="http://schemas.openxmlformats.org/drawingml/2006/main" noGrp="1"/>
          </p:cNvSpPr>
          <p:nvPr/>
        </p:nvSpPr>
        <p:spPr>
          <a:xfrm xmlns:a="http://schemas.openxmlformats.org/drawingml/2006/main">
            <a:off x="523875" y="32099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51515"/>
                </a:solidFill>
                <a:latin typeface="Arial"/>
                <a:ea typeface="Arial"/>
                <a:cs typeface="Arial"/>
              </a:defRPr>
            </a:defPPr>
            <a:lvl1pPr algn="l">
              <a:defRPr sz="2100" b="0">
                <a:solidFill>
                  <a:srgbClr val="151515"/>
                </a:solidFill>
                <a:latin typeface="Arial"/>
                <a:ea typeface="Arial"/>
                <a:cs typeface="Arial"/>
              </a:defRPr>
            </a:lvl1pPr>
            <a:lvl2pPr algn="l">
              <a:defRPr sz="2100" b="0">
                <a:solidFill>
                  <a:srgbClr val="151515"/>
                </a:solidFill>
                <a:latin typeface="Arial"/>
                <a:ea typeface="Arial"/>
                <a:cs typeface="Arial"/>
              </a:defRPr>
            </a:lvl2pPr>
            <a:lvl3pPr algn="l">
              <a:defRPr sz="2100" b="0">
                <a:solidFill>
                  <a:srgbClr val="151515"/>
                </a:solidFill>
                <a:latin typeface="Arial"/>
                <a:ea typeface="Arial"/>
                <a:cs typeface="Arial"/>
              </a:defRPr>
            </a:lvl3pPr>
            <a:lvl4pPr algn="l">
              <a:defRPr sz="2100" b="0">
                <a:solidFill>
                  <a:srgbClr val="151515"/>
                </a:solidFill>
                <a:latin typeface="Arial"/>
                <a:ea typeface="Arial"/>
                <a:cs typeface="Arial"/>
              </a:defRPr>
            </a:lvl4pPr>
            <a:lvl5pPr algn="l">
              <a:defRPr sz="2100" b="0">
                <a:solidFill>
                  <a:srgbClr val="151515"/>
                </a:solidFill>
                <a:latin typeface="Arial"/>
                <a:ea typeface="Arial"/>
                <a:cs typeface="Arial"/>
              </a:defRPr>
            </a:lvl5pPr>
            <a:lvl6pPr algn="l">
              <a:defRPr sz="2100" b="0">
                <a:solidFill>
                  <a:srgbClr val="151515"/>
                </a:solidFill>
                <a:latin typeface="Arial"/>
                <a:ea typeface="Arial"/>
                <a:cs typeface="Arial"/>
              </a:defRPr>
            </a:lvl6pPr>
            <a:lvl7pPr algn="l">
              <a:defRPr sz="2100" b="0">
                <a:solidFill>
                  <a:srgbClr val="151515"/>
                </a:solidFill>
                <a:latin typeface="Arial"/>
                <a:ea typeface="Arial"/>
                <a:cs typeface="Arial"/>
              </a:defRPr>
            </a:lvl7pPr>
            <a:lvl8pPr algn="l">
              <a:defRPr sz="2100" b="0">
                <a:solidFill>
                  <a:srgbClr val="151515"/>
                </a:solidFill>
                <a:latin typeface="Arial"/>
                <a:ea typeface="Arial"/>
                <a:cs typeface="Arial"/>
              </a:defRPr>
            </a:lvl8pPr>
            <a:lvl9pPr algn="l">
              <a:defRPr sz="2100" b="0">
                <a:solidFill>
                  <a:srgbClr val="151515"/>
                </a:solidFill>
                <a:latin typeface="Arial"/>
                <a:ea typeface="Arial"/>
                <a:cs typeface="Arial"/>
              </a:defRPr>
            </a:lvl9pPr>
          </a:lstStyle>
          <a:p xmlns:a="http://schemas.openxmlformats.org/drawingml/2006/main">
            <a:pPr algn="l">
              <a:defRPr sz="2100" b="0">
                <a:solidFill>
                  <a:srgbClr val="151515"/>
                </a:solidFill>
                <a:latin typeface="Arial"/>
                <a:ea typeface="Arial"/>
                <a:cs typeface="Arial"/>
              </a:defRPr>
            </a:pPr>
            <a:r>
              <a:rPr sz="2100" b="0">
                <a:solidFill>
                  <a:srgbClr val="151515"/>
                </a:solidFill>
                <a:latin typeface="Arial"/>
                <a:ea typeface="Arial"/>
                <a:cs typeface="Arial"/>
              </a:rPr>
              <a:t>Price endpoints:  P(v̂) ± hP</a:t>
            </a:r>
          </a:p>
        </p:txBody>
      </p:sp>
      <p:sp>
        <p:nvSpPr>
          <p:cNvPr id="6" name="Invert each endpoint to IV using Brent’s meth">
            <a:extLst xmlns:a="http://schemas.openxmlformats.org/drawingml/2006/main">
              <a:ext uri="{FF2B5EF4-FFF2-40B4-BE49-F238E27FC236}">
                <a16:creationId xmlns:a16="http://schemas.microsoft.com/office/drawing/2014/main" id="{39248A76-4457-4588-9513-D0C8B36E8EF4}"/>
              </a:ext>
            </a:extLst>
          </p:cNvPr>
          <p:cNvSpPr>
            <a:spLocks xmlns:a="http://schemas.openxmlformats.org/drawingml/2006/main" noGrp="1"/>
          </p:cNvSpPr>
          <p:nvPr/>
        </p:nvSpPr>
        <p:spPr>
          <a:xfrm xmlns:a="http://schemas.openxmlformats.org/drawingml/2006/main">
            <a:off x="523875" y="4171950"/>
            <a:ext cx="5191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algn="l">
              <a:defRPr sz="2025" b="0">
                <a:solidFill>
                  <a:srgbClr val="151515"/>
                </a:solidFill>
                <a:latin typeface="Arial"/>
                <a:ea typeface="Arial"/>
                <a:cs typeface="Arial"/>
              </a:defRPr>
            </a:pPr>
            <a:r>
              <a:rPr sz="2025" b="0">
                <a:solidFill>
                  <a:srgbClr val="151515"/>
                </a:solidFill>
                <a:latin typeface="Arial"/>
                <a:ea typeface="Arial"/>
                <a:cs typeface="Arial"/>
              </a:rPr>
              <a:t>Invert each endpoint to IV using Brent’s method over [0.0001, 5].</a:t>
            </a:r>
          </a:p>
        </p:txBody>
      </p:sp>
      <p:sp>
        <p:nvSpPr>
          <p:cNvPr id="7" name="Score B: direct IV bands">
            <a:extLst xmlns:a="http://schemas.openxmlformats.org/drawingml/2006/main">
              <a:ext uri="{FF2B5EF4-FFF2-40B4-BE49-F238E27FC236}">
                <a16:creationId xmlns:a16="http://schemas.microsoft.com/office/drawing/2014/main" id="{DFC1EA7F-A1B2-4889-BE47-0B60E1050957}"/>
              </a:ext>
            </a:extLst>
          </p:cNvPr>
          <p:cNvSpPr>
            <a:spLocks xmlns:a="http://schemas.openxmlformats.org/drawingml/2006/main" noGrp="1"/>
          </p:cNvSpPr>
          <p:nvPr/>
        </p:nvSpPr>
        <p:spPr>
          <a:xfrm xmlns:a="http://schemas.openxmlformats.org/drawingml/2006/main">
            <a:off x="6477000" y="1714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4776C9"/>
                </a:solidFill>
                <a:latin typeface="Arial"/>
                <a:ea typeface="Arial"/>
                <a:cs typeface="Arial"/>
              </a:defRPr>
            </a:defPPr>
            <a:lvl1pPr algn="l">
              <a:defRPr sz="2175" b="1">
                <a:solidFill>
                  <a:srgbClr val="4776C9"/>
                </a:solidFill>
                <a:latin typeface="Arial"/>
                <a:ea typeface="Arial"/>
                <a:cs typeface="Arial"/>
              </a:defRPr>
            </a:lvl1pPr>
            <a:lvl2pPr algn="l">
              <a:defRPr sz="2175" b="1">
                <a:solidFill>
                  <a:srgbClr val="4776C9"/>
                </a:solidFill>
                <a:latin typeface="Arial"/>
                <a:ea typeface="Arial"/>
                <a:cs typeface="Arial"/>
              </a:defRPr>
            </a:lvl2pPr>
            <a:lvl3pPr algn="l">
              <a:defRPr sz="2175" b="1">
                <a:solidFill>
                  <a:srgbClr val="4776C9"/>
                </a:solidFill>
                <a:latin typeface="Arial"/>
                <a:ea typeface="Arial"/>
                <a:cs typeface="Arial"/>
              </a:defRPr>
            </a:lvl3pPr>
            <a:lvl4pPr algn="l">
              <a:defRPr sz="2175" b="1">
                <a:solidFill>
                  <a:srgbClr val="4776C9"/>
                </a:solidFill>
                <a:latin typeface="Arial"/>
                <a:ea typeface="Arial"/>
                <a:cs typeface="Arial"/>
              </a:defRPr>
            </a:lvl4pPr>
            <a:lvl5pPr algn="l">
              <a:defRPr sz="2175" b="1">
                <a:solidFill>
                  <a:srgbClr val="4776C9"/>
                </a:solidFill>
                <a:latin typeface="Arial"/>
                <a:ea typeface="Arial"/>
                <a:cs typeface="Arial"/>
              </a:defRPr>
            </a:lvl5pPr>
            <a:lvl6pPr algn="l">
              <a:defRPr sz="2175" b="1">
                <a:solidFill>
                  <a:srgbClr val="4776C9"/>
                </a:solidFill>
                <a:latin typeface="Arial"/>
                <a:ea typeface="Arial"/>
                <a:cs typeface="Arial"/>
              </a:defRPr>
            </a:lvl6pPr>
            <a:lvl7pPr algn="l">
              <a:defRPr sz="2175" b="1">
                <a:solidFill>
                  <a:srgbClr val="4776C9"/>
                </a:solidFill>
                <a:latin typeface="Arial"/>
                <a:ea typeface="Arial"/>
                <a:cs typeface="Arial"/>
              </a:defRPr>
            </a:lvl7pPr>
            <a:lvl8pPr algn="l">
              <a:defRPr sz="2175" b="1">
                <a:solidFill>
                  <a:srgbClr val="4776C9"/>
                </a:solidFill>
                <a:latin typeface="Arial"/>
                <a:ea typeface="Arial"/>
                <a:cs typeface="Arial"/>
              </a:defRPr>
            </a:lvl8pPr>
            <a:lvl9pPr algn="l">
              <a:defRPr sz="2175" b="1">
                <a:solidFill>
                  <a:srgbClr val="4776C9"/>
                </a:solidFill>
                <a:latin typeface="Arial"/>
                <a:ea typeface="Arial"/>
                <a:cs typeface="Arial"/>
              </a:defRPr>
            </a:lvl9pPr>
          </a:lstStyle>
          <a:p xmlns:a="http://schemas.openxmlformats.org/drawingml/2006/main">
            <a:pPr algn="l">
              <a:defRPr sz="2175" b="1">
                <a:solidFill>
                  <a:srgbClr val="4776C9"/>
                </a:solidFill>
                <a:latin typeface="Arial"/>
                <a:ea typeface="Arial"/>
                <a:cs typeface="Arial"/>
              </a:defRPr>
            </a:pPr>
            <a:r>
              <a:rPr sz="2175" b="1">
                <a:solidFill>
                  <a:srgbClr val="4776C9"/>
                </a:solidFill>
                <a:latin typeface="Arial"/>
                <a:ea typeface="Arial"/>
                <a:cs typeface="Arial"/>
              </a:rPr>
              <a:t>Score B: direct IV bands</a:t>
            </a:r>
          </a:p>
        </p:txBody>
      </p:sp>
      <p:sp>
        <p:nvSpPr>
          <p:cNvPr id="8" name="IV half-width:  h = q / w(v̂)">
            <a:extLst xmlns:a="http://schemas.openxmlformats.org/drawingml/2006/main">
              <a:ext uri="{FF2B5EF4-FFF2-40B4-BE49-F238E27FC236}">
                <a16:creationId xmlns:a16="http://schemas.microsoft.com/office/drawing/2014/main" id="{FF8D21FC-ED8B-47D3-839E-3F5169EDF351}"/>
              </a:ext>
            </a:extLst>
          </p:cNvPr>
          <p:cNvSpPr>
            <a:spLocks xmlns:a="http://schemas.openxmlformats.org/drawingml/2006/main" noGrp="1"/>
          </p:cNvSpPr>
          <p:nvPr/>
        </p:nvSpPr>
        <p:spPr>
          <a:xfrm xmlns:a="http://schemas.openxmlformats.org/drawingml/2006/main">
            <a:off x="6477000" y="25431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51515"/>
                </a:solidFill>
                <a:latin typeface="Arial"/>
                <a:ea typeface="Arial"/>
                <a:cs typeface="Arial"/>
              </a:defRPr>
            </a:defPPr>
            <a:lvl1pPr algn="l">
              <a:defRPr sz="2175" b="0">
                <a:solidFill>
                  <a:srgbClr val="151515"/>
                </a:solidFill>
                <a:latin typeface="Arial"/>
                <a:ea typeface="Arial"/>
                <a:cs typeface="Arial"/>
              </a:defRPr>
            </a:lvl1pPr>
            <a:lvl2pPr algn="l">
              <a:defRPr sz="2175" b="0">
                <a:solidFill>
                  <a:srgbClr val="151515"/>
                </a:solidFill>
                <a:latin typeface="Arial"/>
                <a:ea typeface="Arial"/>
                <a:cs typeface="Arial"/>
              </a:defRPr>
            </a:lvl2pPr>
            <a:lvl3pPr algn="l">
              <a:defRPr sz="2175" b="0">
                <a:solidFill>
                  <a:srgbClr val="151515"/>
                </a:solidFill>
                <a:latin typeface="Arial"/>
                <a:ea typeface="Arial"/>
                <a:cs typeface="Arial"/>
              </a:defRPr>
            </a:lvl3pPr>
            <a:lvl4pPr algn="l">
              <a:defRPr sz="2175" b="0">
                <a:solidFill>
                  <a:srgbClr val="151515"/>
                </a:solidFill>
                <a:latin typeface="Arial"/>
                <a:ea typeface="Arial"/>
                <a:cs typeface="Arial"/>
              </a:defRPr>
            </a:lvl4pPr>
            <a:lvl5pPr algn="l">
              <a:defRPr sz="2175" b="0">
                <a:solidFill>
                  <a:srgbClr val="151515"/>
                </a:solidFill>
                <a:latin typeface="Arial"/>
                <a:ea typeface="Arial"/>
                <a:cs typeface="Arial"/>
              </a:defRPr>
            </a:lvl5pPr>
            <a:lvl6pPr algn="l">
              <a:defRPr sz="2175" b="0">
                <a:solidFill>
                  <a:srgbClr val="151515"/>
                </a:solidFill>
                <a:latin typeface="Arial"/>
                <a:ea typeface="Arial"/>
                <a:cs typeface="Arial"/>
              </a:defRPr>
            </a:lvl6pPr>
            <a:lvl7pPr algn="l">
              <a:defRPr sz="2175" b="0">
                <a:solidFill>
                  <a:srgbClr val="151515"/>
                </a:solidFill>
                <a:latin typeface="Arial"/>
                <a:ea typeface="Arial"/>
                <a:cs typeface="Arial"/>
              </a:defRPr>
            </a:lvl7pPr>
            <a:lvl8pPr algn="l">
              <a:defRPr sz="2175" b="0">
                <a:solidFill>
                  <a:srgbClr val="151515"/>
                </a:solidFill>
                <a:latin typeface="Arial"/>
                <a:ea typeface="Arial"/>
                <a:cs typeface="Arial"/>
              </a:defRPr>
            </a:lvl8pPr>
            <a:lvl9pPr algn="l">
              <a:defRPr sz="2175" b="0">
                <a:solidFill>
                  <a:srgbClr val="151515"/>
                </a:solidFill>
                <a:latin typeface="Arial"/>
                <a:ea typeface="Arial"/>
                <a:cs typeface="Arial"/>
              </a:defRPr>
            </a:lvl9pPr>
          </a:lstStyle>
          <a:p xmlns:a="http://schemas.openxmlformats.org/drawingml/2006/main">
            <a:pPr algn="l">
              <a:defRPr sz="2175" b="0">
                <a:solidFill>
                  <a:srgbClr val="151515"/>
                </a:solidFill>
                <a:latin typeface="Arial"/>
                <a:ea typeface="Arial"/>
                <a:cs typeface="Arial"/>
              </a:defRPr>
            </a:pPr>
            <a:r>
              <a:rPr sz="2175" b="0">
                <a:solidFill>
                  <a:srgbClr val="151515"/>
                </a:solidFill>
                <a:latin typeface="Arial"/>
                <a:ea typeface="Arial"/>
                <a:cs typeface="Arial"/>
              </a:rPr>
              <a:t>IV half-width:  h = q / w(v̂)</a:t>
            </a:r>
          </a:p>
        </p:txBody>
      </p:sp>
      <p:sp>
        <p:nvSpPr>
          <p:cNvPr id="9" name="Lower = max(v̂ − h, 0.0001)">
            <a:extLst xmlns:a="http://schemas.openxmlformats.org/drawingml/2006/main">
              <a:ext uri="{FF2B5EF4-FFF2-40B4-BE49-F238E27FC236}">
                <a16:creationId xmlns:a16="http://schemas.microsoft.com/office/drawing/2014/main" id="{DA5F47DF-6196-4F27-B0FC-F290EB4AFD1D}"/>
              </a:ext>
            </a:extLst>
          </p:cNvPr>
          <p:cNvSpPr>
            <a:spLocks xmlns:a="http://schemas.openxmlformats.org/drawingml/2006/main" noGrp="1"/>
          </p:cNvSpPr>
          <p:nvPr/>
        </p:nvSpPr>
        <p:spPr>
          <a:xfrm xmlns:a="http://schemas.openxmlformats.org/drawingml/2006/main">
            <a:off x="6477000" y="32099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51515"/>
                </a:solidFill>
                <a:latin typeface="Arial"/>
                <a:ea typeface="Arial"/>
                <a:cs typeface="Arial"/>
              </a:defRPr>
            </a:defPPr>
            <a:lvl1pPr algn="l">
              <a:defRPr sz="2100" b="0">
                <a:solidFill>
                  <a:srgbClr val="151515"/>
                </a:solidFill>
                <a:latin typeface="Arial"/>
                <a:ea typeface="Arial"/>
                <a:cs typeface="Arial"/>
              </a:defRPr>
            </a:lvl1pPr>
            <a:lvl2pPr algn="l">
              <a:defRPr sz="2100" b="0">
                <a:solidFill>
                  <a:srgbClr val="151515"/>
                </a:solidFill>
                <a:latin typeface="Arial"/>
                <a:ea typeface="Arial"/>
                <a:cs typeface="Arial"/>
              </a:defRPr>
            </a:lvl2pPr>
            <a:lvl3pPr algn="l">
              <a:defRPr sz="2100" b="0">
                <a:solidFill>
                  <a:srgbClr val="151515"/>
                </a:solidFill>
                <a:latin typeface="Arial"/>
                <a:ea typeface="Arial"/>
                <a:cs typeface="Arial"/>
              </a:defRPr>
            </a:lvl3pPr>
            <a:lvl4pPr algn="l">
              <a:defRPr sz="2100" b="0">
                <a:solidFill>
                  <a:srgbClr val="151515"/>
                </a:solidFill>
                <a:latin typeface="Arial"/>
                <a:ea typeface="Arial"/>
                <a:cs typeface="Arial"/>
              </a:defRPr>
            </a:lvl4pPr>
            <a:lvl5pPr algn="l">
              <a:defRPr sz="2100" b="0">
                <a:solidFill>
                  <a:srgbClr val="151515"/>
                </a:solidFill>
                <a:latin typeface="Arial"/>
                <a:ea typeface="Arial"/>
                <a:cs typeface="Arial"/>
              </a:defRPr>
            </a:lvl5pPr>
            <a:lvl6pPr algn="l">
              <a:defRPr sz="2100" b="0">
                <a:solidFill>
                  <a:srgbClr val="151515"/>
                </a:solidFill>
                <a:latin typeface="Arial"/>
                <a:ea typeface="Arial"/>
                <a:cs typeface="Arial"/>
              </a:defRPr>
            </a:lvl6pPr>
            <a:lvl7pPr algn="l">
              <a:defRPr sz="2100" b="0">
                <a:solidFill>
                  <a:srgbClr val="151515"/>
                </a:solidFill>
                <a:latin typeface="Arial"/>
                <a:ea typeface="Arial"/>
                <a:cs typeface="Arial"/>
              </a:defRPr>
            </a:lvl7pPr>
            <a:lvl8pPr algn="l">
              <a:defRPr sz="2100" b="0">
                <a:solidFill>
                  <a:srgbClr val="151515"/>
                </a:solidFill>
                <a:latin typeface="Arial"/>
                <a:ea typeface="Arial"/>
                <a:cs typeface="Arial"/>
              </a:defRPr>
            </a:lvl8pPr>
            <a:lvl9pPr algn="l">
              <a:defRPr sz="2100" b="0">
                <a:solidFill>
                  <a:srgbClr val="151515"/>
                </a:solidFill>
                <a:latin typeface="Arial"/>
                <a:ea typeface="Arial"/>
                <a:cs typeface="Arial"/>
              </a:defRPr>
            </a:lvl9pPr>
          </a:lstStyle>
          <a:p xmlns:a="http://schemas.openxmlformats.org/drawingml/2006/main">
            <a:pPr algn="l">
              <a:defRPr sz="2100" b="0">
                <a:solidFill>
                  <a:srgbClr val="151515"/>
                </a:solidFill>
                <a:latin typeface="Arial"/>
                <a:ea typeface="Arial"/>
                <a:cs typeface="Arial"/>
              </a:defRPr>
            </a:pPr>
            <a:r>
              <a:rPr sz="2100" b="0">
                <a:solidFill>
                  <a:srgbClr val="151515"/>
                </a:solidFill>
                <a:latin typeface="Arial"/>
                <a:ea typeface="Arial"/>
                <a:cs typeface="Arial"/>
              </a:rPr>
              <a:t>Lower = max(v̂ − h, 0.0001)</a:t>
            </a:r>
          </a:p>
        </p:txBody>
      </p:sp>
      <p:sp>
        <p:nvSpPr>
          <p:cNvPr id="10" name="Upper = v̂ + h">
            <a:extLst xmlns:a="http://schemas.openxmlformats.org/drawingml/2006/main">
              <a:ext uri="{FF2B5EF4-FFF2-40B4-BE49-F238E27FC236}">
                <a16:creationId xmlns:a16="http://schemas.microsoft.com/office/drawing/2014/main" id="{56A273E5-CD39-4ADE-A2D3-F6D5D60AB335}"/>
              </a:ext>
            </a:extLst>
          </p:cNvPr>
          <p:cNvSpPr>
            <a:spLocks xmlns:a="http://schemas.openxmlformats.org/drawingml/2006/main" noGrp="1"/>
          </p:cNvSpPr>
          <p:nvPr/>
        </p:nvSpPr>
        <p:spPr>
          <a:xfrm xmlns:a="http://schemas.openxmlformats.org/drawingml/2006/main">
            <a:off x="6477000" y="38766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51515"/>
                </a:solidFill>
                <a:latin typeface="Arial"/>
                <a:ea typeface="Arial"/>
                <a:cs typeface="Arial"/>
              </a:defRPr>
            </a:defPPr>
            <a:lvl1pPr algn="l">
              <a:defRPr sz="2100" b="0">
                <a:solidFill>
                  <a:srgbClr val="151515"/>
                </a:solidFill>
                <a:latin typeface="Arial"/>
                <a:ea typeface="Arial"/>
                <a:cs typeface="Arial"/>
              </a:defRPr>
            </a:lvl1pPr>
            <a:lvl2pPr algn="l">
              <a:defRPr sz="2100" b="0">
                <a:solidFill>
                  <a:srgbClr val="151515"/>
                </a:solidFill>
                <a:latin typeface="Arial"/>
                <a:ea typeface="Arial"/>
                <a:cs typeface="Arial"/>
              </a:defRPr>
            </a:lvl2pPr>
            <a:lvl3pPr algn="l">
              <a:defRPr sz="2100" b="0">
                <a:solidFill>
                  <a:srgbClr val="151515"/>
                </a:solidFill>
                <a:latin typeface="Arial"/>
                <a:ea typeface="Arial"/>
                <a:cs typeface="Arial"/>
              </a:defRPr>
            </a:lvl3pPr>
            <a:lvl4pPr algn="l">
              <a:defRPr sz="2100" b="0">
                <a:solidFill>
                  <a:srgbClr val="151515"/>
                </a:solidFill>
                <a:latin typeface="Arial"/>
                <a:ea typeface="Arial"/>
                <a:cs typeface="Arial"/>
              </a:defRPr>
            </a:lvl4pPr>
            <a:lvl5pPr algn="l">
              <a:defRPr sz="2100" b="0">
                <a:solidFill>
                  <a:srgbClr val="151515"/>
                </a:solidFill>
                <a:latin typeface="Arial"/>
                <a:ea typeface="Arial"/>
                <a:cs typeface="Arial"/>
              </a:defRPr>
            </a:lvl5pPr>
            <a:lvl6pPr algn="l">
              <a:defRPr sz="2100" b="0">
                <a:solidFill>
                  <a:srgbClr val="151515"/>
                </a:solidFill>
                <a:latin typeface="Arial"/>
                <a:ea typeface="Arial"/>
                <a:cs typeface="Arial"/>
              </a:defRPr>
            </a:lvl6pPr>
            <a:lvl7pPr algn="l">
              <a:defRPr sz="2100" b="0">
                <a:solidFill>
                  <a:srgbClr val="151515"/>
                </a:solidFill>
                <a:latin typeface="Arial"/>
                <a:ea typeface="Arial"/>
                <a:cs typeface="Arial"/>
              </a:defRPr>
            </a:lvl7pPr>
            <a:lvl8pPr algn="l">
              <a:defRPr sz="2100" b="0">
                <a:solidFill>
                  <a:srgbClr val="151515"/>
                </a:solidFill>
                <a:latin typeface="Arial"/>
                <a:ea typeface="Arial"/>
                <a:cs typeface="Arial"/>
              </a:defRPr>
            </a:lvl8pPr>
            <a:lvl9pPr algn="l">
              <a:defRPr sz="2100" b="0">
                <a:solidFill>
                  <a:srgbClr val="151515"/>
                </a:solidFill>
                <a:latin typeface="Arial"/>
                <a:ea typeface="Arial"/>
                <a:cs typeface="Arial"/>
              </a:defRPr>
            </a:lvl9pPr>
          </a:lstStyle>
          <a:p xmlns:a="http://schemas.openxmlformats.org/drawingml/2006/main">
            <a:pPr algn="l">
              <a:defRPr sz="2100" b="0">
                <a:solidFill>
                  <a:srgbClr val="151515"/>
                </a:solidFill>
                <a:latin typeface="Arial"/>
                <a:ea typeface="Arial"/>
                <a:cs typeface="Arial"/>
              </a:defRPr>
            </a:pPr>
            <a:r>
              <a:rPr sz="2100" b="0">
                <a:solidFill>
                  <a:srgbClr val="151515"/>
                </a:solidFill>
                <a:latin typeface="Arial"/>
                <a:ea typeface="Arial"/>
                <a:cs typeface="Arial"/>
              </a:rPr>
              <a:t>Upper = v̂ + h</a:t>
            </a:r>
          </a:p>
        </p:txBody>
      </p:sp>
      <p:sp>
        <p:nvSpPr>
          <p:cNvPr id="11" name="Evaluate Black–Scholes at both IV endpoints t">
            <a:extLst xmlns:a="http://schemas.openxmlformats.org/drawingml/2006/main">
              <a:ext uri="{FF2B5EF4-FFF2-40B4-BE49-F238E27FC236}">
                <a16:creationId xmlns:a16="http://schemas.microsoft.com/office/drawing/2014/main" id="{D46E23E2-FB09-4CC5-A0C0-0DC4B8F8332A}"/>
              </a:ext>
            </a:extLst>
          </p:cNvPr>
          <p:cNvSpPr>
            <a:spLocks xmlns:a="http://schemas.openxmlformats.org/drawingml/2006/main" noGrp="1"/>
          </p:cNvSpPr>
          <p:nvPr/>
        </p:nvSpPr>
        <p:spPr>
          <a:xfrm xmlns:a="http://schemas.openxmlformats.org/drawingml/2006/main">
            <a:off x="6477000" y="474345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algn="l">
              <a:defRPr sz="2025" b="0">
                <a:solidFill>
                  <a:srgbClr val="151515"/>
                </a:solidFill>
                <a:latin typeface="Arial"/>
                <a:ea typeface="Arial"/>
                <a:cs typeface="Arial"/>
              </a:defRPr>
            </a:pPr>
            <a:r>
              <a:rPr sz="2025" b="0">
                <a:solidFill>
                  <a:srgbClr val="151515"/>
                </a:solidFill>
                <a:latin typeface="Arial"/>
                <a:ea typeface="Arial"/>
                <a:cs typeface="Arial"/>
              </a:rPr>
              <a:t>Evaluate Black–Scholes at both IV endpoints to obtain price bounds.</a:t>
            </a:r>
          </a:p>
        </p:txBody>
      </p:sp>
      <p:sp>
        <p:nvSpPr>
          <p:cNvPr id="12" name="The same prediction-based Vega weights enter ">
            <a:extLst xmlns:a="http://schemas.openxmlformats.org/drawingml/2006/main">
              <a:ext uri="{FF2B5EF4-FFF2-40B4-BE49-F238E27FC236}">
                <a16:creationId xmlns:a16="http://schemas.microsoft.com/office/drawing/2014/main" id="{D1C93FCC-627D-412D-9F48-B01C361E5DD2}"/>
              </a:ext>
            </a:extLst>
          </p:cNvPr>
          <p:cNvSpPr>
            <a:spLocks xmlns:a="http://schemas.openxmlformats.org/drawingml/2006/main" noGrp="1"/>
          </p:cNvSpPr>
          <p:nvPr/>
        </p:nvSpPr>
        <p:spPr>
          <a:xfrm xmlns:a="http://schemas.openxmlformats.org/drawingml/2006/main">
            <a:off x="523875" y="6000750"/>
            <a:ext cx="1109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05050"/>
                </a:solidFill>
                <a:latin typeface="Arial"/>
                <a:ea typeface="Arial"/>
                <a:cs typeface="Arial"/>
              </a:defRPr>
            </a:defPPr>
            <a:lvl1pPr algn="l">
              <a:defRPr sz="1725" b="0">
                <a:solidFill>
                  <a:srgbClr val="505050"/>
                </a:solidFill>
                <a:latin typeface="Arial"/>
                <a:ea typeface="Arial"/>
                <a:cs typeface="Arial"/>
              </a:defRPr>
            </a:lvl1pPr>
            <a:lvl2pPr algn="l">
              <a:defRPr sz="1725" b="0">
                <a:solidFill>
                  <a:srgbClr val="505050"/>
                </a:solidFill>
                <a:latin typeface="Arial"/>
                <a:ea typeface="Arial"/>
                <a:cs typeface="Arial"/>
              </a:defRPr>
            </a:lvl2pPr>
            <a:lvl3pPr algn="l">
              <a:defRPr sz="1725" b="0">
                <a:solidFill>
                  <a:srgbClr val="505050"/>
                </a:solidFill>
                <a:latin typeface="Arial"/>
                <a:ea typeface="Arial"/>
                <a:cs typeface="Arial"/>
              </a:defRPr>
            </a:lvl3pPr>
            <a:lvl4pPr algn="l">
              <a:defRPr sz="1725" b="0">
                <a:solidFill>
                  <a:srgbClr val="505050"/>
                </a:solidFill>
                <a:latin typeface="Arial"/>
                <a:ea typeface="Arial"/>
                <a:cs typeface="Arial"/>
              </a:defRPr>
            </a:lvl4pPr>
            <a:lvl5pPr algn="l">
              <a:defRPr sz="1725" b="0">
                <a:solidFill>
                  <a:srgbClr val="505050"/>
                </a:solidFill>
                <a:latin typeface="Arial"/>
                <a:ea typeface="Arial"/>
                <a:cs typeface="Arial"/>
              </a:defRPr>
            </a:lvl5pPr>
            <a:lvl6pPr algn="l">
              <a:defRPr sz="1725" b="0">
                <a:solidFill>
                  <a:srgbClr val="505050"/>
                </a:solidFill>
                <a:latin typeface="Arial"/>
                <a:ea typeface="Arial"/>
                <a:cs typeface="Arial"/>
              </a:defRPr>
            </a:lvl6pPr>
            <a:lvl7pPr algn="l">
              <a:defRPr sz="1725" b="0">
                <a:solidFill>
                  <a:srgbClr val="505050"/>
                </a:solidFill>
                <a:latin typeface="Arial"/>
                <a:ea typeface="Arial"/>
                <a:cs typeface="Arial"/>
              </a:defRPr>
            </a:lvl7pPr>
            <a:lvl8pPr algn="l">
              <a:defRPr sz="1725" b="0">
                <a:solidFill>
                  <a:srgbClr val="505050"/>
                </a:solidFill>
                <a:latin typeface="Arial"/>
                <a:ea typeface="Arial"/>
                <a:cs typeface="Arial"/>
              </a:defRPr>
            </a:lvl8pPr>
            <a:lvl9pPr algn="l">
              <a:defRPr sz="1725" b="0">
                <a:solidFill>
                  <a:srgbClr val="505050"/>
                </a:solidFill>
                <a:latin typeface="Arial"/>
                <a:ea typeface="Arial"/>
                <a:cs typeface="Arial"/>
              </a:defRPr>
            </a:lvl9pPr>
          </a:lstStyle>
          <a:p xmlns:a="http://schemas.openxmlformats.org/drawingml/2006/main">
            <a:pPr algn="l">
              <a:defRPr sz="1725" b="0">
                <a:solidFill>
                  <a:srgbClr val="505050"/>
                </a:solidFill>
                <a:latin typeface="Arial"/>
                <a:ea typeface="Arial"/>
                <a:cs typeface="Arial"/>
              </a:defRPr>
            </a:pPr>
            <a:r>
              <a:rPr sz="1725" b="0">
                <a:solidFill>
                  <a:srgbClr val="505050"/>
                </a:solidFill>
                <a:latin typeface="Arial"/>
                <a:ea typeface="Arial"/>
                <a:cs typeface="Arial"/>
              </a:rPr>
              <a:t>The same prediction-based Vega weights enter calibration and Score B band construction.</a:t>
            </a:r>
          </a:p>
        </p:txBody>
      </p:sp>
      <p:sp>
        <p:nvSpPr>
          <p:cNvPr id="13" name="source-line">
            <a:extLst xmlns:a="http://schemas.openxmlformats.org/drawingml/2006/main">
              <a:ext uri="{FF2B5EF4-FFF2-40B4-BE49-F238E27FC236}">
                <a16:creationId xmlns:a16="http://schemas.microsoft.com/office/drawing/2014/main" id="{D168CEFC-8863-4D08-9434-8D9C678C56D0}"/>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exposé Eqs. (4)–(6), thesis §3.4 and notebook cell 6</a:t>
            </a:r>
          </a:p>
        </p:txBody>
      </p:sp>
      <p:sp>
        <p:nvSpPr>
          <p:cNvPr id="14" name="slide-number">
            <a:extLst xmlns:a="http://schemas.openxmlformats.org/drawingml/2006/main">
              <a:ext uri="{FF2B5EF4-FFF2-40B4-BE49-F238E27FC236}">
                <a16:creationId xmlns:a16="http://schemas.microsoft.com/office/drawing/2014/main" id="{F3FC7CB0-5E17-487B-89A6-C635A59EC0C2}"/>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12</a:t>
            </a:r>
          </a:p>
        </p:txBody>
      </p:sp>
    </p:spTree>
    <p:extLst>
      <p:ext uri="{BB962C8B-B14F-4D97-AF65-F5344CB8AC3E}">
        <p14:creationId xmlns:p14="http://schemas.microsoft.com/office/powerpoint/2010/main" val="15859949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DC1976E-BA00-4C1E-96E5-AC7CC34B8924}"/>
              </a:ext>
            </a:extLst>
          </p:cNvPr>
          <p:cNvPicPr>
            <a:picLocks xmlns:a="http://schemas.openxmlformats.org/drawingml/2006/main" noChangeAspect="1"/>
          </p:cNvPicPr>
          <p:nvPr/>
        </p:nvPicPr>
        <p:blipFill>
          <a:blip xmlns:r="http://schemas.openxmlformats.org/officeDocument/2006/relationships" xmlns:a="http://schemas.openxmlformats.org/drawingml/2006/main" r:embed="R3d2a106894444778"/>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38911078-3B9B-4273-8C37-F75494E4B279}"/>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Joint projection enforces grid constraints</a:t>
            </a:r>
          </a:p>
        </p:txBody>
      </p:sp>
      <p:sp>
        <p:nvSpPr>
          <p:cNvPr id="3" name="Interpolate quote bands onto a grid, jointly ">
            <a:extLst xmlns:a="http://schemas.openxmlformats.org/drawingml/2006/main">
              <a:ext uri="{FF2B5EF4-FFF2-40B4-BE49-F238E27FC236}">
                <a16:creationId xmlns:a16="http://schemas.microsoft.com/office/drawing/2014/main" id="{E1D492DE-36B0-43CD-90E9-F7FD1B730CB5}"/>
              </a:ext>
            </a:extLst>
          </p:cNvPr>
          <p:cNvSpPr>
            <a:spLocks xmlns:a="http://schemas.openxmlformats.org/drawingml/2006/main" noGrp="1"/>
          </p:cNvSpPr>
          <p:nvPr/>
        </p:nvSpPr>
        <p:spPr>
          <a:xfrm xmlns:a="http://schemas.openxmlformats.org/drawingml/2006/main">
            <a:off x="523875" y="1552575"/>
            <a:ext cx="1100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algn="l">
              <a:defRPr sz="2025" b="0">
                <a:solidFill>
                  <a:srgbClr val="151515"/>
                </a:solidFill>
                <a:latin typeface="Arial"/>
                <a:ea typeface="Arial"/>
                <a:cs typeface="Arial"/>
              </a:defRPr>
            </a:pPr>
            <a:r>
              <a:rPr sz="2025" b="0">
                <a:solidFill>
                  <a:srgbClr val="151515"/>
                </a:solidFill>
                <a:latin typeface="Arial"/>
                <a:ea typeface="Arial"/>
                <a:cs typeface="Arial"/>
              </a:rPr>
              <a:t>Interpolate quote bands onto a grid, jointly adjust both bounds, then map back to quotes.</a:t>
            </a:r>
          </a:p>
        </p:txBody>
      </p:sp>
      <p:graphicFrame>
        <p:nvGraphicFramePr>
          <p:cNvPr id="4" name="">
            <a:extLst xmlns:a="http://schemas.openxmlformats.org/drawingml/2006/main">
              <a:ext uri="{FF2B5EF4-FFF2-40B4-BE49-F238E27FC236}">
                <a16:creationId xmlns:a16="http://schemas.microsoft.com/office/drawing/2014/main" id="{96AEFD92-B7EB-48B9-ABB4-167ACCB0E8D6}"/>
              </a:ext>
            </a:extLst>
          </p:cNvPr>
          <p:cNvGraphicFramePr/>
          <p:nvPr/>
        </p:nvGraphicFramePr>
        <p:xfrm>
          <a:off xmlns:a="http://schemas.openxmlformats.org/drawingml/2006/main" x="523875" y="2638425"/>
          <a:ext xmlns:a="http://schemas.openxmlformats.org/drawingml/2006/main" cx="11049000" cy="2505075"/>
        </p:xfrm>
        <a:graphic xmlns:a="http://schemas.openxmlformats.org/drawingml/2006/main">
          <a:graphicData uri="http://schemas.openxmlformats.org/drawingml/2006/table">
            <a:tbl>
              <a:tblPr firstRow="0" bandRow="0"/>
              <a:tblGrid>
                <a:gridCol w="3524250"/>
                <a:gridCol w="7524750"/>
              </a:tblGrid>
              <a:tr h="626269">
                <a:tc>
                  <a:txBody>
                    <a:bodyPr lIns="95250" tIns="95250" rIns="95250" bIns="95250">
                      <a:noAutofit/>
                    </a:bodyPr>
                    <a:lstStyle/>
                    <a:p>
                      <a:pPr algn="l"/>
                      <a:r>
                        <a:rPr sz="1875" b="1">
                          <a:solidFill>
                            <a:srgbClr val="4776C9"/>
                          </a:solidFill>
                          <a:latin typeface="Arial"/>
                          <a:ea typeface="Arial"/>
                          <a:cs typeface="Arial"/>
                        </a:rPr>
                        <a:t>Constraint</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Implemented condition</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r>
              <a:tr h="626269">
                <a:tc>
                  <a:txBody>
                    <a:bodyPr lIns="95250" tIns="95250" rIns="95250" bIns="95250">
                      <a:noAutofit/>
                    </a:bodyPr>
                    <a:lstStyle/>
                    <a:p>
                      <a:pPr algn="l"/>
                      <a:r>
                        <a:rPr sz="1875" b="0">
                          <a:solidFill>
                            <a:srgbClr val="151515"/>
                          </a:solidFill>
                          <a:latin typeface="Arial"/>
                          <a:ea typeface="Arial"/>
                          <a:cs typeface="Arial"/>
                        </a:rPr>
                        <a:t>Calendar at fixed k</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Total variance does not decrease with maturity</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26269">
                <a:tc>
                  <a:txBody>
                    <a:bodyPr lIns="95250" tIns="95250" rIns="95250" bIns="95250">
                      <a:noAutofit/>
                    </a:bodyPr>
                    <a:lstStyle/>
                    <a:p>
                      <a:pPr algn="l"/>
                      <a:r>
                        <a:rPr sz="1875" b="0">
                          <a:solidFill>
                            <a:srgbClr val="151515"/>
                          </a:solidFill>
                          <a:latin typeface="Arial"/>
                          <a:ea typeface="Arial"/>
                          <a:cs typeface="Arial"/>
                        </a:rPr>
                        <a:t>Total-variance convexity</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Each middle value lies below its neighbour chord</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26269">
                <a:tc>
                  <a:txBody>
                    <a:bodyPr lIns="95250" tIns="95250" rIns="95250" bIns="95250">
                      <a:noAutofit/>
                    </a:bodyPr>
                    <a:lstStyle/>
                    <a:p>
                      <a:pPr algn="l"/>
                      <a:r>
                        <a:rPr sz="1875" b="0">
                          <a:solidFill>
                            <a:srgbClr val="151515"/>
                          </a:solidFill>
                          <a:latin typeface="Arial"/>
                          <a:ea typeface="Arial"/>
                          <a:cs typeface="Arial"/>
                        </a:rPr>
                        <a:t>Positivity and ordering</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Positive total variance, with lower ≤ upper</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5" name="Optimisation: minimise joint absolute changes">
            <a:extLst xmlns:a="http://schemas.openxmlformats.org/drawingml/2006/main">
              <a:ext uri="{FF2B5EF4-FFF2-40B4-BE49-F238E27FC236}">
                <a16:creationId xmlns:a16="http://schemas.microsoft.com/office/drawing/2014/main" id="{05966DAF-6572-4C5C-BE71-0998F0D05C3F}"/>
              </a:ext>
            </a:extLst>
          </p:cNvPr>
          <p:cNvSpPr>
            <a:spLocks xmlns:a="http://schemas.openxmlformats.org/drawingml/2006/main" noGrp="1"/>
          </p:cNvSpPr>
          <p:nvPr/>
        </p:nvSpPr>
        <p:spPr>
          <a:xfrm xmlns:a="http://schemas.openxmlformats.org/drawingml/2006/main">
            <a:off x="523875" y="54387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51515"/>
                </a:solidFill>
                <a:latin typeface="Arial"/>
                <a:ea typeface="Arial"/>
                <a:cs typeface="Arial"/>
              </a:defRPr>
            </a:defPPr>
            <a:lvl1pPr algn="l">
              <a:defRPr sz="1950" b="0">
                <a:solidFill>
                  <a:srgbClr val="151515"/>
                </a:solidFill>
                <a:latin typeface="Arial"/>
                <a:ea typeface="Arial"/>
                <a:cs typeface="Arial"/>
              </a:defRPr>
            </a:lvl1pPr>
            <a:lvl2pPr algn="l">
              <a:defRPr sz="1950" b="0">
                <a:solidFill>
                  <a:srgbClr val="151515"/>
                </a:solidFill>
                <a:latin typeface="Arial"/>
                <a:ea typeface="Arial"/>
                <a:cs typeface="Arial"/>
              </a:defRPr>
            </a:lvl2pPr>
            <a:lvl3pPr algn="l">
              <a:defRPr sz="1950" b="0">
                <a:solidFill>
                  <a:srgbClr val="151515"/>
                </a:solidFill>
                <a:latin typeface="Arial"/>
                <a:ea typeface="Arial"/>
                <a:cs typeface="Arial"/>
              </a:defRPr>
            </a:lvl3pPr>
            <a:lvl4pPr algn="l">
              <a:defRPr sz="1950" b="0">
                <a:solidFill>
                  <a:srgbClr val="151515"/>
                </a:solidFill>
                <a:latin typeface="Arial"/>
                <a:ea typeface="Arial"/>
                <a:cs typeface="Arial"/>
              </a:defRPr>
            </a:lvl4pPr>
            <a:lvl5pPr algn="l">
              <a:defRPr sz="1950" b="0">
                <a:solidFill>
                  <a:srgbClr val="151515"/>
                </a:solidFill>
                <a:latin typeface="Arial"/>
                <a:ea typeface="Arial"/>
                <a:cs typeface="Arial"/>
              </a:defRPr>
            </a:lvl5pPr>
            <a:lvl6pPr algn="l">
              <a:defRPr sz="1950" b="0">
                <a:solidFill>
                  <a:srgbClr val="151515"/>
                </a:solidFill>
                <a:latin typeface="Arial"/>
                <a:ea typeface="Arial"/>
                <a:cs typeface="Arial"/>
              </a:defRPr>
            </a:lvl6pPr>
            <a:lvl7pPr algn="l">
              <a:defRPr sz="1950" b="0">
                <a:solidFill>
                  <a:srgbClr val="151515"/>
                </a:solidFill>
                <a:latin typeface="Arial"/>
                <a:ea typeface="Arial"/>
                <a:cs typeface="Arial"/>
              </a:defRPr>
            </a:lvl7pPr>
            <a:lvl8pPr algn="l">
              <a:defRPr sz="1950" b="0">
                <a:solidFill>
                  <a:srgbClr val="151515"/>
                </a:solidFill>
                <a:latin typeface="Arial"/>
                <a:ea typeface="Arial"/>
                <a:cs typeface="Arial"/>
              </a:defRPr>
            </a:lvl8pPr>
            <a:lvl9pPr algn="l">
              <a:defRPr sz="1950" b="0">
                <a:solidFill>
                  <a:srgbClr val="151515"/>
                </a:solidFill>
                <a:latin typeface="Arial"/>
                <a:ea typeface="Arial"/>
                <a:cs typeface="Arial"/>
              </a:defRPr>
            </a:lvl9pPr>
          </a:lstStyle>
          <a:p xmlns:a="http://schemas.openxmlformats.org/drawingml/2006/main">
            <a:pPr algn="l">
              <a:defRPr sz="1950" b="0">
                <a:solidFill>
                  <a:srgbClr val="151515"/>
                </a:solidFill>
                <a:latin typeface="Arial"/>
                <a:ea typeface="Arial"/>
                <a:cs typeface="Arial"/>
              </a:defRPr>
            </a:pPr>
            <a:r>
              <a:rPr sz="1950" b="0">
                <a:solidFill>
                  <a:srgbClr val="151515"/>
                </a:solidFill>
                <a:latin typeface="Arial"/>
                <a:ea typeface="Arial"/>
                <a:cs typeface="Arial"/>
              </a:rPr>
              <a:t>Optimisation: minimise joint absolute changes in total variance w = v²ρ².</a:t>
            </a:r>
          </a:p>
        </p:txBody>
      </p:sp>
      <p:sp>
        <p:nvSpPr>
          <p:cNvPr id="6" name="These constraints do not establish butterfly ">
            <a:extLst xmlns:a="http://schemas.openxmlformats.org/drawingml/2006/main">
              <a:ext uri="{FF2B5EF4-FFF2-40B4-BE49-F238E27FC236}">
                <a16:creationId xmlns:a16="http://schemas.microsoft.com/office/drawing/2014/main" id="{965EC580-7A31-4F48-8000-800900A937A8}"/>
              </a:ext>
            </a:extLst>
          </p:cNvPr>
          <p:cNvSpPr>
            <a:spLocks xmlns:a="http://schemas.openxmlformats.org/drawingml/2006/main" noGrp="1"/>
          </p:cNvSpPr>
          <p:nvPr/>
        </p:nvSpPr>
        <p:spPr>
          <a:xfrm xmlns:a="http://schemas.openxmlformats.org/drawingml/2006/main">
            <a:off x="523875" y="60483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4776C9"/>
                </a:solidFill>
                <a:latin typeface="Arial"/>
                <a:ea typeface="Arial"/>
                <a:cs typeface="Arial"/>
              </a:defRPr>
            </a:defPPr>
            <a:lvl1pPr algn="l">
              <a:defRPr sz="1800" b="1">
                <a:solidFill>
                  <a:srgbClr val="4776C9"/>
                </a:solidFill>
                <a:latin typeface="Arial"/>
                <a:ea typeface="Arial"/>
                <a:cs typeface="Arial"/>
              </a:defRPr>
            </a:lvl1pPr>
            <a:lvl2pPr algn="l">
              <a:defRPr sz="1800" b="1">
                <a:solidFill>
                  <a:srgbClr val="4776C9"/>
                </a:solidFill>
                <a:latin typeface="Arial"/>
                <a:ea typeface="Arial"/>
                <a:cs typeface="Arial"/>
              </a:defRPr>
            </a:lvl2pPr>
            <a:lvl3pPr algn="l">
              <a:defRPr sz="1800" b="1">
                <a:solidFill>
                  <a:srgbClr val="4776C9"/>
                </a:solidFill>
                <a:latin typeface="Arial"/>
                <a:ea typeface="Arial"/>
                <a:cs typeface="Arial"/>
              </a:defRPr>
            </a:lvl3pPr>
            <a:lvl4pPr algn="l">
              <a:defRPr sz="1800" b="1">
                <a:solidFill>
                  <a:srgbClr val="4776C9"/>
                </a:solidFill>
                <a:latin typeface="Arial"/>
                <a:ea typeface="Arial"/>
                <a:cs typeface="Arial"/>
              </a:defRPr>
            </a:lvl4pPr>
            <a:lvl5pPr algn="l">
              <a:defRPr sz="1800" b="1">
                <a:solidFill>
                  <a:srgbClr val="4776C9"/>
                </a:solidFill>
                <a:latin typeface="Arial"/>
                <a:ea typeface="Arial"/>
                <a:cs typeface="Arial"/>
              </a:defRPr>
            </a:lvl5pPr>
            <a:lvl6pPr algn="l">
              <a:defRPr sz="1800" b="1">
                <a:solidFill>
                  <a:srgbClr val="4776C9"/>
                </a:solidFill>
                <a:latin typeface="Arial"/>
                <a:ea typeface="Arial"/>
                <a:cs typeface="Arial"/>
              </a:defRPr>
            </a:lvl6pPr>
            <a:lvl7pPr algn="l">
              <a:defRPr sz="1800" b="1">
                <a:solidFill>
                  <a:srgbClr val="4776C9"/>
                </a:solidFill>
                <a:latin typeface="Arial"/>
                <a:ea typeface="Arial"/>
                <a:cs typeface="Arial"/>
              </a:defRPr>
            </a:lvl7pPr>
            <a:lvl8pPr algn="l">
              <a:defRPr sz="1800" b="1">
                <a:solidFill>
                  <a:srgbClr val="4776C9"/>
                </a:solidFill>
                <a:latin typeface="Arial"/>
                <a:ea typeface="Arial"/>
                <a:cs typeface="Arial"/>
              </a:defRPr>
            </a:lvl8pPr>
            <a:lvl9pPr algn="l">
              <a:defRPr sz="1800" b="1">
                <a:solidFill>
                  <a:srgbClr val="4776C9"/>
                </a:solidFill>
                <a:latin typeface="Arial"/>
                <a:ea typeface="Arial"/>
                <a:cs typeface="Arial"/>
              </a:defRPr>
            </a:lvl9pPr>
          </a:lstStyle>
          <a:p xmlns:a="http://schemas.openxmlformats.org/drawingml/2006/main">
            <a:pPr algn="l">
              <a:defRPr sz="1800" b="1">
                <a:solidFill>
                  <a:srgbClr val="4776C9"/>
                </a:solidFill>
                <a:latin typeface="Arial"/>
                <a:ea typeface="Arial"/>
                <a:cs typeface="Arial"/>
              </a:defRPr>
            </a:pPr>
            <a:r>
              <a:rPr sz="1800" b="1">
                <a:solidFill>
                  <a:srgbClr val="4776C9"/>
                </a:solidFill>
                <a:latin typeface="Arial"/>
                <a:ea typeface="Arial"/>
                <a:cs typeface="Arial"/>
              </a:rPr>
              <a:t>These constraints do not establish butterfly no-arbitrage or continuous-domain validity.</a:t>
            </a:r>
          </a:p>
        </p:txBody>
      </p:sp>
      <p:sp>
        <p:nvSpPr>
          <p:cNvPr id="7" name="source-line">
            <a:extLst xmlns:a="http://schemas.openxmlformats.org/drawingml/2006/main">
              <a:ext uri="{FF2B5EF4-FFF2-40B4-BE49-F238E27FC236}">
                <a16:creationId xmlns:a16="http://schemas.microsoft.com/office/drawing/2014/main" id="{0C1187D4-CCD1-49B9-A81A-9EA487239CE8}"/>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thesis §3.5, no_arbitrage_projection.py, professor review point 2</a:t>
            </a:r>
          </a:p>
        </p:txBody>
      </p:sp>
      <p:sp>
        <p:nvSpPr>
          <p:cNvPr id="8" name="slide-number">
            <a:extLst xmlns:a="http://schemas.openxmlformats.org/drawingml/2006/main">
              <a:ext uri="{FF2B5EF4-FFF2-40B4-BE49-F238E27FC236}">
                <a16:creationId xmlns:a16="http://schemas.microsoft.com/office/drawing/2014/main" id="{26A719EB-0EA3-48D9-85F9-E95C8657190C}"/>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13</a:t>
            </a:r>
          </a:p>
        </p:txBody>
      </p:sp>
    </p:spTree>
    <p:extLst>
      <p:ext uri="{BB962C8B-B14F-4D97-AF65-F5344CB8AC3E}">
        <p14:creationId xmlns:p14="http://schemas.microsoft.com/office/powerpoint/2010/main" val="11085998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9E71FE7-75DC-4308-B3BA-8F9F8ABCD671}"/>
              </a:ext>
            </a:extLst>
          </p:cNvPr>
          <p:cNvPicPr>
            <a:picLocks xmlns:a="http://schemas.openxmlformats.org/drawingml/2006/main" noChangeAspect="1"/>
          </p:cNvPicPr>
          <p:nvPr/>
        </p:nvPicPr>
        <p:blipFill>
          <a:blip xmlns:r="http://schemas.openxmlformats.org/officeDocument/2006/relationships" xmlns:a="http://schemas.openxmlformats.org/drawingml/2006/main" r:embed="R8e5b79c0354f4d17"/>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561D9314-6ADB-4C33-90FC-3DA0DE8D2049}"/>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An example of the resulting IV bands</a:t>
            </a:r>
          </a:p>
        </p:txBody>
      </p:sp>
      <p:sp>
        <p:nvSpPr>
          <p:cNvPr id="3" name="Score B after projection, SPX 3 March 2026, m">
            <a:extLst xmlns:a="http://schemas.openxmlformats.org/drawingml/2006/main">
              <a:ext uri="{FF2B5EF4-FFF2-40B4-BE49-F238E27FC236}">
                <a16:creationId xmlns:a16="http://schemas.microsoft.com/office/drawing/2014/main" id="{E1B77361-7983-447C-AED2-00CC2C4EF289}"/>
              </a:ext>
            </a:extLst>
          </p:cNvPr>
          <p:cNvSpPr>
            <a:spLocks xmlns:a="http://schemas.openxmlformats.org/drawingml/2006/main" noGrp="1"/>
          </p:cNvSpPr>
          <p:nvPr/>
        </p:nvSpPr>
        <p:spPr>
          <a:xfrm xmlns:a="http://schemas.openxmlformats.org/drawingml/2006/main">
            <a:off x="523875" y="152400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51515"/>
                </a:solidFill>
                <a:latin typeface="Arial"/>
                <a:ea typeface="Arial"/>
                <a:cs typeface="Arial"/>
              </a:defRPr>
            </a:defPPr>
            <a:lvl1pPr algn="l">
              <a:defRPr sz="1875" b="0">
                <a:solidFill>
                  <a:srgbClr val="151515"/>
                </a:solidFill>
                <a:latin typeface="Arial"/>
                <a:ea typeface="Arial"/>
                <a:cs typeface="Arial"/>
              </a:defRPr>
            </a:lvl1pPr>
            <a:lvl2pPr algn="l">
              <a:defRPr sz="1875" b="0">
                <a:solidFill>
                  <a:srgbClr val="151515"/>
                </a:solidFill>
                <a:latin typeface="Arial"/>
                <a:ea typeface="Arial"/>
                <a:cs typeface="Arial"/>
              </a:defRPr>
            </a:lvl2pPr>
            <a:lvl3pPr algn="l">
              <a:defRPr sz="1875" b="0">
                <a:solidFill>
                  <a:srgbClr val="151515"/>
                </a:solidFill>
                <a:latin typeface="Arial"/>
                <a:ea typeface="Arial"/>
                <a:cs typeface="Arial"/>
              </a:defRPr>
            </a:lvl3pPr>
            <a:lvl4pPr algn="l">
              <a:defRPr sz="1875" b="0">
                <a:solidFill>
                  <a:srgbClr val="151515"/>
                </a:solidFill>
                <a:latin typeface="Arial"/>
                <a:ea typeface="Arial"/>
                <a:cs typeface="Arial"/>
              </a:defRPr>
            </a:lvl4pPr>
            <a:lvl5pPr algn="l">
              <a:defRPr sz="1875" b="0">
                <a:solidFill>
                  <a:srgbClr val="151515"/>
                </a:solidFill>
                <a:latin typeface="Arial"/>
                <a:ea typeface="Arial"/>
                <a:cs typeface="Arial"/>
              </a:defRPr>
            </a:lvl5pPr>
            <a:lvl6pPr algn="l">
              <a:defRPr sz="1875" b="0">
                <a:solidFill>
                  <a:srgbClr val="151515"/>
                </a:solidFill>
                <a:latin typeface="Arial"/>
                <a:ea typeface="Arial"/>
                <a:cs typeface="Arial"/>
              </a:defRPr>
            </a:lvl6pPr>
            <a:lvl7pPr algn="l">
              <a:defRPr sz="1875" b="0">
                <a:solidFill>
                  <a:srgbClr val="151515"/>
                </a:solidFill>
                <a:latin typeface="Arial"/>
                <a:ea typeface="Arial"/>
                <a:cs typeface="Arial"/>
              </a:defRPr>
            </a:lvl7pPr>
            <a:lvl8pPr algn="l">
              <a:defRPr sz="1875" b="0">
                <a:solidFill>
                  <a:srgbClr val="151515"/>
                </a:solidFill>
                <a:latin typeface="Arial"/>
                <a:ea typeface="Arial"/>
                <a:cs typeface="Arial"/>
              </a:defRPr>
            </a:lvl8pPr>
            <a:lvl9pPr algn="l">
              <a:defRPr sz="1875" b="0">
                <a:solidFill>
                  <a:srgbClr val="151515"/>
                </a:solidFill>
                <a:latin typeface="Arial"/>
                <a:ea typeface="Arial"/>
                <a:cs typeface="Arial"/>
              </a:defRPr>
            </a:lvl9pPr>
          </a:lstStyle>
          <a:p xmlns:a="http://schemas.openxmlformats.org/drawingml/2006/main">
            <a:pPr algn="l">
              <a:defRPr sz="1875" b="0">
                <a:solidFill>
                  <a:srgbClr val="151515"/>
                </a:solidFill>
                <a:latin typeface="Arial"/>
                <a:ea typeface="Arial"/>
                <a:cs typeface="Arial"/>
              </a:defRPr>
            </a:pPr>
            <a:r>
              <a:rPr sz="1875" b="0">
                <a:solidFill>
                  <a:srgbClr val="151515"/>
                </a:solidFill>
                <a:latin typeface="Arial"/>
                <a:ea typeface="Arial"/>
                <a:cs typeface="Arial"/>
              </a:rPr>
              <a:t>Score B after projection, SPX 3 March 2026, maturity coordinate ρ = 0.5018</a:t>
            </a:r>
          </a:p>
        </p:txBody>
      </p:sp>
      <p:graphicFrame>
        <p:nvGraphicFramePr>
          <p:cNvPr id="4" name="Chart">
            <a:extLst xmlns:a="http://schemas.openxmlformats.org/drawingml/2006/main">
              <a:ext uri="{FF2B5EF4-FFF2-40B4-BE49-F238E27FC236}">
                <a16:creationId xmlns:a16="http://schemas.microsoft.com/office/drawing/2014/main" id="{288AA2CD-F9A5-4E19-AEDD-5B8853D99798}"/>
              </a:ext>
            </a:extLst>
          </p:cNvPr>
          <p:cNvGraphicFramePr/>
          <p:nvPr/>
        </p:nvGraphicFramePr>
        <p:xfrm>
          <a:off xmlns:a="http://schemas.openxmlformats.org/drawingml/2006/main" x="619125" y="2266950"/>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5420edf1e4b54c75"/>
          </a:graphicData>
        </a:graphic>
      </p:graphicFrame>
      <p:sp>
        <p:nvSpPr>
          <p:cNvPr id="5" name="A slice through the saved visualisation grid ">
            <a:extLst xmlns:a="http://schemas.openxmlformats.org/drawingml/2006/main">
              <a:ext uri="{FF2B5EF4-FFF2-40B4-BE49-F238E27FC236}">
                <a16:creationId xmlns:a16="http://schemas.microsoft.com/office/drawing/2014/main" id="{D35E4F9F-33F9-4D5D-B90B-48B3564F5D14}"/>
              </a:ext>
            </a:extLst>
          </p:cNvPr>
          <p:cNvSpPr>
            <a:spLocks xmlns:a="http://schemas.openxmlformats.org/drawingml/2006/main" noGrp="1"/>
          </p:cNvSpPr>
          <p:nvPr/>
        </p:nvSpPr>
        <p:spPr>
          <a:xfrm xmlns:a="http://schemas.openxmlformats.org/drawingml/2006/main">
            <a:off x="523875" y="594360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505050"/>
                </a:solidFill>
                <a:latin typeface="Arial"/>
                <a:ea typeface="Arial"/>
                <a:cs typeface="Arial"/>
              </a:defRPr>
            </a:defPPr>
            <a:lvl1pPr algn="l">
              <a:defRPr sz="1950" b="0">
                <a:solidFill>
                  <a:srgbClr val="505050"/>
                </a:solidFill>
                <a:latin typeface="Arial"/>
                <a:ea typeface="Arial"/>
                <a:cs typeface="Arial"/>
              </a:defRPr>
            </a:lvl1pPr>
            <a:lvl2pPr algn="l">
              <a:defRPr sz="1950" b="0">
                <a:solidFill>
                  <a:srgbClr val="505050"/>
                </a:solidFill>
                <a:latin typeface="Arial"/>
                <a:ea typeface="Arial"/>
                <a:cs typeface="Arial"/>
              </a:defRPr>
            </a:lvl2pPr>
            <a:lvl3pPr algn="l">
              <a:defRPr sz="1950" b="0">
                <a:solidFill>
                  <a:srgbClr val="505050"/>
                </a:solidFill>
                <a:latin typeface="Arial"/>
                <a:ea typeface="Arial"/>
                <a:cs typeface="Arial"/>
              </a:defRPr>
            </a:lvl3pPr>
            <a:lvl4pPr algn="l">
              <a:defRPr sz="1950" b="0">
                <a:solidFill>
                  <a:srgbClr val="505050"/>
                </a:solidFill>
                <a:latin typeface="Arial"/>
                <a:ea typeface="Arial"/>
                <a:cs typeface="Arial"/>
              </a:defRPr>
            </a:lvl4pPr>
            <a:lvl5pPr algn="l">
              <a:defRPr sz="1950" b="0">
                <a:solidFill>
                  <a:srgbClr val="505050"/>
                </a:solidFill>
                <a:latin typeface="Arial"/>
                <a:ea typeface="Arial"/>
                <a:cs typeface="Arial"/>
              </a:defRPr>
            </a:lvl5pPr>
            <a:lvl6pPr algn="l">
              <a:defRPr sz="1950" b="0">
                <a:solidFill>
                  <a:srgbClr val="505050"/>
                </a:solidFill>
                <a:latin typeface="Arial"/>
                <a:ea typeface="Arial"/>
                <a:cs typeface="Arial"/>
              </a:defRPr>
            </a:lvl6pPr>
            <a:lvl7pPr algn="l">
              <a:defRPr sz="1950" b="0">
                <a:solidFill>
                  <a:srgbClr val="505050"/>
                </a:solidFill>
                <a:latin typeface="Arial"/>
                <a:ea typeface="Arial"/>
                <a:cs typeface="Arial"/>
              </a:defRPr>
            </a:lvl7pPr>
            <a:lvl8pPr algn="l">
              <a:defRPr sz="1950" b="0">
                <a:solidFill>
                  <a:srgbClr val="505050"/>
                </a:solidFill>
                <a:latin typeface="Arial"/>
                <a:ea typeface="Arial"/>
                <a:cs typeface="Arial"/>
              </a:defRPr>
            </a:lvl8pPr>
            <a:lvl9pPr algn="l">
              <a:defRPr sz="1950" b="0">
                <a:solidFill>
                  <a:srgbClr val="505050"/>
                </a:solidFill>
                <a:latin typeface="Arial"/>
                <a:ea typeface="Arial"/>
                <a:cs typeface="Arial"/>
              </a:defRPr>
            </a:lvl9pPr>
          </a:lstStyle>
          <a:p xmlns:a="http://schemas.openxmlformats.org/drawingml/2006/main">
            <a:pPr algn="l">
              <a:defRPr sz="1950" b="0">
                <a:solidFill>
                  <a:srgbClr val="505050"/>
                </a:solidFill>
                <a:latin typeface="Arial"/>
                <a:ea typeface="Arial"/>
                <a:cs typeface="Arial"/>
              </a:defRPr>
            </a:pPr>
            <a:r>
              <a:rPr sz="1950" b="0">
                <a:solidFill>
                  <a:srgbClr val="505050"/>
                </a:solidFill>
                <a:latin typeface="Arial"/>
                <a:ea typeface="Arial"/>
                <a:cs typeface="Arial"/>
              </a:rPr>
              <a:t>A slice through the saved visualisation grid illustrates the band shape.</a:t>
            </a:r>
          </a:p>
        </p:txBody>
      </p:sp>
      <p:sp>
        <p:nvSpPr>
          <p:cNvPr id="6" name="source-line">
            <a:extLst xmlns:a="http://schemas.openxmlformats.org/drawingml/2006/main">
              <a:ext uri="{FF2B5EF4-FFF2-40B4-BE49-F238E27FC236}">
                <a16:creationId xmlns:a16="http://schemas.microsoft.com/office/drawing/2014/main" id="{4C457CE0-9115-4E83-A8E2-F8397F6F4675}"/>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 saved surface_15_interactive.html, generated by notebook cell 18</a:t>
            </a:r>
          </a:p>
        </p:txBody>
      </p:sp>
      <p:sp>
        <p:nvSpPr>
          <p:cNvPr id="7" name="slide-number">
            <a:extLst xmlns:a="http://schemas.openxmlformats.org/drawingml/2006/main">
              <a:ext uri="{FF2B5EF4-FFF2-40B4-BE49-F238E27FC236}">
                <a16:creationId xmlns:a16="http://schemas.microsoft.com/office/drawing/2014/main" id="{3F8F3C04-93B5-4AA4-B4D5-3E16CD0367E0}"/>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14</a:t>
            </a:r>
          </a:p>
        </p:txBody>
      </p:sp>
    </p:spTree>
    <p:extLst>
      <p:ext uri="{BB962C8B-B14F-4D97-AF65-F5344CB8AC3E}">
        <p14:creationId xmlns:p14="http://schemas.microsoft.com/office/powerpoint/2010/main" val="14363355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4F7D79F-3108-4830-8EE3-67B1EC3BF9C8}"/>
              </a:ext>
            </a:extLst>
          </p:cNvPr>
          <p:cNvPicPr>
            <a:picLocks xmlns:a="http://schemas.openxmlformats.org/drawingml/2006/main" noChangeAspect="1"/>
          </p:cNvPicPr>
          <p:nvPr/>
        </p:nvPicPr>
        <p:blipFill>
          <a:blip xmlns:r="http://schemas.openxmlformats.org/officeDocument/2006/relationships" xmlns:a="http://schemas.openxmlformats.org/drawingml/2006/main" r:embed="Rfff9957f51b04dc1"/>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E02579E4-B6A9-4983-BF89-718BCA9C8625}"/>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Score B performs better in this sample</a:t>
            </a:r>
          </a:p>
        </p:txBody>
      </p:sp>
      <p:graphicFrame>
        <p:nvGraphicFramePr>
          <p:cNvPr id="3" name="">
            <a:extLst xmlns:a="http://schemas.openxmlformats.org/drawingml/2006/main">
              <a:ext uri="{FF2B5EF4-FFF2-40B4-BE49-F238E27FC236}">
                <a16:creationId xmlns:a16="http://schemas.microsoft.com/office/drawing/2014/main" id="{069E06B3-1FBA-45CB-A32B-01E0902F4168}"/>
              </a:ext>
            </a:extLst>
          </p:cNvPr>
          <p:cNvGraphicFramePr/>
          <p:nvPr/>
        </p:nvGraphicFramePr>
        <p:xfrm>
          <a:off xmlns:a="http://schemas.openxmlformats.org/drawingml/2006/main" x="523875" y="1695450"/>
          <a:ext xmlns:a="http://schemas.openxmlformats.org/drawingml/2006/main" cx="11049000" cy="3171825"/>
        </p:xfrm>
        <a:graphic xmlns:a="http://schemas.openxmlformats.org/drawingml/2006/main">
          <a:graphicData uri="http://schemas.openxmlformats.org/drawingml/2006/table">
            <a:tbl>
              <a:tblPr firstRow="0" bandRow="0"/>
              <a:tblGrid>
                <a:gridCol w="6191250"/>
                <a:gridCol w="2428875"/>
                <a:gridCol w="2428875"/>
              </a:tblGrid>
              <a:tr h="634365">
                <a:tc>
                  <a:txBody>
                    <a:bodyPr lIns="95250" tIns="95250" rIns="95250" bIns="95250">
                      <a:noAutofit/>
                    </a:bodyPr>
                    <a:lstStyle/>
                    <a:p>
                      <a:pPr algn="l"/>
                      <a:r>
                        <a:rPr sz="1950" b="1">
                          <a:solidFill>
                            <a:srgbClr val="4776C9"/>
                          </a:solidFill>
                          <a:latin typeface="Arial"/>
                          <a:ea typeface="Arial"/>
                          <a:cs typeface="Arial"/>
                        </a:rPr>
                        <a:t>Mondrian metric</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950" b="1">
                          <a:solidFill>
                            <a:srgbClr val="4776C9"/>
                          </a:solidFill>
                          <a:latin typeface="Arial"/>
                          <a:ea typeface="Arial"/>
                          <a:cs typeface="Arial"/>
                        </a:rPr>
                        <a:t>Score A</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950" b="1">
                          <a:solidFill>
                            <a:srgbClr val="4776C9"/>
                          </a:solidFill>
                          <a:latin typeface="Arial"/>
                          <a:ea typeface="Arial"/>
                          <a:cs typeface="Arial"/>
                        </a:rPr>
                        <a:t>Score B</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r>
              <a:tr h="634365">
                <a:tc>
                  <a:txBody>
                    <a:bodyPr lIns="95250" tIns="95250" rIns="95250" bIns="95250">
                      <a:noAutofit/>
                    </a:bodyPr>
                    <a:lstStyle/>
                    <a:p>
                      <a:pPr algn="l"/>
                      <a:r>
                        <a:rPr sz="1950" b="0">
                          <a:solidFill>
                            <a:srgbClr val="151515"/>
                          </a:solidFill>
                          <a:latin typeface="Arial"/>
                          <a:ea typeface="Arial"/>
                          <a:cs typeface="Arial"/>
                        </a:rPr>
                        <a:t>Coverage before processing</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90.19%</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91.12%</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34365">
                <a:tc>
                  <a:txBody>
                    <a:bodyPr lIns="95250" tIns="95250" rIns="95250" bIns="95250">
                      <a:noAutofit/>
                    </a:bodyPr>
                    <a:lstStyle/>
                    <a:p>
                      <a:pPr algn="l"/>
                      <a:r>
                        <a:rPr sz="1950" b="0">
                          <a:solidFill>
                            <a:srgbClr val="151515"/>
                          </a:solidFill>
                          <a:latin typeface="Arial"/>
                          <a:ea typeface="Arial"/>
                          <a:cs typeface="Arial"/>
                        </a:rPr>
                        <a:t>Coverage after projection</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84.27%</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92.86%</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34365">
                <a:tc>
                  <a:txBody>
                    <a:bodyPr lIns="95250" tIns="95250" rIns="95250" bIns="95250">
                      <a:noAutofit/>
                    </a:bodyPr>
                    <a:lstStyle/>
                    <a:p>
                      <a:pPr algn="l"/>
                      <a:r>
                        <a:rPr sz="1950" b="0">
                          <a:solidFill>
                            <a:srgbClr val="151515"/>
                          </a:solidFill>
                          <a:latin typeface="Arial"/>
                          <a:ea typeface="Arial"/>
                          <a:cs typeface="Arial"/>
                        </a:rPr>
                        <a:t>Mean IV width after projection</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0.067806</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0.027187</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34365">
                <a:tc>
                  <a:txBody>
                    <a:bodyPr lIns="95250" tIns="95250" rIns="95250" bIns="95250">
                      <a:noAutofit/>
                    </a:bodyPr>
                    <a:lstStyle/>
                    <a:p>
                      <a:pPr algn="l"/>
                      <a:r>
                        <a:rPr sz="1950" b="0">
                          <a:solidFill>
                            <a:srgbClr val="151515"/>
                          </a:solidFill>
                          <a:latin typeface="Arial"/>
                          <a:ea typeface="Arial"/>
                          <a:cs typeface="Arial"/>
                        </a:rPr>
                        <a:t>Coverage SD across surfaces</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6.24 pp</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1.99 pp</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4" name="The Score A pipeline has about 2.49 times the">
            <a:extLst xmlns:a="http://schemas.openxmlformats.org/drawingml/2006/main">
              <a:ext uri="{FF2B5EF4-FFF2-40B4-BE49-F238E27FC236}">
                <a16:creationId xmlns:a16="http://schemas.microsoft.com/office/drawing/2014/main" id="{8E583C5B-A43C-402F-82F5-A7CE9C4FE8C7}"/>
              </a:ext>
            </a:extLst>
          </p:cNvPr>
          <p:cNvSpPr>
            <a:spLocks xmlns:a="http://schemas.openxmlformats.org/drawingml/2006/main" noGrp="1"/>
          </p:cNvSpPr>
          <p:nvPr/>
        </p:nvSpPr>
        <p:spPr>
          <a:xfrm xmlns:a="http://schemas.openxmlformats.org/drawingml/2006/main">
            <a:off x="571500" y="5238750"/>
            <a:ext cx="1100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4776C9"/>
                </a:solidFill>
                <a:latin typeface="Arial"/>
                <a:ea typeface="Arial"/>
                <a:cs typeface="Arial"/>
              </a:defRPr>
            </a:defPPr>
            <a:lvl1pPr algn="l">
              <a:defRPr sz="2100" b="1">
                <a:solidFill>
                  <a:srgbClr val="4776C9"/>
                </a:solidFill>
                <a:latin typeface="Arial"/>
                <a:ea typeface="Arial"/>
                <a:cs typeface="Arial"/>
              </a:defRPr>
            </a:lvl1pPr>
            <a:lvl2pPr algn="l">
              <a:defRPr sz="2100" b="1">
                <a:solidFill>
                  <a:srgbClr val="4776C9"/>
                </a:solidFill>
                <a:latin typeface="Arial"/>
                <a:ea typeface="Arial"/>
                <a:cs typeface="Arial"/>
              </a:defRPr>
            </a:lvl2pPr>
            <a:lvl3pPr algn="l">
              <a:defRPr sz="2100" b="1">
                <a:solidFill>
                  <a:srgbClr val="4776C9"/>
                </a:solidFill>
                <a:latin typeface="Arial"/>
                <a:ea typeface="Arial"/>
                <a:cs typeface="Arial"/>
              </a:defRPr>
            </a:lvl3pPr>
            <a:lvl4pPr algn="l">
              <a:defRPr sz="2100" b="1">
                <a:solidFill>
                  <a:srgbClr val="4776C9"/>
                </a:solidFill>
                <a:latin typeface="Arial"/>
                <a:ea typeface="Arial"/>
                <a:cs typeface="Arial"/>
              </a:defRPr>
            </a:lvl4pPr>
            <a:lvl5pPr algn="l">
              <a:defRPr sz="2100" b="1">
                <a:solidFill>
                  <a:srgbClr val="4776C9"/>
                </a:solidFill>
                <a:latin typeface="Arial"/>
                <a:ea typeface="Arial"/>
                <a:cs typeface="Arial"/>
              </a:defRPr>
            </a:lvl5pPr>
            <a:lvl6pPr algn="l">
              <a:defRPr sz="2100" b="1">
                <a:solidFill>
                  <a:srgbClr val="4776C9"/>
                </a:solidFill>
                <a:latin typeface="Arial"/>
                <a:ea typeface="Arial"/>
                <a:cs typeface="Arial"/>
              </a:defRPr>
            </a:lvl6pPr>
            <a:lvl7pPr algn="l">
              <a:defRPr sz="2100" b="1">
                <a:solidFill>
                  <a:srgbClr val="4776C9"/>
                </a:solidFill>
                <a:latin typeface="Arial"/>
                <a:ea typeface="Arial"/>
                <a:cs typeface="Arial"/>
              </a:defRPr>
            </a:lvl7pPr>
            <a:lvl8pPr algn="l">
              <a:defRPr sz="2100" b="1">
                <a:solidFill>
                  <a:srgbClr val="4776C9"/>
                </a:solidFill>
                <a:latin typeface="Arial"/>
                <a:ea typeface="Arial"/>
                <a:cs typeface="Arial"/>
              </a:defRPr>
            </a:lvl8pPr>
            <a:lvl9pPr algn="l">
              <a:defRPr sz="2100" b="1">
                <a:solidFill>
                  <a:srgbClr val="4776C9"/>
                </a:solidFill>
                <a:latin typeface="Arial"/>
                <a:ea typeface="Arial"/>
                <a:cs typeface="Arial"/>
              </a:defRPr>
            </a:lvl9pPr>
          </a:lstStyle>
          <a:p xmlns:a="http://schemas.openxmlformats.org/drawingml/2006/main">
            <a:pPr algn="l">
              <a:defRPr sz="2100" b="1">
                <a:solidFill>
                  <a:srgbClr val="4776C9"/>
                </a:solidFill>
                <a:latin typeface="Arial"/>
                <a:ea typeface="Arial"/>
                <a:cs typeface="Arial"/>
              </a:defRPr>
            </a:pPr>
            <a:r>
              <a:rPr sz="2100" b="1">
                <a:solidFill>
                  <a:srgbClr val="4776C9"/>
                </a:solidFill>
                <a:latin typeface="Arial"/>
                <a:ea typeface="Arial"/>
                <a:cs typeface="Arial"/>
              </a:rPr>
              <a:t>The Score A pipeline has about 2.49 times the final mean width of Score B.</a:t>
            </a:r>
          </a:p>
        </p:txBody>
      </p:sp>
      <p:sp>
        <p:nvSpPr>
          <p:cNvPr id="5" name="Same model and masks. Results compare complet">
            <a:extLst xmlns:a="http://schemas.openxmlformats.org/drawingml/2006/main">
              <a:ext uri="{FF2B5EF4-FFF2-40B4-BE49-F238E27FC236}">
                <a16:creationId xmlns:a16="http://schemas.microsoft.com/office/drawing/2014/main" id="{E93FE91C-C426-46B9-BBC7-7AE229964DC7}"/>
              </a:ext>
            </a:extLst>
          </p:cNvPr>
          <p:cNvSpPr>
            <a:spLocks xmlns:a="http://schemas.openxmlformats.org/drawingml/2006/main" noGrp="1"/>
          </p:cNvSpPr>
          <p:nvPr/>
        </p:nvSpPr>
        <p:spPr>
          <a:xfrm xmlns:a="http://schemas.openxmlformats.org/drawingml/2006/main">
            <a:off x="571500" y="6019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05050"/>
                </a:solidFill>
                <a:latin typeface="Arial"/>
                <a:ea typeface="Arial"/>
                <a:cs typeface="Arial"/>
              </a:defRPr>
            </a:defPPr>
            <a:lvl1pPr algn="l">
              <a:defRPr sz="1725" b="0">
                <a:solidFill>
                  <a:srgbClr val="505050"/>
                </a:solidFill>
                <a:latin typeface="Arial"/>
                <a:ea typeface="Arial"/>
                <a:cs typeface="Arial"/>
              </a:defRPr>
            </a:lvl1pPr>
            <a:lvl2pPr algn="l">
              <a:defRPr sz="1725" b="0">
                <a:solidFill>
                  <a:srgbClr val="505050"/>
                </a:solidFill>
                <a:latin typeface="Arial"/>
                <a:ea typeface="Arial"/>
                <a:cs typeface="Arial"/>
              </a:defRPr>
            </a:lvl2pPr>
            <a:lvl3pPr algn="l">
              <a:defRPr sz="1725" b="0">
                <a:solidFill>
                  <a:srgbClr val="505050"/>
                </a:solidFill>
                <a:latin typeface="Arial"/>
                <a:ea typeface="Arial"/>
                <a:cs typeface="Arial"/>
              </a:defRPr>
            </a:lvl3pPr>
            <a:lvl4pPr algn="l">
              <a:defRPr sz="1725" b="0">
                <a:solidFill>
                  <a:srgbClr val="505050"/>
                </a:solidFill>
                <a:latin typeface="Arial"/>
                <a:ea typeface="Arial"/>
                <a:cs typeface="Arial"/>
              </a:defRPr>
            </a:lvl4pPr>
            <a:lvl5pPr algn="l">
              <a:defRPr sz="1725" b="0">
                <a:solidFill>
                  <a:srgbClr val="505050"/>
                </a:solidFill>
                <a:latin typeface="Arial"/>
                <a:ea typeface="Arial"/>
                <a:cs typeface="Arial"/>
              </a:defRPr>
            </a:lvl5pPr>
            <a:lvl6pPr algn="l">
              <a:defRPr sz="1725" b="0">
                <a:solidFill>
                  <a:srgbClr val="505050"/>
                </a:solidFill>
                <a:latin typeface="Arial"/>
                <a:ea typeface="Arial"/>
                <a:cs typeface="Arial"/>
              </a:defRPr>
            </a:lvl6pPr>
            <a:lvl7pPr algn="l">
              <a:defRPr sz="1725" b="0">
                <a:solidFill>
                  <a:srgbClr val="505050"/>
                </a:solidFill>
                <a:latin typeface="Arial"/>
                <a:ea typeface="Arial"/>
                <a:cs typeface="Arial"/>
              </a:defRPr>
            </a:lvl7pPr>
            <a:lvl8pPr algn="l">
              <a:defRPr sz="1725" b="0">
                <a:solidFill>
                  <a:srgbClr val="505050"/>
                </a:solidFill>
                <a:latin typeface="Arial"/>
                <a:ea typeface="Arial"/>
                <a:cs typeface="Arial"/>
              </a:defRPr>
            </a:lvl8pPr>
            <a:lvl9pPr algn="l">
              <a:defRPr sz="1725" b="0">
                <a:solidFill>
                  <a:srgbClr val="505050"/>
                </a:solidFill>
                <a:latin typeface="Arial"/>
                <a:ea typeface="Arial"/>
                <a:cs typeface="Arial"/>
              </a:defRPr>
            </a:lvl9pPr>
          </a:lstStyle>
          <a:p xmlns:a="http://schemas.openxmlformats.org/drawingml/2006/main">
            <a:pPr algn="l">
              <a:defRPr sz="1725" b="0">
                <a:solidFill>
                  <a:srgbClr val="505050"/>
                </a:solidFill>
                <a:latin typeface="Arial"/>
                <a:ea typeface="Arial"/>
                <a:cs typeface="Arial"/>
              </a:defRPr>
            </a:pPr>
            <a:r>
              <a:rPr sz="1725" b="0">
                <a:solidFill>
                  <a:srgbClr val="505050"/>
                </a:solidFill>
                <a:latin typeface="Arial"/>
                <a:ea typeface="Arial"/>
                <a:cs typeface="Arial"/>
              </a:rPr>
              <a:t>Same model and masks. Results compare complete score, band and projection pipelines.</a:t>
            </a:r>
          </a:p>
        </p:txBody>
      </p:sp>
      <p:sp>
        <p:nvSpPr>
          <p:cNvPr id="6" name="source-line">
            <a:extLst xmlns:a="http://schemas.openxmlformats.org/drawingml/2006/main">
              <a:ext uri="{FF2B5EF4-FFF2-40B4-BE49-F238E27FC236}">
                <a16:creationId xmlns:a16="http://schemas.microsoft.com/office/drawing/2014/main" id="{CF404512-9C98-43BD-AA39-72AA1F9B2EFB}"/>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notebook cells 21 and 26, thesis §5.4</a:t>
            </a:r>
          </a:p>
        </p:txBody>
      </p:sp>
      <p:sp>
        <p:nvSpPr>
          <p:cNvPr id="7" name="slide-number">
            <a:extLst xmlns:a="http://schemas.openxmlformats.org/drawingml/2006/main">
              <a:ext uri="{FF2B5EF4-FFF2-40B4-BE49-F238E27FC236}">
                <a16:creationId xmlns:a16="http://schemas.microsoft.com/office/drawing/2014/main" id="{1D9DE978-0F58-4FD2-9149-69A7D2AA775C}"/>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15</a:t>
            </a:r>
          </a:p>
        </p:txBody>
      </p:sp>
    </p:spTree>
    <p:extLst>
      <p:ext uri="{BB962C8B-B14F-4D97-AF65-F5344CB8AC3E}">
        <p14:creationId xmlns:p14="http://schemas.microsoft.com/office/powerpoint/2010/main" val="21283399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2EFE081-DB8B-499C-87A0-EBB15CD9EA12}"/>
              </a:ext>
            </a:extLst>
          </p:cNvPr>
          <p:cNvPicPr>
            <a:picLocks xmlns:a="http://schemas.openxmlformats.org/drawingml/2006/main" noChangeAspect="1"/>
          </p:cNvPicPr>
          <p:nvPr/>
        </p:nvPicPr>
        <p:blipFill>
          <a:blip xmlns:r="http://schemas.openxmlformats.org/officeDocument/2006/relationships" xmlns:a="http://schemas.openxmlformats.org/drawingml/2006/main" r:embed="Rc38d1ef4a6e143e3"/>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210661E4-B616-4F36-9783-BC4B5839C12A}"/>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Score B exceeds 90% on average</a:t>
            </a:r>
          </a:p>
        </p:txBody>
      </p:sp>
      <p:graphicFrame>
        <p:nvGraphicFramePr>
          <p:cNvPr id="3" name="Chart">
            <a:extLst xmlns:a="http://schemas.openxmlformats.org/drawingml/2006/main">
              <a:ext uri="{FF2B5EF4-FFF2-40B4-BE49-F238E27FC236}">
                <a16:creationId xmlns:a16="http://schemas.microsoft.com/office/drawing/2014/main" id="{058CBD51-9BCC-442F-95D0-69F3DC1D8240}"/>
              </a:ext>
            </a:extLst>
          </p:cNvPr>
          <p:cNvGraphicFramePr/>
          <p:nvPr/>
        </p:nvGraphicFramePr>
        <p:xfrm>
          <a:off xmlns:a="http://schemas.openxmlformats.org/drawingml/2006/main" x="666750" y="1600200"/>
          <a:ext xmlns:a="http://schemas.openxmlformats.org/drawingml/2006/main" cx="10810875" cy="3648075"/>
        </p:xfrm>
        <a:graphic xmlns:a="http://schemas.openxmlformats.org/drawingml/2006/main">
          <a:graphicData uri="http://schemas.openxmlformats.org/drawingml/2006/chart">
            <c:chart xmlns:r="http://schemas.openxmlformats.org/officeDocument/2006/relationships" xmlns:c="http://schemas.openxmlformats.org/drawingml/2006/chart" r:id="Rcbc1cca40d184094"/>
          </a:graphicData>
        </a:graphic>
      </p:graphicFrame>
      <p:sp>
        <p:nvSpPr>
          <p:cNvPr id="4" name="Global mean: 90.84%      Mondrian mean: 92.86">
            <a:extLst xmlns:a="http://schemas.openxmlformats.org/drawingml/2006/main">
              <a:ext uri="{FF2B5EF4-FFF2-40B4-BE49-F238E27FC236}">
                <a16:creationId xmlns:a16="http://schemas.microsoft.com/office/drawing/2014/main" id="{E59B999D-4E53-4847-9DD4-97539458A47D}"/>
              </a:ext>
            </a:extLst>
          </p:cNvPr>
          <p:cNvSpPr>
            <a:spLocks xmlns:a="http://schemas.openxmlformats.org/drawingml/2006/main" noGrp="1"/>
          </p:cNvSpPr>
          <p:nvPr/>
        </p:nvSpPr>
        <p:spPr>
          <a:xfrm xmlns:a="http://schemas.openxmlformats.org/drawingml/2006/main">
            <a:off x="619125" y="54387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4776C9"/>
                </a:solidFill>
                <a:latin typeface="Arial"/>
                <a:ea typeface="Arial"/>
                <a:cs typeface="Arial"/>
              </a:defRPr>
            </a:defPPr>
            <a:lvl1pPr algn="l">
              <a:defRPr sz="2175" b="1">
                <a:solidFill>
                  <a:srgbClr val="4776C9"/>
                </a:solidFill>
                <a:latin typeface="Arial"/>
                <a:ea typeface="Arial"/>
                <a:cs typeface="Arial"/>
              </a:defRPr>
            </a:lvl1pPr>
            <a:lvl2pPr algn="l">
              <a:defRPr sz="2175" b="1">
                <a:solidFill>
                  <a:srgbClr val="4776C9"/>
                </a:solidFill>
                <a:latin typeface="Arial"/>
                <a:ea typeface="Arial"/>
                <a:cs typeface="Arial"/>
              </a:defRPr>
            </a:lvl2pPr>
            <a:lvl3pPr algn="l">
              <a:defRPr sz="2175" b="1">
                <a:solidFill>
                  <a:srgbClr val="4776C9"/>
                </a:solidFill>
                <a:latin typeface="Arial"/>
                <a:ea typeface="Arial"/>
                <a:cs typeface="Arial"/>
              </a:defRPr>
            </a:lvl3pPr>
            <a:lvl4pPr algn="l">
              <a:defRPr sz="2175" b="1">
                <a:solidFill>
                  <a:srgbClr val="4776C9"/>
                </a:solidFill>
                <a:latin typeface="Arial"/>
                <a:ea typeface="Arial"/>
                <a:cs typeface="Arial"/>
              </a:defRPr>
            </a:lvl4pPr>
            <a:lvl5pPr algn="l">
              <a:defRPr sz="2175" b="1">
                <a:solidFill>
                  <a:srgbClr val="4776C9"/>
                </a:solidFill>
                <a:latin typeface="Arial"/>
                <a:ea typeface="Arial"/>
                <a:cs typeface="Arial"/>
              </a:defRPr>
            </a:lvl5pPr>
            <a:lvl6pPr algn="l">
              <a:defRPr sz="2175" b="1">
                <a:solidFill>
                  <a:srgbClr val="4776C9"/>
                </a:solidFill>
                <a:latin typeface="Arial"/>
                <a:ea typeface="Arial"/>
                <a:cs typeface="Arial"/>
              </a:defRPr>
            </a:lvl6pPr>
            <a:lvl7pPr algn="l">
              <a:defRPr sz="2175" b="1">
                <a:solidFill>
                  <a:srgbClr val="4776C9"/>
                </a:solidFill>
                <a:latin typeface="Arial"/>
                <a:ea typeface="Arial"/>
                <a:cs typeface="Arial"/>
              </a:defRPr>
            </a:lvl7pPr>
            <a:lvl8pPr algn="l">
              <a:defRPr sz="2175" b="1">
                <a:solidFill>
                  <a:srgbClr val="4776C9"/>
                </a:solidFill>
                <a:latin typeface="Arial"/>
                <a:ea typeface="Arial"/>
                <a:cs typeface="Arial"/>
              </a:defRPr>
            </a:lvl8pPr>
            <a:lvl9pPr algn="l">
              <a:defRPr sz="2175" b="1">
                <a:solidFill>
                  <a:srgbClr val="4776C9"/>
                </a:solidFill>
                <a:latin typeface="Arial"/>
                <a:ea typeface="Arial"/>
                <a:cs typeface="Arial"/>
              </a:defRPr>
            </a:lvl9pPr>
          </a:lstStyle>
          <a:p xmlns:a="http://schemas.openxmlformats.org/drawingml/2006/main">
            <a:pPr algn="l">
              <a:defRPr sz="2175" b="1">
                <a:solidFill>
                  <a:srgbClr val="4776C9"/>
                </a:solidFill>
                <a:latin typeface="Arial"/>
                <a:ea typeface="Arial"/>
                <a:cs typeface="Arial"/>
              </a:defRPr>
            </a:pPr>
            <a:r>
              <a:rPr sz="2175" b="1">
                <a:solidFill>
                  <a:srgbClr val="4776C9"/>
                </a:solidFill>
                <a:latin typeface="Arial"/>
                <a:ea typeface="Arial"/>
                <a:cs typeface="Arial"/>
              </a:rPr>
              <a:t>Global mean: 90.84%      Mondrian mean: 92.86%</a:t>
            </a:r>
          </a:p>
        </p:txBody>
      </p:sp>
      <p:sp>
        <p:nvSpPr>
          <p:cNvPr id="5" name="Mondrian falls below 90% on 3 of 31 surfaces.">
            <a:extLst xmlns:a="http://schemas.openxmlformats.org/drawingml/2006/main">
              <a:ext uri="{FF2B5EF4-FFF2-40B4-BE49-F238E27FC236}">
                <a16:creationId xmlns:a16="http://schemas.microsoft.com/office/drawing/2014/main" id="{178FF9FC-F6A2-4CC3-ABD0-4705D6A9C0EE}"/>
              </a:ext>
            </a:extLst>
          </p:cNvPr>
          <p:cNvSpPr>
            <a:spLocks xmlns:a="http://schemas.openxmlformats.org/drawingml/2006/main" noGrp="1"/>
          </p:cNvSpPr>
          <p:nvPr/>
        </p:nvSpPr>
        <p:spPr>
          <a:xfrm xmlns:a="http://schemas.openxmlformats.org/drawingml/2006/main">
            <a:off x="619125" y="60102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05050"/>
                </a:solidFill>
                <a:latin typeface="Arial"/>
                <a:ea typeface="Arial"/>
                <a:cs typeface="Arial"/>
              </a:defRPr>
            </a:defPPr>
            <a:lvl1pPr algn="l">
              <a:defRPr sz="1725" b="0">
                <a:solidFill>
                  <a:srgbClr val="505050"/>
                </a:solidFill>
                <a:latin typeface="Arial"/>
                <a:ea typeface="Arial"/>
                <a:cs typeface="Arial"/>
              </a:defRPr>
            </a:lvl1pPr>
            <a:lvl2pPr algn="l">
              <a:defRPr sz="1725" b="0">
                <a:solidFill>
                  <a:srgbClr val="505050"/>
                </a:solidFill>
                <a:latin typeface="Arial"/>
                <a:ea typeface="Arial"/>
                <a:cs typeface="Arial"/>
              </a:defRPr>
            </a:lvl2pPr>
            <a:lvl3pPr algn="l">
              <a:defRPr sz="1725" b="0">
                <a:solidFill>
                  <a:srgbClr val="505050"/>
                </a:solidFill>
                <a:latin typeface="Arial"/>
                <a:ea typeface="Arial"/>
                <a:cs typeface="Arial"/>
              </a:defRPr>
            </a:lvl3pPr>
            <a:lvl4pPr algn="l">
              <a:defRPr sz="1725" b="0">
                <a:solidFill>
                  <a:srgbClr val="505050"/>
                </a:solidFill>
                <a:latin typeface="Arial"/>
                <a:ea typeface="Arial"/>
                <a:cs typeface="Arial"/>
              </a:defRPr>
            </a:lvl4pPr>
            <a:lvl5pPr algn="l">
              <a:defRPr sz="1725" b="0">
                <a:solidFill>
                  <a:srgbClr val="505050"/>
                </a:solidFill>
                <a:latin typeface="Arial"/>
                <a:ea typeface="Arial"/>
                <a:cs typeface="Arial"/>
              </a:defRPr>
            </a:lvl5pPr>
            <a:lvl6pPr algn="l">
              <a:defRPr sz="1725" b="0">
                <a:solidFill>
                  <a:srgbClr val="505050"/>
                </a:solidFill>
                <a:latin typeface="Arial"/>
                <a:ea typeface="Arial"/>
                <a:cs typeface="Arial"/>
              </a:defRPr>
            </a:lvl6pPr>
            <a:lvl7pPr algn="l">
              <a:defRPr sz="1725" b="0">
                <a:solidFill>
                  <a:srgbClr val="505050"/>
                </a:solidFill>
                <a:latin typeface="Arial"/>
                <a:ea typeface="Arial"/>
                <a:cs typeface="Arial"/>
              </a:defRPr>
            </a:lvl7pPr>
            <a:lvl8pPr algn="l">
              <a:defRPr sz="1725" b="0">
                <a:solidFill>
                  <a:srgbClr val="505050"/>
                </a:solidFill>
                <a:latin typeface="Arial"/>
                <a:ea typeface="Arial"/>
                <a:cs typeface="Arial"/>
              </a:defRPr>
            </a:lvl8pPr>
            <a:lvl9pPr algn="l">
              <a:defRPr sz="1725" b="0">
                <a:solidFill>
                  <a:srgbClr val="505050"/>
                </a:solidFill>
                <a:latin typeface="Arial"/>
                <a:ea typeface="Arial"/>
                <a:cs typeface="Arial"/>
              </a:defRPr>
            </a:lvl9pPr>
          </a:lstStyle>
          <a:p xmlns:a="http://schemas.openxmlformats.org/drawingml/2006/main">
            <a:pPr algn="l">
              <a:defRPr sz="1725" b="0">
                <a:solidFill>
                  <a:srgbClr val="505050"/>
                </a:solidFill>
                <a:latin typeface="Arial"/>
                <a:ea typeface="Arial"/>
                <a:cs typeface="Arial"/>
              </a:defRPr>
            </a:pPr>
            <a:r>
              <a:rPr sz="1725" b="0">
                <a:solidFill>
                  <a:srgbClr val="505050"/>
                </a:solidFill>
                <a:latin typeface="Arial"/>
                <a:ea typeface="Arial"/>
                <a:cs typeface="Arial"/>
              </a:rPr>
              <a:t>Mondrian falls below 90% on 3 of 31 surfaces. Its coverage SD is 1.99 pp, versus 1.68 pp globally.</a:t>
            </a:r>
          </a:p>
        </p:txBody>
      </p:sp>
      <p:sp>
        <p:nvSpPr>
          <p:cNvPr id="6" name="source-line">
            <a:extLst xmlns:a="http://schemas.openxmlformats.org/drawingml/2006/main">
              <a:ext uri="{FF2B5EF4-FFF2-40B4-BE49-F238E27FC236}">
                <a16:creationId xmlns:a16="http://schemas.microsoft.com/office/drawing/2014/main" id="{F4ED6872-165B-438D-99B1-CF88D031754C}"/>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saved Score B evaluation rows and thesis §§5.5 and 6.1</a:t>
            </a:r>
          </a:p>
        </p:txBody>
      </p:sp>
      <p:sp>
        <p:nvSpPr>
          <p:cNvPr id="7" name="slide-number">
            <a:extLst xmlns:a="http://schemas.openxmlformats.org/drawingml/2006/main">
              <a:ext uri="{FF2B5EF4-FFF2-40B4-BE49-F238E27FC236}">
                <a16:creationId xmlns:a16="http://schemas.microsoft.com/office/drawing/2014/main" id="{9C7BA64B-0302-4727-A9A1-86FA12FB2094}"/>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16</a:t>
            </a:r>
          </a:p>
        </p:txBody>
      </p:sp>
    </p:spTree>
    <p:extLst>
      <p:ext uri="{BB962C8B-B14F-4D97-AF65-F5344CB8AC3E}">
        <p14:creationId xmlns:p14="http://schemas.microsoft.com/office/powerpoint/2010/main" val="51546173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8F76860-735E-4038-B6F7-C0831AFC48F9}"/>
              </a:ext>
            </a:extLst>
          </p:cNvPr>
          <p:cNvPicPr>
            <a:picLocks xmlns:a="http://schemas.openxmlformats.org/drawingml/2006/main" noChangeAspect="1"/>
          </p:cNvPicPr>
          <p:nvPr/>
        </p:nvPicPr>
        <p:blipFill>
          <a:blip xmlns:r="http://schemas.openxmlformats.org/officeDocument/2006/relationships" xmlns:a="http://schemas.openxmlformats.org/drawingml/2006/main" r:embed="R38923f5c31384bb3"/>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425CB575-03D4-46EC-8561-36D3DE71E655}"/>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Score A loses coverage during optimisation</a:t>
            </a:r>
          </a:p>
        </p:txBody>
      </p:sp>
      <p:graphicFrame>
        <p:nvGraphicFramePr>
          <p:cNvPr id="3" name="Chart">
            <a:extLst xmlns:a="http://schemas.openxmlformats.org/drawingml/2006/main">
              <a:ext uri="{FF2B5EF4-FFF2-40B4-BE49-F238E27FC236}">
                <a16:creationId xmlns:a16="http://schemas.microsoft.com/office/drawing/2014/main" id="{8631DC73-7CA8-49B7-B1D3-6C1DDF3359E9}"/>
              </a:ext>
            </a:extLst>
          </p:cNvPr>
          <p:cNvGraphicFramePr/>
          <p:nvPr/>
        </p:nvGraphicFramePr>
        <p:xfrm>
          <a:off xmlns:a="http://schemas.openxmlformats.org/drawingml/2006/main" x="666750" y="1685925"/>
          <a:ext xmlns:a="http://schemas.openxmlformats.org/drawingml/2006/main" cx="10810875" cy="3409950"/>
        </p:xfrm>
        <a:graphic xmlns:a="http://schemas.openxmlformats.org/drawingml/2006/main">
          <a:graphicData uri="http://schemas.openxmlformats.org/drawingml/2006/chart">
            <c:chart xmlns:r="http://schemas.openxmlformats.org/officeDocument/2006/relationships" xmlns:c="http://schemas.openxmlformats.org/drawingml/2006/chart" r:id="R5d3bc4cfdbd441cf"/>
          </a:graphicData>
        </a:graphic>
      </p:graphicFrame>
      <p:sp>
        <p:nvSpPr>
          <p:cNvPr id="4" name="Score A mean IV width grows from 0.060932 to ">
            <a:extLst xmlns:a="http://schemas.openxmlformats.org/drawingml/2006/main">
              <a:ext uri="{FF2B5EF4-FFF2-40B4-BE49-F238E27FC236}">
                <a16:creationId xmlns:a16="http://schemas.microsoft.com/office/drawing/2014/main" id="{18BFEE92-D2D1-4FCB-B9F0-ED9F95CDFF65}"/>
              </a:ext>
            </a:extLst>
          </p:cNvPr>
          <p:cNvSpPr>
            <a:spLocks xmlns:a="http://schemas.openxmlformats.org/drawingml/2006/main" noGrp="1"/>
          </p:cNvSpPr>
          <p:nvPr/>
        </p:nvSpPr>
        <p:spPr>
          <a:xfrm xmlns:a="http://schemas.openxmlformats.org/drawingml/2006/main">
            <a:off x="619125" y="53625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4776C9"/>
                </a:solidFill>
                <a:latin typeface="Arial"/>
                <a:ea typeface="Arial"/>
                <a:cs typeface="Arial"/>
              </a:defRPr>
            </a:defPPr>
            <a:lvl1pPr algn="l">
              <a:defRPr sz="2025" b="1">
                <a:solidFill>
                  <a:srgbClr val="4776C9"/>
                </a:solidFill>
                <a:latin typeface="Arial"/>
                <a:ea typeface="Arial"/>
                <a:cs typeface="Arial"/>
              </a:defRPr>
            </a:lvl1pPr>
            <a:lvl2pPr algn="l">
              <a:defRPr sz="2025" b="1">
                <a:solidFill>
                  <a:srgbClr val="4776C9"/>
                </a:solidFill>
                <a:latin typeface="Arial"/>
                <a:ea typeface="Arial"/>
                <a:cs typeface="Arial"/>
              </a:defRPr>
            </a:lvl2pPr>
            <a:lvl3pPr algn="l">
              <a:defRPr sz="2025" b="1">
                <a:solidFill>
                  <a:srgbClr val="4776C9"/>
                </a:solidFill>
                <a:latin typeface="Arial"/>
                <a:ea typeface="Arial"/>
                <a:cs typeface="Arial"/>
              </a:defRPr>
            </a:lvl3pPr>
            <a:lvl4pPr algn="l">
              <a:defRPr sz="2025" b="1">
                <a:solidFill>
                  <a:srgbClr val="4776C9"/>
                </a:solidFill>
                <a:latin typeface="Arial"/>
                <a:ea typeface="Arial"/>
                <a:cs typeface="Arial"/>
              </a:defRPr>
            </a:lvl4pPr>
            <a:lvl5pPr algn="l">
              <a:defRPr sz="2025" b="1">
                <a:solidFill>
                  <a:srgbClr val="4776C9"/>
                </a:solidFill>
                <a:latin typeface="Arial"/>
                <a:ea typeface="Arial"/>
                <a:cs typeface="Arial"/>
              </a:defRPr>
            </a:lvl5pPr>
            <a:lvl6pPr algn="l">
              <a:defRPr sz="2025" b="1">
                <a:solidFill>
                  <a:srgbClr val="4776C9"/>
                </a:solidFill>
                <a:latin typeface="Arial"/>
                <a:ea typeface="Arial"/>
                <a:cs typeface="Arial"/>
              </a:defRPr>
            </a:lvl6pPr>
            <a:lvl7pPr algn="l">
              <a:defRPr sz="2025" b="1">
                <a:solidFill>
                  <a:srgbClr val="4776C9"/>
                </a:solidFill>
                <a:latin typeface="Arial"/>
                <a:ea typeface="Arial"/>
                <a:cs typeface="Arial"/>
              </a:defRPr>
            </a:lvl7pPr>
            <a:lvl8pPr algn="l">
              <a:defRPr sz="2025" b="1">
                <a:solidFill>
                  <a:srgbClr val="4776C9"/>
                </a:solidFill>
                <a:latin typeface="Arial"/>
                <a:ea typeface="Arial"/>
                <a:cs typeface="Arial"/>
              </a:defRPr>
            </a:lvl8pPr>
            <a:lvl9pPr algn="l">
              <a:defRPr sz="2025" b="1">
                <a:solidFill>
                  <a:srgbClr val="4776C9"/>
                </a:solidFill>
                <a:latin typeface="Arial"/>
                <a:ea typeface="Arial"/>
                <a:cs typeface="Arial"/>
              </a:defRPr>
            </a:lvl9pPr>
          </a:lstStyle>
          <a:p xmlns:a="http://schemas.openxmlformats.org/drawingml/2006/main">
            <a:pPr algn="l">
              <a:defRPr sz="2025" b="1">
                <a:solidFill>
                  <a:srgbClr val="4776C9"/>
                </a:solidFill>
                <a:latin typeface="Arial"/>
                <a:ea typeface="Arial"/>
                <a:cs typeface="Arial"/>
              </a:defRPr>
            </a:pPr>
            <a:r>
              <a:rPr sz="2025" b="1">
                <a:solidFill>
                  <a:srgbClr val="4776C9"/>
                </a:solidFill>
                <a:latin typeface="Arial"/>
                <a:ea typeface="Arial"/>
                <a:cs typeface="Arial"/>
              </a:rPr>
              <a:t>Score A mean IV width grows from 0.060932 to 0.067806 during optimisation.</a:t>
            </a:r>
          </a:p>
        </p:txBody>
      </p:sp>
      <p:sp>
        <p:nvSpPr>
          <p:cNvPr id="5" name="Wider average bands can still lose coverage w">
            <a:extLst xmlns:a="http://schemas.openxmlformats.org/drawingml/2006/main">
              <a:ext uri="{FF2B5EF4-FFF2-40B4-BE49-F238E27FC236}">
                <a16:creationId xmlns:a16="http://schemas.microsoft.com/office/drawing/2014/main" id="{0D4106AC-0FBA-42AC-9E66-3C6A584F4E71}"/>
              </a:ext>
            </a:extLst>
          </p:cNvPr>
          <p:cNvSpPr>
            <a:spLocks xmlns:a="http://schemas.openxmlformats.org/drawingml/2006/main" noGrp="1"/>
          </p:cNvSpPr>
          <p:nvPr/>
        </p:nvSpPr>
        <p:spPr>
          <a:xfrm xmlns:a="http://schemas.openxmlformats.org/drawingml/2006/main">
            <a:off x="619125" y="60674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05050"/>
                </a:solidFill>
                <a:latin typeface="Arial"/>
                <a:ea typeface="Arial"/>
                <a:cs typeface="Arial"/>
              </a:defRPr>
            </a:defPPr>
            <a:lvl1pPr algn="l">
              <a:defRPr sz="1875" b="0">
                <a:solidFill>
                  <a:srgbClr val="505050"/>
                </a:solidFill>
                <a:latin typeface="Arial"/>
                <a:ea typeface="Arial"/>
                <a:cs typeface="Arial"/>
              </a:defRPr>
            </a:lvl1pPr>
            <a:lvl2pPr algn="l">
              <a:defRPr sz="1875" b="0">
                <a:solidFill>
                  <a:srgbClr val="505050"/>
                </a:solidFill>
                <a:latin typeface="Arial"/>
                <a:ea typeface="Arial"/>
                <a:cs typeface="Arial"/>
              </a:defRPr>
            </a:lvl2pPr>
            <a:lvl3pPr algn="l">
              <a:defRPr sz="1875" b="0">
                <a:solidFill>
                  <a:srgbClr val="505050"/>
                </a:solidFill>
                <a:latin typeface="Arial"/>
                <a:ea typeface="Arial"/>
                <a:cs typeface="Arial"/>
              </a:defRPr>
            </a:lvl3pPr>
            <a:lvl4pPr algn="l">
              <a:defRPr sz="1875" b="0">
                <a:solidFill>
                  <a:srgbClr val="505050"/>
                </a:solidFill>
                <a:latin typeface="Arial"/>
                <a:ea typeface="Arial"/>
                <a:cs typeface="Arial"/>
              </a:defRPr>
            </a:lvl4pPr>
            <a:lvl5pPr algn="l">
              <a:defRPr sz="1875" b="0">
                <a:solidFill>
                  <a:srgbClr val="505050"/>
                </a:solidFill>
                <a:latin typeface="Arial"/>
                <a:ea typeface="Arial"/>
                <a:cs typeface="Arial"/>
              </a:defRPr>
            </a:lvl5pPr>
            <a:lvl6pPr algn="l">
              <a:defRPr sz="1875" b="0">
                <a:solidFill>
                  <a:srgbClr val="505050"/>
                </a:solidFill>
                <a:latin typeface="Arial"/>
                <a:ea typeface="Arial"/>
                <a:cs typeface="Arial"/>
              </a:defRPr>
            </a:lvl6pPr>
            <a:lvl7pPr algn="l">
              <a:defRPr sz="1875" b="0">
                <a:solidFill>
                  <a:srgbClr val="505050"/>
                </a:solidFill>
                <a:latin typeface="Arial"/>
                <a:ea typeface="Arial"/>
                <a:cs typeface="Arial"/>
              </a:defRPr>
            </a:lvl7pPr>
            <a:lvl8pPr algn="l">
              <a:defRPr sz="1875" b="0">
                <a:solidFill>
                  <a:srgbClr val="505050"/>
                </a:solidFill>
                <a:latin typeface="Arial"/>
                <a:ea typeface="Arial"/>
                <a:cs typeface="Arial"/>
              </a:defRPr>
            </a:lvl8pPr>
            <a:lvl9pPr algn="l">
              <a:defRPr sz="1875" b="0">
                <a:solidFill>
                  <a:srgbClr val="505050"/>
                </a:solidFill>
                <a:latin typeface="Arial"/>
                <a:ea typeface="Arial"/>
                <a:cs typeface="Arial"/>
              </a:defRPr>
            </a:lvl9pPr>
          </a:lstStyle>
          <a:p xmlns:a="http://schemas.openxmlformats.org/drawingml/2006/main">
            <a:pPr algn="l">
              <a:defRPr sz="1875" b="0">
                <a:solidFill>
                  <a:srgbClr val="505050"/>
                </a:solidFill>
                <a:latin typeface="Arial"/>
                <a:ea typeface="Arial"/>
                <a:cs typeface="Arial"/>
              </a:defRPr>
            </a:pPr>
            <a:r>
              <a:rPr sz="1875" b="0">
                <a:solidFill>
                  <a:srgbClr val="505050"/>
                </a:solidFill>
                <a:latin typeface="Arial"/>
                <a:ea typeface="Arial"/>
                <a:cs typeface="Arial"/>
              </a:rPr>
              <a:t>Wider average bands can still lose coverage when the endpoints move.</a:t>
            </a:r>
          </a:p>
        </p:txBody>
      </p:sp>
      <p:sp>
        <p:nvSpPr>
          <p:cNvPr id="6" name="source-line">
            <a:extLst xmlns:a="http://schemas.openxmlformats.org/drawingml/2006/main">
              <a:ext uri="{FF2B5EF4-FFF2-40B4-BE49-F238E27FC236}">
                <a16:creationId xmlns:a16="http://schemas.microsoft.com/office/drawing/2014/main" id="{6440A4E2-CE4D-483B-B9FA-A54FEA1B8452}"/>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notebook cell 26, projection_effects.py, thesis §5.4</a:t>
            </a:r>
          </a:p>
        </p:txBody>
      </p:sp>
      <p:sp>
        <p:nvSpPr>
          <p:cNvPr id="7" name="slide-number">
            <a:extLst xmlns:a="http://schemas.openxmlformats.org/drawingml/2006/main">
              <a:ext uri="{FF2B5EF4-FFF2-40B4-BE49-F238E27FC236}">
                <a16:creationId xmlns:a16="http://schemas.microsoft.com/office/drawing/2014/main" id="{A0776B87-505D-4A2C-8E2E-5820C428332E}"/>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17</a:t>
            </a:r>
          </a:p>
        </p:txBody>
      </p:sp>
    </p:spTree>
    <p:extLst>
      <p:ext uri="{BB962C8B-B14F-4D97-AF65-F5344CB8AC3E}">
        <p14:creationId xmlns:p14="http://schemas.microsoft.com/office/powerpoint/2010/main" val="20775158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CBEB7E3-1135-47E0-8804-A0EBD659946E}"/>
              </a:ext>
            </a:extLst>
          </p:cNvPr>
          <p:cNvPicPr>
            <a:picLocks xmlns:a="http://schemas.openxmlformats.org/drawingml/2006/main" noChangeAspect="1"/>
          </p:cNvPicPr>
          <p:nvPr/>
        </p:nvPicPr>
        <p:blipFill>
          <a:blip xmlns:r="http://schemas.openxmlformats.org/officeDocument/2006/relationships" xmlns:a="http://schemas.openxmlformats.org/drawingml/2006/main" r:embed="R8c3cc26d2aa64fcb"/>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96EFBB87-52F8-4211-9173-AF717B0703CF}"/>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Regional undercoverage remains substantial</a:t>
            </a:r>
          </a:p>
        </p:txBody>
      </p:sp>
      <p:sp>
        <p:nvSpPr>
          <p:cNvPr id="3" name="Score B after projection, Mondrian coverage w">
            <a:extLst xmlns:a="http://schemas.openxmlformats.org/drawingml/2006/main">
              <a:ext uri="{FF2B5EF4-FFF2-40B4-BE49-F238E27FC236}">
                <a16:creationId xmlns:a16="http://schemas.microsoft.com/office/drawing/2014/main" id="{FCE46764-AEAC-4745-AFB1-34FB81039C30}"/>
              </a:ext>
            </a:extLst>
          </p:cNvPr>
          <p:cNvSpPr>
            <a:spLocks xmlns:a="http://schemas.openxmlformats.org/drawingml/2006/main" noGrp="1"/>
          </p:cNvSpPr>
          <p:nvPr/>
        </p:nvSpPr>
        <p:spPr>
          <a:xfrm xmlns:a="http://schemas.openxmlformats.org/drawingml/2006/main">
            <a:off x="523875" y="15430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algn="l">
              <a:defRPr sz="2025" b="0">
                <a:solidFill>
                  <a:srgbClr val="151515"/>
                </a:solidFill>
                <a:latin typeface="Arial"/>
                <a:ea typeface="Arial"/>
                <a:cs typeface="Arial"/>
              </a:defRPr>
            </a:pPr>
            <a:r>
              <a:rPr sz="2025" b="0">
                <a:solidFill>
                  <a:srgbClr val="151515"/>
                </a:solidFill>
                <a:latin typeface="Arial"/>
                <a:ea typeface="Arial"/>
                <a:cs typeface="Arial"/>
              </a:rPr>
              <a:t>Score B after projection, Mondrian coverage within each (ρ, z) bin</a:t>
            </a:r>
          </a:p>
        </p:txBody>
      </p:sp>
      <p:graphicFrame>
        <p:nvGraphicFramePr>
          <p:cNvPr id="4" name="">
            <a:extLst xmlns:a="http://schemas.openxmlformats.org/drawingml/2006/main">
              <a:ext uri="{FF2B5EF4-FFF2-40B4-BE49-F238E27FC236}">
                <a16:creationId xmlns:a16="http://schemas.microsoft.com/office/drawing/2014/main" id="{65398A21-3D59-4E56-ACFA-B1F69D8F069B}"/>
              </a:ext>
            </a:extLst>
          </p:cNvPr>
          <p:cNvGraphicFramePr/>
          <p:nvPr/>
        </p:nvGraphicFramePr>
        <p:xfrm>
          <a:off xmlns:a="http://schemas.openxmlformats.org/drawingml/2006/main" x="523875" y="2305050"/>
          <a:ext xmlns:a="http://schemas.openxmlformats.org/drawingml/2006/main" cx="11049000" cy="2762250"/>
        </p:xfrm>
        <a:graphic xmlns:a="http://schemas.openxmlformats.org/drawingml/2006/main">
          <a:graphicData uri="http://schemas.openxmlformats.org/drawingml/2006/table">
            <a:tbl>
              <a:tblPr firstRow="0" bandRow="0"/>
              <a:tblGrid>
                <a:gridCol w="2857500"/>
                <a:gridCol w="2047875"/>
                <a:gridCol w="2047875"/>
                <a:gridCol w="2047875"/>
                <a:gridCol w="2047875"/>
              </a:tblGrid>
              <a:tr h="552450">
                <a:tc>
                  <a:txBody>
                    <a:bodyPr lIns="95250" tIns="95250" rIns="95250" bIns="95250">
                      <a:noAutofit/>
                    </a:bodyPr>
                    <a:lstStyle/>
                    <a:p>
                      <a:pPr algn="l"/>
                      <a:r>
                        <a:rPr sz="1875" b="1">
                          <a:solidFill>
                            <a:srgbClr val="4776C9"/>
                          </a:solidFill>
                          <a:latin typeface="Arial"/>
                          <a:ea typeface="Arial"/>
                          <a:cs typeface="Arial"/>
                        </a:rPr>
                        <a:t>ρ bin / z bin</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−1.5 to −1</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−1 to −0.5</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−0.5 to 0</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0 to 0.5</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r>
              <a:tr h="552450">
                <a:tc>
                  <a:txBody>
                    <a:bodyPr lIns="95250" tIns="95250" rIns="95250" bIns="95250">
                      <a:noAutofit/>
                    </a:bodyPr>
                    <a:lstStyle/>
                    <a:p>
                      <a:pPr algn="l"/>
                      <a:r>
                        <a:rPr sz="1875" b="0">
                          <a:solidFill>
                            <a:srgbClr val="151515"/>
                          </a:solidFill>
                          <a:latin typeface="Arial"/>
                          <a:ea typeface="Arial"/>
                          <a:cs typeface="Arial"/>
                        </a:rPr>
                        <a:t>0.0100–0.2575</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84.38%</a:t>
                      </a:r>
                    </a:p>
                  </a:txBody>
                  <a:tcPr marL="91440" marR="91440" marT="45720" marB="45720" anchor="ctr">
                    <a:lnR w="9525">
                      <a:solidFill>
                        <a:srgbClr val="D5DCE6"/>
                      </a:solidFill>
                      <a:prstDash val="solid"/>
                    </a:lnR>
                    <a:lnB w="9525">
                      <a:solidFill>
                        <a:srgbClr val="D5DCE6"/>
                      </a:solidFill>
                      <a:prstDash val="solid"/>
                    </a:lnB>
                    <a:solidFill>
                      <a:srgbClr val="FAE8DF"/>
                    </a:solidFill>
                  </a:tcPr>
                </a:tc>
                <a:tc>
                  <a:txBody>
                    <a:bodyPr lIns="95250" tIns="95250" rIns="95250" bIns="95250">
                      <a:noAutofit/>
                    </a:bodyPr>
                    <a:lstStyle/>
                    <a:p>
                      <a:pPr algn="ctr"/>
                      <a:r>
                        <a:rPr sz="1875" b="0">
                          <a:solidFill>
                            <a:srgbClr val="151515"/>
                          </a:solidFill>
                          <a:latin typeface="Arial"/>
                          <a:ea typeface="Arial"/>
                          <a:cs typeface="Arial"/>
                        </a:rPr>
                        <a:t>90.90%</a:t>
                      </a:r>
                    </a:p>
                  </a:txBody>
                  <a:tcPr marL="91440" marR="91440" marT="45720" marB="45720" anchor="ctr">
                    <a:lnR w="9525">
                      <a:solidFill>
                        <a:srgbClr val="D5DCE6"/>
                      </a:solidFill>
                      <a:prstDash val="solid"/>
                    </a:lnR>
                    <a:lnB w="9525">
                      <a:solidFill>
                        <a:srgbClr val="D5DCE6"/>
                      </a:solidFill>
                      <a:prstDash val="solid"/>
                    </a:lnB>
                    <a:solidFill>
                      <a:srgbClr val="E5F3F0"/>
                    </a:solidFill>
                  </a:tcPr>
                </a:tc>
                <a:tc>
                  <a:txBody>
                    <a:bodyPr lIns="95250" tIns="95250" rIns="95250" bIns="95250">
                      <a:noAutofit/>
                    </a:bodyPr>
                    <a:lstStyle/>
                    <a:p>
                      <a:pPr algn="ctr"/>
                      <a:r>
                        <a:rPr sz="1875" b="0">
                          <a:solidFill>
                            <a:srgbClr val="151515"/>
                          </a:solidFill>
                          <a:latin typeface="Arial"/>
                          <a:ea typeface="Arial"/>
                          <a:cs typeface="Arial"/>
                        </a:rPr>
                        <a:t>92.77%</a:t>
                      </a:r>
                    </a:p>
                  </a:txBody>
                  <a:tcPr marL="91440" marR="91440" marT="45720" marB="45720" anchor="ctr">
                    <a:lnR w="9525">
                      <a:solidFill>
                        <a:srgbClr val="D5DCE6"/>
                      </a:solidFill>
                      <a:prstDash val="solid"/>
                    </a:lnR>
                    <a:lnB w="9525">
                      <a:solidFill>
                        <a:srgbClr val="D5DCE6"/>
                      </a:solidFill>
                      <a:prstDash val="solid"/>
                    </a:lnB>
                    <a:solidFill>
                      <a:srgbClr val="E5F3F0"/>
                    </a:solidFill>
                  </a:tcPr>
                </a:tc>
                <a:tc>
                  <a:txBody>
                    <a:bodyPr lIns="95250" tIns="95250" rIns="95250" bIns="95250">
                      <a:noAutofit/>
                    </a:bodyPr>
                    <a:lstStyle/>
                    <a:p>
                      <a:pPr algn="ctr"/>
                      <a:r>
                        <a:rPr sz="1875" b="0">
                          <a:solidFill>
                            <a:srgbClr val="151515"/>
                          </a:solidFill>
                          <a:latin typeface="Arial"/>
                          <a:ea typeface="Arial"/>
                          <a:cs typeface="Arial"/>
                        </a:rPr>
                        <a:t>91.13%</a:t>
                      </a:r>
                    </a:p>
                  </a:txBody>
                  <a:tcPr marL="91440" marR="91440" marT="45720" marB="45720" anchor="ctr">
                    <a:lnR w="9525">
                      <a:solidFill>
                        <a:srgbClr val="D5DCE6"/>
                      </a:solidFill>
                      <a:prstDash val="solid"/>
                    </a:lnR>
                    <a:lnB w="9525">
                      <a:solidFill>
                        <a:srgbClr val="D5DCE6"/>
                      </a:solidFill>
                      <a:prstDash val="solid"/>
                    </a:lnB>
                    <a:solidFill>
                      <a:srgbClr val="E5F3F0"/>
                    </a:solidFill>
                  </a:tcPr>
                </a:tc>
              </a:tr>
              <a:tr h="552450">
                <a:tc>
                  <a:txBody>
                    <a:bodyPr lIns="95250" tIns="95250" rIns="95250" bIns="95250">
                      <a:noAutofit/>
                    </a:bodyPr>
                    <a:lstStyle/>
                    <a:p>
                      <a:pPr algn="l"/>
                      <a:r>
                        <a:rPr sz="1875" b="0">
                          <a:solidFill>
                            <a:srgbClr val="151515"/>
                          </a:solidFill>
                          <a:latin typeface="Arial"/>
                          <a:ea typeface="Arial"/>
                          <a:cs typeface="Arial"/>
                        </a:rPr>
                        <a:t>0.2575–0.5050</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79.24%</a:t>
                      </a:r>
                    </a:p>
                  </a:txBody>
                  <a:tcPr marL="91440" marR="91440" marT="45720" marB="45720" anchor="ctr">
                    <a:lnR w="9525">
                      <a:solidFill>
                        <a:srgbClr val="D5DCE6"/>
                      </a:solidFill>
                      <a:prstDash val="solid"/>
                    </a:lnR>
                    <a:lnB w="9525">
                      <a:solidFill>
                        <a:srgbClr val="D5DCE6"/>
                      </a:solidFill>
                      <a:prstDash val="solid"/>
                    </a:lnB>
                    <a:solidFill>
                      <a:srgbClr val="FAE8DF"/>
                    </a:solidFill>
                  </a:tcPr>
                </a:tc>
                <a:tc>
                  <a:txBody>
                    <a:bodyPr lIns="95250" tIns="95250" rIns="95250" bIns="95250">
                      <a:noAutofit/>
                    </a:bodyPr>
                    <a:lstStyle/>
                    <a:p>
                      <a:pPr algn="ctr"/>
                      <a:r>
                        <a:rPr sz="1875" b="0">
                          <a:solidFill>
                            <a:srgbClr val="151515"/>
                          </a:solidFill>
                          <a:latin typeface="Arial"/>
                          <a:ea typeface="Arial"/>
                          <a:cs typeface="Arial"/>
                        </a:rPr>
                        <a:t>93.69%</a:t>
                      </a:r>
                    </a:p>
                  </a:txBody>
                  <a:tcPr marL="91440" marR="91440" marT="45720" marB="45720" anchor="ctr">
                    <a:lnR w="9525">
                      <a:solidFill>
                        <a:srgbClr val="D5DCE6"/>
                      </a:solidFill>
                      <a:prstDash val="solid"/>
                    </a:lnR>
                    <a:lnB w="9525">
                      <a:solidFill>
                        <a:srgbClr val="D5DCE6"/>
                      </a:solidFill>
                      <a:prstDash val="solid"/>
                    </a:lnB>
                    <a:solidFill>
                      <a:srgbClr val="E5F3F0"/>
                    </a:solidFill>
                  </a:tcPr>
                </a:tc>
                <a:tc>
                  <a:txBody>
                    <a:bodyPr lIns="95250" tIns="95250" rIns="95250" bIns="95250">
                      <a:noAutofit/>
                    </a:bodyPr>
                    <a:lstStyle/>
                    <a:p>
                      <a:pPr algn="ctr"/>
                      <a:r>
                        <a:rPr sz="1875" b="0">
                          <a:solidFill>
                            <a:srgbClr val="151515"/>
                          </a:solidFill>
                          <a:latin typeface="Arial"/>
                          <a:ea typeface="Arial"/>
                          <a:cs typeface="Arial"/>
                        </a:rPr>
                        <a:t>97.80%</a:t>
                      </a:r>
                    </a:p>
                  </a:txBody>
                  <a:tcPr marL="91440" marR="91440" marT="45720" marB="45720" anchor="ctr">
                    <a:lnR w="9525">
                      <a:solidFill>
                        <a:srgbClr val="D5DCE6"/>
                      </a:solidFill>
                      <a:prstDash val="solid"/>
                    </a:lnR>
                    <a:lnB w="9525">
                      <a:solidFill>
                        <a:srgbClr val="D5DCE6"/>
                      </a:solidFill>
                      <a:prstDash val="solid"/>
                    </a:lnB>
                    <a:solidFill>
                      <a:srgbClr val="E5F3F0"/>
                    </a:solidFill>
                  </a:tcPr>
                </a:tc>
                <a:tc>
                  <a:txBody>
                    <a:bodyPr lIns="95250" tIns="95250" rIns="95250" bIns="95250">
                      <a:noAutofit/>
                    </a:bodyPr>
                    <a:lstStyle/>
                    <a:p>
                      <a:pPr algn="ctr"/>
                      <a:r>
                        <a:rPr sz="1875" b="0">
                          <a:solidFill>
                            <a:srgbClr val="151515"/>
                          </a:solidFill>
                          <a:latin typeface="Arial"/>
                          <a:ea typeface="Arial"/>
                          <a:cs typeface="Arial"/>
                        </a:rPr>
                        <a:t>96.32%</a:t>
                      </a:r>
                    </a:p>
                  </a:txBody>
                  <a:tcPr marL="91440" marR="91440" marT="45720" marB="45720" anchor="ctr">
                    <a:lnR w="9525">
                      <a:solidFill>
                        <a:srgbClr val="D5DCE6"/>
                      </a:solidFill>
                      <a:prstDash val="solid"/>
                    </a:lnR>
                    <a:lnB w="9525">
                      <a:solidFill>
                        <a:srgbClr val="D5DCE6"/>
                      </a:solidFill>
                      <a:prstDash val="solid"/>
                    </a:lnB>
                    <a:solidFill>
                      <a:srgbClr val="E5F3F0"/>
                    </a:solidFill>
                  </a:tcPr>
                </a:tc>
              </a:tr>
              <a:tr h="552450">
                <a:tc>
                  <a:txBody>
                    <a:bodyPr lIns="95250" tIns="95250" rIns="95250" bIns="95250">
                      <a:noAutofit/>
                    </a:bodyPr>
                    <a:lstStyle/>
                    <a:p>
                      <a:pPr algn="l"/>
                      <a:r>
                        <a:rPr sz="1875" b="0">
                          <a:solidFill>
                            <a:srgbClr val="151515"/>
                          </a:solidFill>
                          <a:latin typeface="Arial"/>
                          <a:ea typeface="Arial"/>
                          <a:cs typeface="Arial"/>
                        </a:rPr>
                        <a:t>0.5050–0.7525</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69.51%</a:t>
                      </a:r>
                    </a:p>
                  </a:txBody>
                  <a:tcPr marL="91440" marR="91440" marT="45720" marB="45720" anchor="ctr">
                    <a:lnR w="9525">
                      <a:solidFill>
                        <a:srgbClr val="D5DCE6"/>
                      </a:solidFill>
                      <a:prstDash val="solid"/>
                    </a:lnR>
                    <a:lnB w="9525">
                      <a:solidFill>
                        <a:srgbClr val="D5DCE6"/>
                      </a:solidFill>
                      <a:prstDash val="solid"/>
                    </a:lnB>
                    <a:solidFill>
                      <a:srgbClr val="FAE8DF"/>
                    </a:solidFill>
                  </a:tcPr>
                </a:tc>
                <a:tc>
                  <a:txBody>
                    <a:bodyPr lIns="95250" tIns="95250" rIns="95250" bIns="95250">
                      <a:noAutofit/>
                    </a:bodyPr>
                    <a:lstStyle/>
                    <a:p>
                      <a:pPr algn="ctr"/>
                      <a:r>
                        <a:rPr sz="1875" b="0">
                          <a:solidFill>
                            <a:srgbClr val="151515"/>
                          </a:solidFill>
                          <a:latin typeface="Arial"/>
                          <a:ea typeface="Arial"/>
                          <a:cs typeface="Arial"/>
                        </a:rPr>
                        <a:t>93.13%</a:t>
                      </a:r>
                    </a:p>
                  </a:txBody>
                  <a:tcPr marL="91440" marR="91440" marT="45720" marB="45720" anchor="ctr">
                    <a:lnR w="9525">
                      <a:solidFill>
                        <a:srgbClr val="D5DCE6"/>
                      </a:solidFill>
                      <a:prstDash val="solid"/>
                    </a:lnR>
                    <a:lnB w="9525">
                      <a:solidFill>
                        <a:srgbClr val="D5DCE6"/>
                      </a:solidFill>
                      <a:prstDash val="solid"/>
                    </a:lnB>
                    <a:solidFill>
                      <a:srgbClr val="E5F3F0"/>
                    </a:solidFill>
                  </a:tcPr>
                </a:tc>
                <a:tc>
                  <a:txBody>
                    <a:bodyPr lIns="95250" tIns="95250" rIns="95250" bIns="95250">
                      <a:noAutofit/>
                    </a:bodyPr>
                    <a:lstStyle/>
                    <a:p>
                      <a:pPr algn="ctr"/>
                      <a:r>
                        <a:rPr sz="1875" b="0">
                          <a:solidFill>
                            <a:srgbClr val="151515"/>
                          </a:solidFill>
                          <a:latin typeface="Arial"/>
                          <a:ea typeface="Arial"/>
                          <a:cs typeface="Arial"/>
                        </a:rPr>
                        <a:t>95.22%</a:t>
                      </a:r>
                    </a:p>
                  </a:txBody>
                  <a:tcPr marL="91440" marR="91440" marT="45720" marB="45720" anchor="ctr">
                    <a:lnR w="9525">
                      <a:solidFill>
                        <a:srgbClr val="D5DCE6"/>
                      </a:solidFill>
                      <a:prstDash val="solid"/>
                    </a:lnR>
                    <a:lnB w="9525">
                      <a:solidFill>
                        <a:srgbClr val="D5DCE6"/>
                      </a:solidFill>
                      <a:prstDash val="solid"/>
                    </a:lnB>
                    <a:solidFill>
                      <a:srgbClr val="E5F3F0"/>
                    </a:solidFill>
                  </a:tcPr>
                </a:tc>
                <a:tc>
                  <a:txBody>
                    <a:bodyPr lIns="95250" tIns="95250" rIns="95250" bIns="95250">
                      <a:noAutofit/>
                    </a:bodyPr>
                    <a:lstStyle/>
                    <a:p>
                      <a:pPr algn="ctr"/>
                      <a:r>
                        <a:rPr sz="1875" b="0">
                          <a:solidFill>
                            <a:srgbClr val="151515"/>
                          </a:solidFill>
                          <a:latin typeface="Arial"/>
                          <a:ea typeface="Arial"/>
                          <a:cs typeface="Arial"/>
                        </a:rPr>
                        <a:t>92.76%</a:t>
                      </a:r>
                    </a:p>
                  </a:txBody>
                  <a:tcPr marL="91440" marR="91440" marT="45720" marB="45720" anchor="ctr">
                    <a:lnR w="9525">
                      <a:solidFill>
                        <a:srgbClr val="D5DCE6"/>
                      </a:solidFill>
                      <a:prstDash val="solid"/>
                    </a:lnR>
                    <a:lnB w="9525">
                      <a:solidFill>
                        <a:srgbClr val="D5DCE6"/>
                      </a:solidFill>
                      <a:prstDash val="solid"/>
                    </a:lnB>
                    <a:solidFill>
                      <a:srgbClr val="E5F3F0"/>
                    </a:solidFill>
                  </a:tcPr>
                </a:tc>
              </a:tr>
              <a:tr h="552450">
                <a:tc>
                  <a:txBody>
                    <a:bodyPr lIns="95250" tIns="95250" rIns="95250" bIns="95250">
                      <a:noAutofit/>
                    </a:bodyPr>
                    <a:lstStyle/>
                    <a:p>
                      <a:pPr algn="l"/>
                      <a:r>
                        <a:rPr sz="1875" b="0">
                          <a:solidFill>
                            <a:srgbClr val="151515"/>
                          </a:solidFill>
                          <a:latin typeface="Arial"/>
                          <a:ea typeface="Arial"/>
                          <a:cs typeface="Arial"/>
                        </a:rPr>
                        <a:t>0.7525–1.0000</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64.21%</a:t>
                      </a:r>
                    </a:p>
                  </a:txBody>
                  <a:tcPr marL="91440" marR="91440" marT="45720" marB="45720" anchor="ctr">
                    <a:lnR w="9525">
                      <a:solidFill>
                        <a:srgbClr val="D5DCE6"/>
                      </a:solidFill>
                      <a:prstDash val="solid"/>
                    </a:lnR>
                    <a:lnB w="9525">
                      <a:solidFill>
                        <a:srgbClr val="D5DCE6"/>
                      </a:solidFill>
                      <a:prstDash val="solid"/>
                    </a:lnB>
                    <a:solidFill>
                      <a:srgbClr val="FAE8DF"/>
                    </a:solidFill>
                  </a:tcPr>
                </a:tc>
                <a:tc>
                  <a:txBody>
                    <a:bodyPr lIns="95250" tIns="95250" rIns="95250" bIns="95250">
                      <a:noAutofit/>
                    </a:bodyPr>
                    <a:lstStyle/>
                    <a:p>
                      <a:pPr algn="ctr"/>
                      <a:r>
                        <a:rPr sz="1875" b="0">
                          <a:solidFill>
                            <a:srgbClr val="151515"/>
                          </a:solidFill>
                          <a:latin typeface="Arial"/>
                          <a:ea typeface="Arial"/>
                          <a:cs typeface="Arial"/>
                        </a:rPr>
                        <a:t>90.12%</a:t>
                      </a:r>
                    </a:p>
                  </a:txBody>
                  <a:tcPr marL="91440" marR="91440" marT="45720" marB="45720" anchor="ctr">
                    <a:lnR w="9525">
                      <a:solidFill>
                        <a:srgbClr val="D5DCE6"/>
                      </a:solidFill>
                      <a:prstDash val="solid"/>
                    </a:lnR>
                    <a:lnB w="9525">
                      <a:solidFill>
                        <a:srgbClr val="D5DCE6"/>
                      </a:solidFill>
                      <a:prstDash val="solid"/>
                    </a:lnB>
                    <a:solidFill>
                      <a:srgbClr val="E5F3F0"/>
                    </a:solidFill>
                  </a:tcPr>
                </a:tc>
                <a:tc>
                  <a:txBody>
                    <a:bodyPr lIns="95250" tIns="95250" rIns="95250" bIns="95250">
                      <a:noAutofit/>
                    </a:bodyPr>
                    <a:lstStyle/>
                    <a:p>
                      <a:pPr algn="ctr"/>
                      <a:r>
                        <a:rPr sz="1875" b="0">
                          <a:solidFill>
                            <a:srgbClr val="151515"/>
                          </a:solidFill>
                          <a:latin typeface="Arial"/>
                          <a:ea typeface="Arial"/>
                          <a:cs typeface="Arial"/>
                        </a:rPr>
                        <a:t>91.51%</a:t>
                      </a:r>
                    </a:p>
                  </a:txBody>
                  <a:tcPr marL="91440" marR="91440" marT="45720" marB="45720" anchor="ctr">
                    <a:lnR w="9525">
                      <a:solidFill>
                        <a:srgbClr val="D5DCE6"/>
                      </a:solidFill>
                      <a:prstDash val="solid"/>
                    </a:lnR>
                    <a:lnB w="9525">
                      <a:solidFill>
                        <a:srgbClr val="D5DCE6"/>
                      </a:solidFill>
                      <a:prstDash val="solid"/>
                    </a:lnB>
                    <a:solidFill>
                      <a:srgbClr val="E5F3F0"/>
                    </a:solidFill>
                  </a:tcPr>
                </a:tc>
                <a:tc>
                  <a:txBody>
                    <a:bodyPr lIns="95250" tIns="95250" rIns="95250" bIns="95250">
                      <a:noAutofit/>
                    </a:bodyPr>
                    <a:lstStyle/>
                    <a:p>
                      <a:pPr algn="ctr"/>
                      <a:r>
                        <a:rPr sz="1875" b="0">
                          <a:solidFill>
                            <a:srgbClr val="151515"/>
                          </a:solidFill>
                          <a:latin typeface="Arial"/>
                          <a:ea typeface="Arial"/>
                          <a:cs typeface="Arial"/>
                        </a:rPr>
                        <a:t>87.33%</a:t>
                      </a:r>
                    </a:p>
                  </a:txBody>
                  <a:tcPr marL="91440" marR="91440" marT="45720" marB="45720" anchor="ctr">
                    <a:lnR w="9525">
                      <a:solidFill>
                        <a:srgbClr val="D5DCE6"/>
                      </a:solidFill>
                      <a:prstDash val="solid"/>
                    </a:lnR>
                    <a:lnB w="9525">
                      <a:solidFill>
                        <a:srgbClr val="D5DCE6"/>
                      </a:solidFill>
                      <a:prstDash val="solid"/>
                    </a:lnB>
                    <a:solidFill>
                      <a:srgbClr val="FAE8DF"/>
                    </a:solidFill>
                  </a:tcPr>
                </a:tc>
              </a:tr>
            </a:tbl>
          </a:graphicData>
        </a:graphic>
      </p:graphicFrame>
      <p:sp>
        <p:nvSpPr>
          <p:cNvPr id="5" name="Lowest-z coverage: 64.21% to 84.38%, despite ">
            <a:extLst xmlns:a="http://schemas.openxmlformats.org/drawingml/2006/main">
              <a:ext uri="{FF2B5EF4-FFF2-40B4-BE49-F238E27FC236}">
                <a16:creationId xmlns:a16="http://schemas.microsoft.com/office/drawing/2014/main" id="{9257910D-4CB4-4913-9AAD-20E8E943AB5D}"/>
              </a:ext>
            </a:extLst>
          </p:cNvPr>
          <p:cNvSpPr>
            <a:spLocks xmlns:a="http://schemas.openxmlformats.org/drawingml/2006/main" noGrp="1"/>
          </p:cNvSpPr>
          <p:nvPr/>
        </p:nvSpPr>
        <p:spPr>
          <a:xfrm xmlns:a="http://schemas.openxmlformats.org/drawingml/2006/main">
            <a:off x="523875" y="541020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4776C9"/>
                </a:solidFill>
                <a:latin typeface="Arial"/>
                <a:ea typeface="Arial"/>
                <a:cs typeface="Arial"/>
              </a:defRPr>
            </a:defPPr>
            <a:lvl1pPr algn="l">
              <a:defRPr sz="2100" b="1">
                <a:solidFill>
                  <a:srgbClr val="4776C9"/>
                </a:solidFill>
                <a:latin typeface="Arial"/>
                <a:ea typeface="Arial"/>
                <a:cs typeface="Arial"/>
              </a:defRPr>
            </a:lvl1pPr>
            <a:lvl2pPr algn="l">
              <a:defRPr sz="2100" b="1">
                <a:solidFill>
                  <a:srgbClr val="4776C9"/>
                </a:solidFill>
                <a:latin typeface="Arial"/>
                <a:ea typeface="Arial"/>
                <a:cs typeface="Arial"/>
              </a:defRPr>
            </a:lvl2pPr>
            <a:lvl3pPr algn="l">
              <a:defRPr sz="2100" b="1">
                <a:solidFill>
                  <a:srgbClr val="4776C9"/>
                </a:solidFill>
                <a:latin typeface="Arial"/>
                <a:ea typeface="Arial"/>
                <a:cs typeface="Arial"/>
              </a:defRPr>
            </a:lvl3pPr>
            <a:lvl4pPr algn="l">
              <a:defRPr sz="2100" b="1">
                <a:solidFill>
                  <a:srgbClr val="4776C9"/>
                </a:solidFill>
                <a:latin typeface="Arial"/>
                <a:ea typeface="Arial"/>
                <a:cs typeface="Arial"/>
              </a:defRPr>
            </a:lvl4pPr>
            <a:lvl5pPr algn="l">
              <a:defRPr sz="2100" b="1">
                <a:solidFill>
                  <a:srgbClr val="4776C9"/>
                </a:solidFill>
                <a:latin typeface="Arial"/>
                <a:ea typeface="Arial"/>
                <a:cs typeface="Arial"/>
              </a:defRPr>
            </a:lvl5pPr>
            <a:lvl6pPr algn="l">
              <a:defRPr sz="2100" b="1">
                <a:solidFill>
                  <a:srgbClr val="4776C9"/>
                </a:solidFill>
                <a:latin typeface="Arial"/>
                <a:ea typeface="Arial"/>
                <a:cs typeface="Arial"/>
              </a:defRPr>
            </a:lvl6pPr>
            <a:lvl7pPr algn="l">
              <a:defRPr sz="2100" b="1">
                <a:solidFill>
                  <a:srgbClr val="4776C9"/>
                </a:solidFill>
                <a:latin typeface="Arial"/>
                <a:ea typeface="Arial"/>
                <a:cs typeface="Arial"/>
              </a:defRPr>
            </a:lvl7pPr>
            <a:lvl8pPr algn="l">
              <a:defRPr sz="2100" b="1">
                <a:solidFill>
                  <a:srgbClr val="4776C9"/>
                </a:solidFill>
                <a:latin typeface="Arial"/>
                <a:ea typeface="Arial"/>
                <a:cs typeface="Arial"/>
              </a:defRPr>
            </a:lvl8pPr>
            <a:lvl9pPr algn="l">
              <a:defRPr sz="2100" b="1">
                <a:solidFill>
                  <a:srgbClr val="4776C9"/>
                </a:solidFill>
                <a:latin typeface="Arial"/>
                <a:ea typeface="Arial"/>
                <a:cs typeface="Arial"/>
              </a:defRPr>
            </a:lvl9pPr>
          </a:lstStyle>
          <a:p xmlns:a="http://schemas.openxmlformats.org/drawingml/2006/main">
            <a:pPr algn="l">
              <a:defRPr sz="2100" b="1">
                <a:solidFill>
                  <a:srgbClr val="4776C9"/>
                </a:solidFill>
                <a:latin typeface="Arial"/>
                <a:ea typeface="Arial"/>
                <a:cs typeface="Arial"/>
              </a:defRPr>
            </a:pPr>
            <a:r>
              <a:rPr sz="2100" b="1">
                <a:solidFill>
                  <a:srgbClr val="4776C9"/>
                </a:solidFill>
                <a:latin typeface="Arial"/>
                <a:ea typeface="Arial"/>
                <a:cs typeface="Arial"/>
              </a:rPr>
              <a:t>Lowest-z coverage: 64.21% to 84.38%, despite 92.86% overall mean coverage.</a:t>
            </a:r>
          </a:p>
        </p:txBody>
      </p:sp>
      <p:sp>
        <p:nvSpPr>
          <p:cNvPr id="6" name="Lowest-z target populations: 1,639, 1,085, 46">
            <a:extLst xmlns:a="http://schemas.openxmlformats.org/drawingml/2006/main">
              <a:ext uri="{FF2B5EF4-FFF2-40B4-BE49-F238E27FC236}">
                <a16:creationId xmlns:a16="http://schemas.microsoft.com/office/drawing/2014/main" id="{29B2010F-CA2B-4D94-9DB0-416CEFAAD815}"/>
              </a:ext>
            </a:extLst>
          </p:cNvPr>
          <p:cNvSpPr>
            <a:spLocks xmlns:a="http://schemas.openxmlformats.org/drawingml/2006/main" noGrp="1"/>
          </p:cNvSpPr>
          <p:nvPr/>
        </p:nvSpPr>
        <p:spPr>
          <a:xfrm xmlns:a="http://schemas.openxmlformats.org/drawingml/2006/main">
            <a:off x="523875" y="60960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05050"/>
                </a:solidFill>
                <a:latin typeface="Arial"/>
                <a:ea typeface="Arial"/>
                <a:cs typeface="Arial"/>
              </a:defRPr>
            </a:defPPr>
            <a:lvl1pPr algn="l">
              <a:defRPr sz="1725" b="0">
                <a:solidFill>
                  <a:srgbClr val="505050"/>
                </a:solidFill>
                <a:latin typeface="Arial"/>
                <a:ea typeface="Arial"/>
                <a:cs typeface="Arial"/>
              </a:defRPr>
            </a:lvl1pPr>
            <a:lvl2pPr algn="l">
              <a:defRPr sz="1725" b="0">
                <a:solidFill>
                  <a:srgbClr val="505050"/>
                </a:solidFill>
                <a:latin typeface="Arial"/>
                <a:ea typeface="Arial"/>
                <a:cs typeface="Arial"/>
              </a:defRPr>
            </a:lvl2pPr>
            <a:lvl3pPr algn="l">
              <a:defRPr sz="1725" b="0">
                <a:solidFill>
                  <a:srgbClr val="505050"/>
                </a:solidFill>
                <a:latin typeface="Arial"/>
                <a:ea typeface="Arial"/>
                <a:cs typeface="Arial"/>
              </a:defRPr>
            </a:lvl3pPr>
            <a:lvl4pPr algn="l">
              <a:defRPr sz="1725" b="0">
                <a:solidFill>
                  <a:srgbClr val="505050"/>
                </a:solidFill>
                <a:latin typeface="Arial"/>
                <a:ea typeface="Arial"/>
                <a:cs typeface="Arial"/>
              </a:defRPr>
            </a:lvl4pPr>
            <a:lvl5pPr algn="l">
              <a:defRPr sz="1725" b="0">
                <a:solidFill>
                  <a:srgbClr val="505050"/>
                </a:solidFill>
                <a:latin typeface="Arial"/>
                <a:ea typeface="Arial"/>
                <a:cs typeface="Arial"/>
              </a:defRPr>
            </a:lvl5pPr>
            <a:lvl6pPr algn="l">
              <a:defRPr sz="1725" b="0">
                <a:solidFill>
                  <a:srgbClr val="505050"/>
                </a:solidFill>
                <a:latin typeface="Arial"/>
                <a:ea typeface="Arial"/>
                <a:cs typeface="Arial"/>
              </a:defRPr>
            </a:lvl6pPr>
            <a:lvl7pPr algn="l">
              <a:defRPr sz="1725" b="0">
                <a:solidFill>
                  <a:srgbClr val="505050"/>
                </a:solidFill>
                <a:latin typeface="Arial"/>
                <a:ea typeface="Arial"/>
                <a:cs typeface="Arial"/>
              </a:defRPr>
            </a:lvl7pPr>
            <a:lvl8pPr algn="l">
              <a:defRPr sz="1725" b="0">
                <a:solidFill>
                  <a:srgbClr val="505050"/>
                </a:solidFill>
                <a:latin typeface="Arial"/>
                <a:ea typeface="Arial"/>
                <a:cs typeface="Arial"/>
              </a:defRPr>
            </a:lvl8pPr>
            <a:lvl9pPr algn="l">
              <a:defRPr sz="1725" b="0">
                <a:solidFill>
                  <a:srgbClr val="505050"/>
                </a:solidFill>
                <a:latin typeface="Arial"/>
                <a:ea typeface="Arial"/>
                <a:cs typeface="Arial"/>
              </a:defRPr>
            </a:lvl9pPr>
          </a:lstStyle>
          <a:p xmlns:a="http://schemas.openxmlformats.org/drawingml/2006/main">
            <a:pPr algn="l">
              <a:defRPr sz="1725" b="0">
                <a:solidFill>
                  <a:srgbClr val="505050"/>
                </a:solidFill>
                <a:latin typeface="Arial"/>
                <a:ea typeface="Arial"/>
                <a:cs typeface="Arial"/>
              </a:defRPr>
            </a:pPr>
            <a:r>
              <a:rPr sz="1725" b="0">
                <a:solidFill>
                  <a:srgbClr val="505050"/>
                </a:solidFill>
                <a:latin typeface="Arial"/>
                <a:ea typeface="Arial"/>
                <a:cs typeface="Arial"/>
              </a:rPr>
              <a:t>Lowest-z target populations: 1,639, 1,085, 469 and 279, in increasing ρ bins.</a:t>
            </a:r>
          </a:p>
        </p:txBody>
      </p:sp>
      <p:sp>
        <p:nvSpPr>
          <p:cNvPr id="7" name="source-line">
            <a:extLst xmlns:a="http://schemas.openxmlformats.org/drawingml/2006/main">
              <a:ext uri="{FF2B5EF4-FFF2-40B4-BE49-F238E27FC236}">
                <a16:creationId xmlns:a16="http://schemas.microsoft.com/office/drawing/2014/main" id="{5EF7DE42-D569-4074-91E2-22C307FE1DA6}"/>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score_b_spatial_bins.csv and thesis §5.5</a:t>
            </a:r>
          </a:p>
        </p:txBody>
      </p:sp>
      <p:sp>
        <p:nvSpPr>
          <p:cNvPr id="8" name="slide-number">
            <a:extLst xmlns:a="http://schemas.openxmlformats.org/drawingml/2006/main">
              <a:ext uri="{FF2B5EF4-FFF2-40B4-BE49-F238E27FC236}">
                <a16:creationId xmlns:a16="http://schemas.microsoft.com/office/drawing/2014/main" id="{BB110C86-3609-4C05-AD1F-DE5E09F3D877}"/>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18</a:t>
            </a:r>
          </a:p>
        </p:txBody>
      </p:sp>
    </p:spTree>
    <p:extLst>
      <p:ext uri="{BB962C8B-B14F-4D97-AF65-F5344CB8AC3E}">
        <p14:creationId xmlns:p14="http://schemas.microsoft.com/office/powerpoint/2010/main" val="3893437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6E1BCD2-0287-4612-B68D-CFD70EC2B40B}"/>
              </a:ext>
            </a:extLst>
          </p:cNvPr>
          <p:cNvPicPr>
            <a:picLocks xmlns:a="http://schemas.openxmlformats.org/drawingml/2006/main" noChangeAspect="1"/>
          </p:cNvPicPr>
          <p:nvPr/>
        </p:nvPicPr>
        <p:blipFill>
          <a:blip xmlns:r="http://schemas.openxmlformats.org/officeDocument/2006/relationships" xmlns:a="http://schemas.openxmlformats.org/drawingml/2006/main" r:embed="Rae5bfb8f96304a91"/>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526DE24A-6827-40F0-88DF-65B024E9C45E}"/>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Enforced violations reach zero on the grid</a:t>
            </a:r>
          </a:p>
        </p:txBody>
      </p:sp>
      <p:graphicFrame>
        <p:nvGraphicFramePr>
          <p:cNvPr id="3" name="">
            <a:extLst xmlns:a="http://schemas.openxmlformats.org/drawingml/2006/main">
              <a:ext uri="{FF2B5EF4-FFF2-40B4-BE49-F238E27FC236}">
                <a16:creationId xmlns:a16="http://schemas.microsoft.com/office/drawing/2014/main" id="{1FE6D210-ED07-49C7-BE75-58E0D63E1C09}"/>
              </a:ext>
            </a:extLst>
          </p:cNvPr>
          <p:cNvGraphicFramePr/>
          <p:nvPr/>
        </p:nvGraphicFramePr>
        <p:xfrm>
          <a:off xmlns:a="http://schemas.openxmlformats.org/drawingml/2006/main" x="523875" y="1743075"/>
          <a:ext xmlns:a="http://schemas.openxmlformats.org/drawingml/2006/main" cx="11049000" cy="3276600"/>
        </p:xfrm>
        <a:graphic xmlns:a="http://schemas.openxmlformats.org/drawingml/2006/main">
          <a:graphicData uri="http://schemas.openxmlformats.org/drawingml/2006/table">
            <a:tbl>
              <a:tblPr firstRow="0" bandRow="0"/>
              <a:tblGrid>
                <a:gridCol w="6572250"/>
                <a:gridCol w="2238375"/>
                <a:gridCol w="2238375"/>
              </a:tblGrid>
              <a:tr h="655320">
                <a:tc>
                  <a:txBody>
                    <a:bodyPr lIns="95250" tIns="95250" rIns="95250" bIns="95250">
                      <a:noAutofit/>
                    </a:bodyPr>
                    <a:lstStyle/>
                    <a:p>
                      <a:pPr algn="l"/>
                      <a:r>
                        <a:rPr sz="1875" b="1">
                          <a:solidFill>
                            <a:srgbClr val="4776C9"/>
                          </a:solidFill>
                          <a:latin typeface="Arial"/>
                          <a:ea typeface="Arial"/>
                          <a:cs typeface="Arial"/>
                        </a:rPr>
                        <a:t>Diagnostic across both bounds</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Score A</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Score B</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r>
              <a:tr h="655320">
                <a:tc>
                  <a:txBody>
                    <a:bodyPr lIns="95250" tIns="95250" rIns="95250" bIns="95250">
                      <a:noAutofit/>
                    </a:bodyPr>
                    <a:lstStyle/>
                    <a:p>
                      <a:pPr algn="l"/>
                      <a:r>
                        <a:rPr sz="1875" b="0">
                          <a:solidFill>
                            <a:srgbClr val="151515"/>
                          </a:solidFill>
                          <a:latin typeface="Arial"/>
                          <a:ea typeface="Arial"/>
                          <a:cs typeface="Arial"/>
                        </a:rPr>
                        <a:t>Calendar + variance convexity, before</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63,177</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57,848</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55320">
                <a:tc>
                  <a:txBody>
                    <a:bodyPr lIns="95250" tIns="95250" rIns="95250" bIns="95250">
                      <a:noAutofit/>
                    </a:bodyPr>
                    <a:lstStyle/>
                    <a:p>
                      <a:pPr algn="l"/>
                      <a:r>
                        <a:rPr sz="1875" b="0">
                          <a:solidFill>
                            <a:srgbClr val="151515"/>
                          </a:solidFill>
                          <a:latin typeface="Arial"/>
                          <a:ea typeface="Arial"/>
                          <a:cs typeface="Arial"/>
                        </a:rPr>
                        <a:t>Calendar + variance convexity, after</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0</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0</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55320">
                <a:tc>
                  <a:txBody>
                    <a:bodyPr lIns="95250" tIns="95250" rIns="95250" bIns="95250">
                      <a:noAutofit/>
                    </a:bodyPr>
                    <a:lstStyle/>
                    <a:p>
                      <a:pPr algn="l"/>
                      <a:r>
                        <a:rPr sz="1875" b="0">
                          <a:solidFill>
                            <a:srgbClr val="151515"/>
                          </a:solidFill>
                          <a:latin typeface="Arial"/>
                          <a:ea typeface="Arial"/>
                          <a:cs typeface="Arial"/>
                        </a:rPr>
                        <a:t>Quote-level crossings, after</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0</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0</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55320">
                <a:tc>
                  <a:txBody>
                    <a:bodyPr lIns="95250" tIns="95250" rIns="95250" bIns="95250">
                      <a:noAutofit/>
                    </a:bodyPr>
                    <a:lstStyle/>
                    <a:p>
                      <a:pPr algn="l"/>
                      <a:r>
                        <a:rPr sz="1875" b="0">
                          <a:solidFill>
                            <a:srgbClr val="151515"/>
                          </a:solidFill>
                          <a:latin typeface="Arial"/>
                          <a:ea typeface="Arial"/>
                          <a:cs typeface="Arial"/>
                        </a:rPr>
                        <a:t>Supplementary GNO But, after</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7,432</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2,730</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4" name="The separate GNO butterfly diagnostic remains">
            <a:extLst xmlns:a="http://schemas.openxmlformats.org/drawingml/2006/main">
              <a:ext uri="{FF2B5EF4-FFF2-40B4-BE49-F238E27FC236}">
                <a16:creationId xmlns:a16="http://schemas.microsoft.com/office/drawing/2014/main" id="{4F2883CE-A1F3-4BAE-A234-F869B3CA2F1C}"/>
              </a:ext>
            </a:extLst>
          </p:cNvPr>
          <p:cNvSpPr>
            <a:spLocks xmlns:a="http://schemas.openxmlformats.org/drawingml/2006/main" noGrp="1"/>
          </p:cNvSpPr>
          <p:nvPr/>
        </p:nvSpPr>
        <p:spPr>
          <a:xfrm xmlns:a="http://schemas.openxmlformats.org/drawingml/2006/main">
            <a:off x="523875" y="5410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4776C9"/>
                </a:solidFill>
                <a:latin typeface="Arial"/>
                <a:ea typeface="Arial"/>
                <a:cs typeface="Arial"/>
              </a:defRPr>
            </a:defPPr>
            <a:lvl1pPr algn="l">
              <a:defRPr sz="2250" b="1">
                <a:solidFill>
                  <a:srgbClr val="4776C9"/>
                </a:solidFill>
                <a:latin typeface="Arial"/>
                <a:ea typeface="Arial"/>
                <a:cs typeface="Arial"/>
              </a:defRPr>
            </a:lvl1pPr>
            <a:lvl2pPr algn="l">
              <a:defRPr sz="2250" b="1">
                <a:solidFill>
                  <a:srgbClr val="4776C9"/>
                </a:solidFill>
                <a:latin typeface="Arial"/>
                <a:ea typeface="Arial"/>
                <a:cs typeface="Arial"/>
              </a:defRPr>
            </a:lvl2pPr>
            <a:lvl3pPr algn="l">
              <a:defRPr sz="2250" b="1">
                <a:solidFill>
                  <a:srgbClr val="4776C9"/>
                </a:solidFill>
                <a:latin typeface="Arial"/>
                <a:ea typeface="Arial"/>
                <a:cs typeface="Arial"/>
              </a:defRPr>
            </a:lvl3pPr>
            <a:lvl4pPr algn="l">
              <a:defRPr sz="2250" b="1">
                <a:solidFill>
                  <a:srgbClr val="4776C9"/>
                </a:solidFill>
                <a:latin typeface="Arial"/>
                <a:ea typeface="Arial"/>
                <a:cs typeface="Arial"/>
              </a:defRPr>
            </a:lvl4pPr>
            <a:lvl5pPr algn="l">
              <a:defRPr sz="2250" b="1">
                <a:solidFill>
                  <a:srgbClr val="4776C9"/>
                </a:solidFill>
                <a:latin typeface="Arial"/>
                <a:ea typeface="Arial"/>
                <a:cs typeface="Arial"/>
              </a:defRPr>
            </a:lvl5pPr>
            <a:lvl6pPr algn="l">
              <a:defRPr sz="2250" b="1">
                <a:solidFill>
                  <a:srgbClr val="4776C9"/>
                </a:solidFill>
                <a:latin typeface="Arial"/>
                <a:ea typeface="Arial"/>
                <a:cs typeface="Arial"/>
              </a:defRPr>
            </a:lvl6pPr>
            <a:lvl7pPr algn="l">
              <a:defRPr sz="2250" b="1">
                <a:solidFill>
                  <a:srgbClr val="4776C9"/>
                </a:solidFill>
                <a:latin typeface="Arial"/>
                <a:ea typeface="Arial"/>
                <a:cs typeface="Arial"/>
              </a:defRPr>
            </a:lvl7pPr>
            <a:lvl8pPr algn="l">
              <a:defRPr sz="2250" b="1">
                <a:solidFill>
                  <a:srgbClr val="4776C9"/>
                </a:solidFill>
                <a:latin typeface="Arial"/>
                <a:ea typeface="Arial"/>
                <a:cs typeface="Arial"/>
              </a:defRPr>
            </a:lvl8pPr>
            <a:lvl9pPr algn="l">
              <a:defRPr sz="2250" b="1">
                <a:solidFill>
                  <a:srgbClr val="4776C9"/>
                </a:solidFill>
                <a:latin typeface="Arial"/>
                <a:ea typeface="Arial"/>
                <a:cs typeface="Arial"/>
              </a:defRPr>
            </a:lvl9pPr>
          </a:lstStyle>
          <a:p xmlns:a="http://schemas.openxmlformats.org/drawingml/2006/main">
            <a:pPr algn="l">
              <a:defRPr sz="2250" b="1">
                <a:solidFill>
                  <a:srgbClr val="4776C9"/>
                </a:solidFill>
                <a:latin typeface="Arial"/>
                <a:ea typeface="Arial"/>
                <a:cs typeface="Arial"/>
              </a:defRPr>
            </a:pPr>
            <a:r>
              <a:rPr sz="2250" b="1">
                <a:solidFill>
                  <a:srgbClr val="4776C9"/>
                </a:solidFill>
                <a:latin typeface="Arial"/>
                <a:ea typeface="Arial"/>
                <a:cs typeface="Arial"/>
              </a:rPr>
              <a:t>The separate GNO butterfly diagnostic remains nonzero.</a:t>
            </a:r>
          </a:p>
        </p:txBody>
      </p:sp>
      <p:sp>
        <p:nvSpPr>
          <p:cNvPr id="5" name="Counts cover all 31 evaluation surfaces. Zero">
            <a:extLst xmlns:a="http://schemas.openxmlformats.org/drawingml/2006/main">
              <a:ext uri="{FF2B5EF4-FFF2-40B4-BE49-F238E27FC236}">
                <a16:creationId xmlns:a16="http://schemas.microsoft.com/office/drawing/2014/main" id="{4B8136FB-2664-4C22-B1AF-57C3533F6F58}"/>
              </a:ext>
            </a:extLst>
          </p:cNvPr>
          <p:cNvSpPr>
            <a:spLocks xmlns:a="http://schemas.openxmlformats.org/drawingml/2006/main" noGrp="1"/>
          </p:cNvSpPr>
          <p:nvPr/>
        </p:nvSpPr>
        <p:spPr>
          <a:xfrm xmlns:a="http://schemas.openxmlformats.org/drawingml/2006/main">
            <a:off x="523875" y="6029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05050"/>
                </a:solidFill>
                <a:latin typeface="Arial"/>
                <a:ea typeface="Arial"/>
                <a:cs typeface="Arial"/>
              </a:defRPr>
            </a:defPPr>
            <a:lvl1pPr algn="l">
              <a:defRPr sz="1725" b="0">
                <a:solidFill>
                  <a:srgbClr val="505050"/>
                </a:solidFill>
                <a:latin typeface="Arial"/>
                <a:ea typeface="Arial"/>
                <a:cs typeface="Arial"/>
              </a:defRPr>
            </a:lvl1pPr>
            <a:lvl2pPr algn="l">
              <a:defRPr sz="1725" b="0">
                <a:solidFill>
                  <a:srgbClr val="505050"/>
                </a:solidFill>
                <a:latin typeface="Arial"/>
                <a:ea typeface="Arial"/>
                <a:cs typeface="Arial"/>
              </a:defRPr>
            </a:lvl2pPr>
            <a:lvl3pPr algn="l">
              <a:defRPr sz="1725" b="0">
                <a:solidFill>
                  <a:srgbClr val="505050"/>
                </a:solidFill>
                <a:latin typeface="Arial"/>
                <a:ea typeface="Arial"/>
                <a:cs typeface="Arial"/>
              </a:defRPr>
            </a:lvl3pPr>
            <a:lvl4pPr algn="l">
              <a:defRPr sz="1725" b="0">
                <a:solidFill>
                  <a:srgbClr val="505050"/>
                </a:solidFill>
                <a:latin typeface="Arial"/>
                <a:ea typeface="Arial"/>
                <a:cs typeface="Arial"/>
              </a:defRPr>
            </a:lvl4pPr>
            <a:lvl5pPr algn="l">
              <a:defRPr sz="1725" b="0">
                <a:solidFill>
                  <a:srgbClr val="505050"/>
                </a:solidFill>
                <a:latin typeface="Arial"/>
                <a:ea typeface="Arial"/>
                <a:cs typeface="Arial"/>
              </a:defRPr>
            </a:lvl5pPr>
            <a:lvl6pPr algn="l">
              <a:defRPr sz="1725" b="0">
                <a:solidFill>
                  <a:srgbClr val="505050"/>
                </a:solidFill>
                <a:latin typeface="Arial"/>
                <a:ea typeface="Arial"/>
                <a:cs typeface="Arial"/>
              </a:defRPr>
            </a:lvl6pPr>
            <a:lvl7pPr algn="l">
              <a:defRPr sz="1725" b="0">
                <a:solidFill>
                  <a:srgbClr val="505050"/>
                </a:solidFill>
                <a:latin typeface="Arial"/>
                <a:ea typeface="Arial"/>
                <a:cs typeface="Arial"/>
              </a:defRPr>
            </a:lvl7pPr>
            <a:lvl8pPr algn="l">
              <a:defRPr sz="1725" b="0">
                <a:solidFill>
                  <a:srgbClr val="505050"/>
                </a:solidFill>
                <a:latin typeface="Arial"/>
                <a:ea typeface="Arial"/>
                <a:cs typeface="Arial"/>
              </a:defRPr>
            </a:lvl8pPr>
            <a:lvl9pPr algn="l">
              <a:defRPr sz="1725" b="0">
                <a:solidFill>
                  <a:srgbClr val="505050"/>
                </a:solidFill>
                <a:latin typeface="Arial"/>
                <a:ea typeface="Arial"/>
                <a:cs typeface="Arial"/>
              </a:defRPr>
            </a:lvl9pPr>
          </a:lstStyle>
          <a:p xmlns:a="http://schemas.openxmlformats.org/drawingml/2006/main">
            <a:pPr algn="l">
              <a:defRPr sz="1725" b="0">
                <a:solidFill>
                  <a:srgbClr val="505050"/>
                </a:solidFill>
                <a:latin typeface="Arial"/>
                <a:ea typeface="Arial"/>
                <a:cs typeface="Arial"/>
              </a:defRPr>
            </a:pPr>
            <a:r>
              <a:rPr sz="1725" b="0">
                <a:solidFill>
                  <a:srgbClr val="505050"/>
                </a:solidFill>
                <a:latin typeface="Arial"/>
                <a:ea typeface="Arial"/>
                <a:cs typeface="Arial"/>
              </a:rPr>
              <a:t>Counts cover all 31 evaluation surfaces. Zero enforced counts do not establish full static no-arbitrage.</a:t>
            </a:r>
          </a:p>
        </p:txBody>
      </p:sp>
      <p:sp>
        <p:nvSpPr>
          <p:cNvPr id="6" name="source-line">
            <a:extLst xmlns:a="http://schemas.openxmlformats.org/drawingml/2006/main">
              <a:ext uri="{FF2B5EF4-FFF2-40B4-BE49-F238E27FC236}">
                <a16:creationId xmlns:a16="http://schemas.microsoft.com/office/drawing/2014/main" id="{D04234EF-28F3-430F-AC5D-E31763C4A942}"/>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notebook cell 21, thesis §5.3, Gonon et al. Theorem 2.1</a:t>
            </a:r>
          </a:p>
        </p:txBody>
      </p:sp>
      <p:sp>
        <p:nvSpPr>
          <p:cNvPr id="7" name="slide-number">
            <a:extLst xmlns:a="http://schemas.openxmlformats.org/drawingml/2006/main">
              <a:ext uri="{FF2B5EF4-FFF2-40B4-BE49-F238E27FC236}">
                <a16:creationId xmlns:a16="http://schemas.microsoft.com/office/drawing/2014/main" id="{FE79A370-BE90-4797-9B95-EA2E7FE041FD}"/>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19</a:t>
            </a:r>
          </a:p>
        </p:txBody>
      </p:sp>
    </p:spTree>
    <p:extLst>
      <p:ext uri="{BB962C8B-B14F-4D97-AF65-F5344CB8AC3E}">
        <p14:creationId xmlns:p14="http://schemas.microsoft.com/office/powerpoint/2010/main" val="101202422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21DEA9C-864E-429F-9A91-BFD55B38FAA6}"/>
              </a:ext>
            </a:extLst>
          </p:cNvPr>
          <p:cNvPicPr>
            <a:picLocks xmlns:a="http://schemas.openxmlformats.org/drawingml/2006/main" noChangeAspect="1"/>
          </p:cNvPicPr>
          <p:nvPr/>
        </p:nvPicPr>
        <p:blipFill>
          <a:blip xmlns:r="http://schemas.openxmlformats.org/officeDocument/2006/relationships" xmlns:a="http://schemas.openxmlformats.org/drawingml/2006/main" r:embed="R427ce016882440fb"/>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057EC35E-CB44-4775-B43B-CD90DD948496}"/>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A small development check tests sensitivity</a:t>
            </a:r>
          </a:p>
        </p:txBody>
      </p:sp>
      <p:sp>
        <p:nvSpPr>
          <p:cNvPr id="3" name="">
            <a:extLst xmlns:a="http://schemas.openxmlformats.org/drawingml/2006/main">
              <a:ext uri="{FF2B5EF4-FFF2-40B4-BE49-F238E27FC236}">
                <a16:creationId xmlns:a16="http://schemas.microsoft.com/office/drawing/2014/main" id="{6315A060-C31F-4D90-8C1C-08A2F3DCA6C5}"/>
              </a:ext>
            </a:extLst>
          </p:cNvPr>
          <p:cNvSpPr>
            <a:spLocks xmlns:a="http://schemas.openxmlformats.org/drawingml/2006/main" noGrp="1"/>
          </p:cNvSpPr>
          <p:nvPr/>
        </p:nvSpPr>
        <p:spPr>
          <a:xfrm xmlns:a="http://schemas.openxmlformats.org/drawingml/2006/main">
            <a:off x="523875" y="1543050"/>
            <a:ext cx="11049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marL="317500" indent="-165100" algn="l">
              <a:spcAft>
                <a:spcPts val="1200"/>
              </a:spcAft>
              <a:buChar char="•"/>
              <a:defRPr sz="2025" b="0">
                <a:solidFill>
                  <a:srgbClr val="151515"/>
                </a:solidFill>
                <a:latin typeface="Arial"/>
                <a:ea typeface="Arial"/>
                <a:cs typeface="Arial"/>
              </a:defRPr>
            </a:pPr>
            <a:r>
              <a:rPr sz="2025">
                <a:solidFill>
                  <a:srgbClr val="151515"/>
                </a:solidFill>
                <a:latin typeface="Arial"/>
                <a:ea typeface="Arial"/>
                <a:cs typeface="Arial"/>
              </a:rPr>
              <a:t>Score B before projection, with seven configurations.</a:t>
            </a:r>
          </a:p>
          <a:p xmlns:a="http://schemas.openxmlformats.org/drawingml/2006/main">
            <a:pPr marL="317500" indent="-165100" algn="l">
              <a:spcAft>
                <a:spcPts val="1200"/>
              </a:spcAft>
              <a:buChar char="•"/>
              <a:defRPr sz="2025" b="0">
                <a:solidFill>
                  <a:srgbClr val="151515"/>
                </a:solidFill>
                <a:latin typeface="Arial"/>
                <a:ea typeface="Arial"/>
                <a:cs typeface="Arial"/>
              </a:defRPr>
            </a:pPr>
            <a:r>
              <a:rPr sz="2025">
                <a:solidFill>
                  <a:srgbClr val="151515"/>
                </a:solidFill>
                <a:latin typeface="Arial"/>
                <a:ea typeface="Arial"/>
                <a:cs typeface="Arial"/>
              </a:rPr>
              <a:t>Initial history: surfaces 0–6. Common validation: surfaces 7–14.</a:t>
            </a:r>
          </a:p>
          <a:p xmlns:a="http://schemas.openxmlformats.org/drawingml/2006/main">
            <a:pPr marL="317500" indent="-165100" algn="l">
              <a:spcAft>
                <a:spcPts val="1200"/>
              </a:spcAft>
              <a:buChar char="•"/>
              <a:defRPr sz="2025" b="0">
                <a:solidFill>
                  <a:srgbClr val="151515"/>
                </a:solidFill>
                <a:latin typeface="Arial"/>
                <a:ea typeface="Arial"/>
                <a:cs typeface="Arial"/>
              </a:defRPr>
            </a:pPr>
            <a:r>
              <a:rPr sz="2025">
                <a:solidFill>
                  <a:srgbClr val="151515"/>
                </a:solidFill>
                <a:latin typeface="Arial"/>
                <a:ea typeface="Arial"/>
                <a:cs typeface="Arial"/>
              </a:rPr>
              <a:t>Vary one setting at a time: window, spatial grid or shrinkage.</a:t>
            </a:r>
          </a:p>
        </p:txBody>
      </p:sp>
      <p:graphicFrame>
        <p:nvGraphicFramePr>
          <p:cNvPr id="4" name="">
            <a:extLst xmlns:a="http://schemas.openxmlformats.org/drawingml/2006/main">
              <a:ext uri="{FF2B5EF4-FFF2-40B4-BE49-F238E27FC236}">
                <a16:creationId xmlns:a16="http://schemas.microsoft.com/office/drawing/2014/main" id="{A252ED71-905F-4FF6-A985-4FF3B8A77F7C}"/>
              </a:ext>
            </a:extLst>
          </p:cNvPr>
          <p:cNvGraphicFramePr/>
          <p:nvPr/>
        </p:nvGraphicFramePr>
        <p:xfrm>
          <a:off xmlns:a="http://schemas.openxmlformats.org/drawingml/2006/main" x="523875" y="3829050"/>
          <a:ext xmlns:a="http://schemas.openxmlformats.org/drawingml/2006/main" cx="11049000" cy="1743075"/>
        </p:xfrm>
        <a:graphic xmlns:a="http://schemas.openxmlformats.org/drawingml/2006/main">
          <a:graphicData uri="http://schemas.openxmlformats.org/drawingml/2006/table">
            <a:tbl>
              <a:tblPr firstRow="0" bandRow="0"/>
              <a:tblGrid>
                <a:gridCol w="6477000"/>
                <a:gridCol w="4572000"/>
              </a:tblGrid>
              <a:tr h="581025">
                <a:tc>
                  <a:txBody>
                    <a:bodyPr lIns="95250" tIns="95250" rIns="95250" bIns="95250">
                      <a:noAutofit/>
                    </a:bodyPr>
                    <a:lstStyle/>
                    <a:p>
                      <a:pPr algn="l"/>
                      <a:r>
                        <a:rPr sz="1950" b="1">
                          <a:solidFill>
                            <a:srgbClr val="4776C9"/>
                          </a:solidFill>
                          <a:latin typeface="Arial"/>
                          <a:ea typeface="Arial"/>
                          <a:cs typeface="Arial"/>
                        </a:rPr>
                        <a:t>Across seven configurations</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950" b="1">
                          <a:solidFill>
                            <a:srgbClr val="4776C9"/>
                          </a:solidFill>
                          <a:latin typeface="Arial"/>
                          <a:ea typeface="Arial"/>
                          <a:cs typeface="Arial"/>
                        </a:rPr>
                        <a:t>Observed range</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r>
              <a:tr h="581025">
                <a:tc>
                  <a:txBody>
                    <a:bodyPr lIns="95250" tIns="95250" rIns="95250" bIns="95250">
                      <a:noAutofit/>
                    </a:bodyPr>
                    <a:lstStyle/>
                    <a:p>
                      <a:pPr algn="l"/>
                      <a:r>
                        <a:rPr sz="1950" b="0">
                          <a:solidFill>
                            <a:srgbClr val="151515"/>
                          </a:solidFill>
                          <a:latin typeface="Arial"/>
                          <a:ea typeface="Arial"/>
                          <a:cs typeface="Arial"/>
                        </a:rPr>
                        <a:t>Mean validation coverage</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89.77% to 91.41%</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81025">
                <a:tc>
                  <a:txBody>
                    <a:bodyPr lIns="95250" tIns="95250" rIns="95250" bIns="95250">
                      <a:noAutofit/>
                    </a:bodyPr>
                    <a:lstStyle/>
                    <a:p>
                      <a:pPr algn="l"/>
                      <a:r>
                        <a:rPr sz="1950" b="0">
                          <a:solidFill>
                            <a:srgbClr val="151515"/>
                          </a:solidFill>
                          <a:latin typeface="Arial"/>
                          <a:ea typeface="Arial"/>
                          <a:cs typeface="Arial"/>
                        </a:rPr>
                        <a:t>Mean IV band width</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950" b="0">
                          <a:solidFill>
                            <a:srgbClr val="151515"/>
                          </a:solidFill>
                          <a:latin typeface="Arial"/>
                          <a:ea typeface="Arial"/>
                          <a:cs typeface="Arial"/>
                        </a:rPr>
                        <a:t>0.02794 to 0.02870</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5" name="This local check uses eight validation surfac">
            <a:extLst xmlns:a="http://schemas.openxmlformats.org/drawingml/2006/main">
              <a:ext uri="{FF2B5EF4-FFF2-40B4-BE49-F238E27FC236}">
                <a16:creationId xmlns:a16="http://schemas.microsoft.com/office/drawing/2014/main" id="{D409AA84-FB29-4C23-8FD6-65E8BA9B72A5}"/>
              </a:ext>
            </a:extLst>
          </p:cNvPr>
          <p:cNvSpPr>
            <a:spLocks xmlns:a="http://schemas.openxmlformats.org/drawingml/2006/main" noGrp="1"/>
          </p:cNvSpPr>
          <p:nvPr/>
        </p:nvSpPr>
        <p:spPr>
          <a:xfrm xmlns:a="http://schemas.openxmlformats.org/drawingml/2006/main">
            <a:off x="523875" y="59436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05050"/>
                </a:solidFill>
                <a:latin typeface="Arial"/>
                <a:ea typeface="Arial"/>
                <a:cs typeface="Arial"/>
              </a:defRPr>
            </a:defPPr>
            <a:lvl1pPr algn="l">
              <a:defRPr sz="1725" b="0">
                <a:solidFill>
                  <a:srgbClr val="505050"/>
                </a:solidFill>
                <a:latin typeface="Arial"/>
                <a:ea typeface="Arial"/>
                <a:cs typeface="Arial"/>
              </a:defRPr>
            </a:lvl1pPr>
            <a:lvl2pPr algn="l">
              <a:defRPr sz="1725" b="0">
                <a:solidFill>
                  <a:srgbClr val="505050"/>
                </a:solidFill>
                <a:latin typeface="Arial"/>
                <a:ea typeface="Arial"/>
                <a:cs typeface="Arial"/>
              </a:defRPr>
            </a:lvl2pPr>
            <a:lvl3pPr algn="l">
              <a:defRPr sz="1725" b="0">
                <a:solidFill>
                  <a:srgbClr val="505050"/>
                </a:solidFill>
                <a:latin typeface="Arial"/>
                <a:ea typeface="Arial"/>
                <a:cs typeface="Arial"/>
              </a:defRPr>
            </a:lvl3pPr>
            <a:lvl4pPr algn="l">
              <a:defRPr sz="1725" b="0">
                <a:solidFill>
                  <a:srgbClr val="505050"/>
                </a:solidFill>
                <a:latin typeface="Arial"/>
                <a:ea typeface="Arial"/>
                <a:cs typeface="Arial"/>
              </a:defRPr>
            </a:lvl4pPr>
            <a:lvl5pPr algn="l">
              <a:defRPr sz="1725" b="0">
                <a:solidFill>
                  <a:srgbClr val="505050"/>
                </a:solidFill>
                <a:latin typeface="Arial"/>
                <a:ea typeface="Arial"/>
                <a:cs typeface="Arial"/>
              </a:defRPr>
            </a:lvl5pPr>
            <a:lvl6pPr algn="l">
              <a:defRPr sz="1725" b="0">
                <a:solidFill>
                  <a:srgbClr val="505050"/>
                </a:solidFill>
                <a:latin typeface="Arial"/>
                <a:ea typeface="Arial"/>
                <a:cs typeface="Arial"/>
              </a:defRPr>
            </a:lvl6pPr>
            <a:lvl7pPr algn="l">
              <a:defRPr sz="1725" b="0">
                <a:solidFill>
                  <a:srgbClr val="505050"/>
                </a:solidFill>
                <a:latin typeface="Arial"/>
                <a:ea typeface="Arial"/>
                <a:cs typeface="Arial"/>
              </a:defRPr>
            </a:lvl7pPr>
            <a:lvl8pPr algn="l">
              <a:defRPr sz="1725" b="0">
                <a:solidFill>
                  <a:srgbClr val="505050"/>
                </a:solidFill>
                <a:latin typeface="Arial"/>
                <a:ea typeface="Arial"/>
                <a:cs typeface="Arial"/>
              </a:defRPr>
            </a:lvl8pPr>
            <a:lvl9pPr algn="l">
              <a:defRPr sz="1725" b="0">
                <a:solidFill>
                  <a:srgbClr val="505050"/>
                </a:solidFill>
                <a:latin typeface="Arial"/>
                <a:ea typeface="Arial"/>
                <a:cs typeface="Arial"/>
              </a:defRPr>
            </a:lvl9pPr>
          </a:lstStyle>
          <a:p xmlns:a="http://schemas.openxmlformats.org/drawingml/2006/main">
            <a:pPr algn="l">
              <a:defRPr sz="1725" b="0">
                <a:solidFill>
                  <a:srgbClr val="505050"/>
                </a:solidFill>
                <a:latin typeface="Arial"/>
                <a:ea typeface="Arial"/>
                <a:cs typeface="Arial"/>
              </a:defRPr>
            </a:pPr>
            <a:r>
              <a:rPr sz="1725" b="0">
                <a:solidFill>
                  <a:srgbClr val="505050"/>
                </a:solidFill>
                <a:latin typeface="Arial"/>
                <a:ea typeface="Arial"/>
                <a:cs typeface="Arial"/>
              </a:rPr>
              <a:t>This local check uses eight validation surfaces and one mask. The 31 final evaluation surfaces remain separate.</a:t>
            </a:r>
          </a:p>
        </p:txBody>
      </p:sp>
      <p:sp>
        <p:nvSpPr>
          <p:cNvPr id="6" name="source-line">
            <a:extLst xmlns:a="http://schemas.openxmlformats.org/drawingml/2006/main">
              <a:ext uri="{FF2B5EF4-FFF2-40B4-BE49-F238E27FC236}">
                <a16:creationId xmlns:a16="http://schemas.microsoft.com/office/drawing/2014/main" id="{D7C4CB09-D314-40DD-A646-67A1D9D50AEA}"/>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parameter_sensitivity.ipynb cells 4, 8 and 13, thesis §6.3</a:t>
            </a:r>
          </a:p>
        </p:txBody>
      </p:sp>
      <p:sp>
        <p:nvSpPr>
          <p:cNvPr id="7" name="slide-number">
            <a:extLst xmlns:a="http://schemas.openxmlformats.org/drawingml/2006/main">
              <a:ext uri="{FF2B5EF4-FFF2-40B4-BE49-F238E27FC236}">
                <a16:creationId xmlns:a16="http://schemas.microsoft.com/office/drawing/2014/main" id="{4D741E96-AE22-469D-A5E2-9F03E813B46E}"/>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20</a:t>
            </a:r>
          </a:p>
        </p:txBody>
      </p:sp>
    </p:spTree>
    <p:extLst>
      <p:ext uri="{BB962C8B-B14F-4D97-AF65-F5344CB8AC3E}">
        <p14:creationId xmlns:p14="http://schemas.microsoft.com/office/powerpoint/2010/main" val="14371873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214017A-B559-42E3-9443-F9623656E7CC}"/>
              </a:ext>
            </a:extLst>
          </p:cNvPr>
          <p:cNvPicPr>
            <a:picLocks xmlns:a="http://schemas.openxmlformats.org/drawingml/2006/main" noChangeAspect="1"/>
          </p:cNvPicPr>
          <p:nvPr/>
        </p:nvPicPr>
        <p:blipFill>
          <a:blip xmlns:r="http://schemas.openxmlformats.org/officeDocument/2006/relationships" xmlns:a="http://schemas.openxmlformats.org/drawingml/2006/main" r:embed="R75087d9e533348f3"/>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6F8DB8A5-B4B2-4F4C-932D-1D1D73F18E86}"/>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What the evaluation establishes</a:t>
            </a:r>
          </a:p>
        </p:txBody>
      </p:sp>
      <p:sp>
        <p:nvSpPr>
          <p:cNvPr id="3" name="">
            <a:extLst xmlns:a="http://schemas.openxmlformats.org/drawingml/2006/main">
              <a:ext uri="{FF2B5EF4-FFF2-40B4-BE49-F238E27FC236}">
                <a16:creationId xmlns:a16="http://schemas.microsoft.com/office/drawing/2014/main" id="{83AF14B5-A30C-46A8-ACF2-C2C611E54AC1}"/>
              </a:ext>
            </a:extLst>
          </p:cNvPr>
          <p:cNvSpPr>
            <a:spLocks xmlns:a="http://schemas.openxmlformats.org/drawingml/2006/main" noGrp="1"/>
          </p:cNvSpPr>
          <p:nvPr/>
        </p:nvSpPr>
        <p:spPr>
          <a:xfrm xmlns:a="http://schemas.openxmlformats.org/drawingml/2006/main">
            <a:off x="523875" y="1619250"/>
            <a:ext cx="110490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51515"/>
                </a:solidFill>
                <a:latin typeface="Arial"/>
                <a:ea typeface="Arial"/>
                <a:cs typeface="Arial"/>
              </a:defRPr>
            </a:defPPr>
            <a:lvl1pPr algn="l">
              <a:defRPr sz="2100" b="0">
                <a:solidFill>
                  <a:srgbClr val="151515"/>
                </a:solidFill>
                <a:latin typeface="Arial"/>
                <a:ea typeface="Arial"/>
                <a:cs typeface="Arial"/>
              </a:defRPr>
            </a:lvl1pPr>
            <a:lvl2pPr algn="l">
              <a:defRPr sz="2100" b="0">
                <a:solidFill>
                  <a:srgbClr val="151515"/>
                </a:solidFill>
                <a:latin typeface="Arial"/>
                <a:ea typeface="Arial"/>
                <a:cs typeface="Arial"/>
              </a:defRPr>
            </a:lvl2pPr>
            <a:lvl3pPr algn="l">
              <a:defRPr sz="2100" b="0">
                <a:solidFill>
                  <a:srgbClr val="151515"/>
                </a:solidFill>
                <a:latin typeface="Arial"/>
                <a:ea typeface="Arial"/>
                <a:cs typeface="Arial"/>
              </a:defRPr>
            </a:lvl3pPr>
            <a:lvl4pPr algn="l">
              <a:defRPr sz="2100" b="0">
                <a:solidFill>
                  <a:srgbClr val="151515"/>
                </a:solidFill>
                <a:latin typeface="Arial"/>
                <a:ea typeface="Arial"/>
                <a:cs typeface="Arial"/>
              </a:defRPr>
            </a:lvl4pPr>
            <a:lvl5pPr algn="l">
              <a:defRPr sz="2100" b="0">
                <a:solidFill>
                  <a:srgbClr val="151515"/>
                </a:solidFill>
                <a:latin typeface="Arial"/>
                <a:ea typeface="Arial"/>
                <a:cs typeface="Arial"/>
              </a:defRPr>
            </a:lvl5pPr>
            <a:lvl6pPr algn="l">
              <a:defRPr sz="2100" b="0">
                <a:solidFill>
                  <a:srgbClr val="151515"/>
                </a:solidFill>
                <a:latin typeface="Arial"/>
                <a:ea typeface="Arial"/>
                <a:cs typeface="Arial"/>
              </a:defRPr>
            </a:lvl6pPr>
            <a:lvl7pPr algn="l">
              <a:defRPr sz="2100" b="0">
                <a:solidFill>
                  <a:srgbClr val="151515"/>
                </a:solidFill>
                <a:latin typeface="Arial"/>
                <a:ea typeface="Arial"/>
                <a:cs typeface="Arial"/>
              </a:defRPr>
            </a:lvl7pPr>
            <a:lvl8pPr algn="l">
              <a:defRPr sz="2100" b="0">
                <a:solidFill>
                  <a:srgbClr val="151515"/>
                </a:solidFill>
                <a:latin typeface="Arial"/>
                <a:ea typeface="Arial"/>
                <a:cs typeface="Arial"/>
              </a:defRPr>
            </a:lvl8pPr>
            <a:lvl9pPr algn="l">
              <a:defRPr sz="2100" b="0">
                <a:solidFill>
                  <a:srgbClr val="151515"/>
                </a:solidFill>
                <a:latin typeface="Arial"/>
                <a:ea typeface="Arial"/>
                <a:cs typeface="Arial"/>
              </a:defRPr>
            </a:lvl9pPr>
          </a:lstStyle>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Score B gives higher final coverage and narrower mean bands than Score A in this experiment.</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Mondrian calibration improves average coverage, while regional and temporal shortfalls remain.</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The sample covers one underlying, one GNO checkpoint and an irregular sequence of dates.</a:t>
            </a:r>
          </a:p>
          <a:p xmlns:a="http://schemas.openxmlformats.org/drawingml/2006/main">
            <a:pPr marL="317500" indent="-165100" algn="l">
              <a:spcAft>
                <a:spcPts val="1400"/>
              </a:spcAft>
              <a:buChar char="•"/>
              <a:defRPr sz="2100" b="0">
                <a:solidFill>
                  <a:srgbClr val="151515"/>
                </a:solidFill>
                <a:latin typeface="Arial"/>
                <a:ea typeface="Arial"/>
                <a:cs typeface="Arial"/>
              </a:defRPr>
            </a:pPr>
            <a:r>
              <a:rPr sz="2100">
                <a:solidFill>
                  <a:srgbClr val="151515"/>
                </a:solidFill>
                <a:latin typeface="Arial"/>
                <a:ea typeface="Arial"/>
                <a:cs typeface="Arial"/>
              </a:rPr>
              <a:t>Temporal dependence, shrinkage and projection limit formal coverage claims.</a:t>
            </a:r>
          </a:p>
        </p:txBody>
      </p:sp>
      <p:sp>
        <p:nvSpPr>
          <p:cNvPr id="4" name="source-line">
            <a:extLst xmlns:a="http://schemas.openxmlformats.org/drawingml/2006/main">
              <a:ext uri="{FF2B5EF4-FFF2-40B4-BE49-F238E27FC236}">
                <a16:creationId xmlns:a16="http://schemas.microsoft.com/office/drawing/2014/main" id="{1A3C1754-8E14-475D-9D2C-5067BFFCF160}"/>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thesis Ch. 6 and final experimental results</a:t>
            </a:r>
          </a:p>
        </p:txBody>
      </p:sp>
      <p:sp>
        <p:nvSpPr>
          <p:cNvPr id="5" name="slide-number">
            <a:extLst xmlns:a="http://schemas.openxmlformats.org/drawingml/2006/main">
              <a:ext uri="{FF2B5EF4-FFF2-40B4-BE49-F238E27FC236}">
                <a16:creationId xmlns:a16="http://schemas.microsoft.com/office/drawing/2014/main" id="{846D1E1F-8362-42A7-B018-7004ACF38B93}"/>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21</a:t>
            </a:r>
          </a:p>
        </p:txBody>
      </p:sp>
    </p:spTree>
    <p:extLst>
      <p:ext uri="{BB962C8B-B14F-4D97-AF65-F5344CB8AC3E}">
        <p14:creationId xmlns:p14="http://schemas.microsoft.com/office/powerpoint/2010/main" val="270155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CA8EC9F-BC5D-4D87-9321-AED3E88D42B2}"/>
              </a:ext>
            </a:extLst>
          </p:cNvPr>
          <p:cNvPicPr>
            <a:picLocks xmlns:a="http://schemas.openxmlformats.org/drawingml/2006/main" noChangeAspect="1"/>
          </p:cNvPicPr>
          <p:nvPr/>
        </p:nvPicPr>
        <p:blipFill>
          <a:blip xmlns:r="http://schemas.openxmlformats.org/officeDocument/2006/relationships" xmlns:a="http://schemas.openxmlformats.org/drawingml/2006/main" r:embed="R1187c0d56b904eb3"/>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E352832E-746A-4E82-9FD6-66AC4E4CC232}"/>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Future work</a:t>
            </a:r>
          </a:p>
        </p:txBody>
      </p:sp>
      <p:sp>
        <p:nvSpPr>
          <p:cNvPr id="3" name="">
            <a:extLst xmlns:a="http://schemas.openxmlformats.org/drawingml/2006/main">
              <a:ext uri="{FF2B5EF4-FFF2-40B4-BE49-F238E27FC236}">
                <a16:creationId xmlns:a16="http://schemas.microsoft.com/office/drawing/2014/main" id="{4AC72A0B-D083-4F92-9A50-12A7BAA58881}"/>
              </a:ext>
            </a:extLst>
          </p:cNvPr>
          <p:cNvSpPr>
            <a:spLocks xmlns:a="http://schemas.openxmlformats.org/drawingml/2006/main" noGrp="1"/>
          </p:cNvSpPr>
          <p:nvPr/>
        </p:nvSpPr>
        <p:spPr>
          <a:xfrm xmlns:a="http://schemas.openxmlformats.org/drawingml/2006/main">
            <a:off x="523875" y="1619250"/>
            <a:ext cx="11049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51515"/>
                </a:solidFill>
                <a:latin typeface="Arial"/>
                <a:ea typeface="Arial"/>
                <a:cs typeface="Arial"/>
              </a:defRPr>
            </a:defPPr>
            <a:lvl1pPr algn="l">
              <a:defRPr sz="2175" b="0">
                <a:solidFill>
                  <a:srgbClr val="151515"/>
                </a:solidFill>
                <a:latin typeface="Arial"/>
                <a:ea typeface="Arial"/>
                <a:cs typeface="Arial"/>
              </a:defRPr>
            </a:lvl1pPr>
            <a:lvl2pPr algn="l">
              <a:defRPr sz="2175" b="0">
                <a:solidFill>
                  <a:srgbClr val="151515"/>
                </a:solidFill>
                <a:latin typeface="Arial"/>
                <a:ea typeface="Arial"/>
                <a:cs typeface="Arial"/>
              </a:defRPr>
            </a:lvl2pPr>
            <a:lvl3pPr algn="l">
              <a:defRPr sz="2175" b="0">
                <a:solidFill>
                  <a:srgbClr val="151515"/>
                </a:solidFill>
                <a:latin typeface="Arial"/>
                <a:ea typeface="Arial"/>
                <a:cs typeface="Arial"/>
              </a:defRPr>
            </a:lvl3pPr>
            <a:lvl4pPr algn="l">
              <a:defRPr sz="2175" b="0">
                <a:solidFill>
                  <a:srgbClr val="151515"/>
                </a:solidFill>
                <a:latin typeface="Arial"/>
                <a:ea typeface="Arial"/>
                <a:cs typeface="Arial"/>
              </a:defRPr>
            </a:lvl4pPr>
            <a:lvl5pPr algn="l">
              <a:defRPr sz="2175" b="0">
                <a:solidFill>
                  <a:srgbClr val="151515"/>
                </a:solidFill>
                <a:latin typeface="Arial"/>
                <a:ea typeface="Arial"/>
                <a:cs typeface="Arial"/>
              </a:defRPr>
            </a:lvl5pPr>
            <a:lvl6pPr algn="l">
              <a:defRPr sz="2175" b="0">
                <a:solidFill>
                  <a:srgbClr val="151515"/>
                </a:solidFill>
                <a:latin typeface="Arial"/>
                <a:ea typeface="Arial"/>
                <a:cs typeface="Arial"/>
              </a:defRPr>
            </a:lvl6pPr>
            <a:lvl7pPr algn="l">
              <a:defRPr sz="2175" b="0">
                <a:solidFill>
                  <a:srgbClr val="151515"/>
                </a:solidFill>
                <a:latin typeface="Arial"/>
                <a:ea typeface="Arial"/>
                <a:cs typeface="Arial"/>
              </a:defRPr>
            </a:lvl7pPr>
            <a:lvl8pPr algn="l">
              <a:defRPr sz="2175" b="0">
                <a:solidFill>
                  <a:srgbClr val="151515"/>
                </a:solidFill>
                <a:latin typeface="Arial"/>
                <a:ea typeface="Arial"/>
                <a:cs typeface="Arial"/>
              </a:defRPr>
            </a:lvl8pPr>
            <a:lvl9pPr algn="l">
              <a:defRPr sz="2175" b="0">
                <a:solidFill>
                  <a:srgbClr val="151515"/>
                </a:solidFill>
                <a:latin typeface="Arial"/>
                <a:ea typeface="Arial"/>
                <a:cs typeface="Arial"/>
              </a:defRPr>
            </a:lvl9pPr>
          </a:lstStyle>
          <a:p xmlns:a="http://schemas.openxmlformats.org/drawingml/2006/main">
            <a:pPr marL="317500" indent="-165100" algn="l">
              <a:spcAft>
                <a:spcPts val="1400"/>
              </a:spcAft>
              <a:buChar char="•"/>
              <a:defRPr sz="2175" b="0">
                <a:solidFill>
                  <a:srgbClr val="151515"/>
                </a:solidFill>
                <a:latin typeface="Arial"/>
                <a:ea typeface="Arial"/>
                <a:cs typeface="Arial"/>
              </a:defRPr>
            </a:pPr>
            <a:r>
              <a:rPr sz="2175">
                <a:solidFill>
                  <a:srgbClr val="151515"/>
                </a:solidFill>
                <a:latin typeface="Arial"/>
                <a:ea typeface="Arial"/>
                <a:cs typeface="Arial"/>
              </a:rPr>
              <a:t>Evaluate longer periods, more underlyings, multiple checkpoints and repeated masks.</a:t>
            </a:r>
          </a:p>
          <a:p xmlns:a="http://schemas.openxmlformats.org/drawingml/2006/main">
            <a:pPr marL="317500" indent="-165100" algn="l">
              <a:spcAft>
                <a:spcPts val="1400"/>
              </a:spcAft>
              <a:buChar char="•"/>
              <a:defRPr sz="2175" b="0">
                <a:solidFill>
                  <a:srgbClr val="151515"/>
                </a:solidFill>
                <a:latin typeface="Arial"/>
                <a:ea typeface="Arial"/>
                <a:cs typeface="Arial"/>
              </a:defRPr>
            </a:pPr>
            <a:r>
              <a:rPr sz="2175">
                <a:solidFill>
                  <a:srgbClr val="151515"/>
                </a:solidFill>
                <a:latin typeface="Arial"/>
                <a:ea typeface="Arial"/>
                <a:cs typeface="Arial"/>
              </a:rPr>
              <a:t>Compare adaptive or weighted calibration under changing market conditions.</a:t>
            </a:r>
          </a:p>
          <a:p xmlns:a="http://schemas.openxmlformats.org/drawingml/2006/main">
            <a:pPr marL="317500" indent="-165100" algn="l">
              <a:spcAft>
                <a:spcPts val="1400"/>
              </a:spcAft>
              <a:buChar char="•"/>
              <a:defRPr sz="2175" b="0">
                <a:solidFill>
                  <a:srgbClr val="151515"/>
                </a:solidFill>
                <a:latin typeface="Arial"/>
                <a:ea typeface="Arial"/>
                <a:cs typeface="Arial"/>
              </a:defRPr>
            </a:pPr>
            <a:r>
              <a:rPr sz="2175">
                <a:solidFill>
                  <a:srgbClr val="151515"/>
                </a:solidFill>
                <a:latin typeface="Arial"/>
                <a:ea typeface="Arial"/>
                <a:cs typeface="Arial"/>
              </a:rPr>
              <a:t>Study finer projection grids and directly constrain the supplementary butterfly condition.</a:t>
            </a:r>
          </a:p>
          <a:p xmlns:a="http://schemas.openxmlformats.org/drawingml/2006/main">
            <a:pPr marL="317500" indent="-165100" algn="l">
              <a:spcAft>
                <a:spcPts val="1400"/>
              </a:spcAft>
              <a:buChar char="•"/>
              <a:defRPr sz="2175" b="0">
                <a:solidFill>
                  <a:srgbClr val="151515"/>
                </a:solidFill>
                <a:latin typeface="Arial"/>
                <a:ea typeface="Arial"/>
                <a:cs typeface="Arial"/>
              </a:defRPr>
            </a:pPr>
            <a:r>
              <a:rPr sz="2175">
                <a:solidFill>
                  <a:srgbClr val="151515"/>
                </a:solidFill>
                <a:latin typeface="Arial"/>
                <a:ea typeface="Arial"/>
                <a:cs typeface="Arial"/>
              </a:rPr>
              <a:t>Use time-aware resampling and broader joint parameter sensitivity checks.</a:t>
            </a:r>
          </a:p>
        </p:txBody>
      </p:sp>
      <p:sp>
        <p:nvSpPr>
          <p:cNvPr id="4" name="source-line">
            <a:extLst xmlns:a="http://schemas.openxmlformats.org/drawingml/2006/main">
              <a:ext uri="{FF2B5EF4-FFF2-40B4-BE49-F238E27FC236}">
                <a16:creationId xmlns:a16="http://schemas.microsoft.com/office/drawing/2014/main" id="{9B1BDA12-C87F-48E8-8959-D33719474879}"/>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thesis §6.4, Barber et al. (2023)</a:t>
            </a:r>
          </a:p>
        </p:txBody>
      </p:sp>
      <p:sp>
        <p:nvSpPr>
          <p:cNvPr id="5" name="slide-number">
            <a:extLst xmlns:a="http://schemas.openxmlformats.org/drawingml/2006/main">
              <a:ext uri="{FF2B5EF4-FFF2-40B4-BE49-F238E27FC236}">
                <a16:creationId xmlns:a16="http://schemas.microsoft.com/office/drawing/2014/main" id="{2311573B-BC43-4119-AE55-4D864CFB13B2}"/>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22</a:t>
            </a:r>
          </a:p>
        </p:txBody>
      </p:sp>
    </p:spTree>
    <p:extLst>
      <p:ext uri="{BB962C8B-B14F-4D97-AF65-F5344CB8AC3E}">
        <p14:creationId xmlns:p14="http://schemas.microsoft.com/office/powerpoint/2010/main" val="16632249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E19E3F1-228E-4DB4-A9D9-E0A48198B8B3}"/>
              </a:ext>
            </a:extLst>
          </p:cNvPr>
          <p:cNvPicPr>
            <a:picLocks xmlns:a="http://schemas.openxmlformats.org/drawingml/2006/main" noChangeAspect="1"/>
          </p:cNvPicPr>
          <p:nvPr/>
        </p:nvPicPr>
        <p:blipFill>
          <a:blip xmlns:r="http://schemas.openxmlformats.org/officeDocument/2006/relationships" xmlns:a="http://schemas.openxmlformats.org/drawingml/2006/main" r:embed="Rbf4da66dee784f25"/>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3C5AF160-25BA-44C1-99A4-20962CB8D518}"/>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Conclusion</a:t>
            </a:r>
          </a:p>
        </p:txBody>
      </p:sp>
      <p:sp>
        <p:nvSpPr>
          <p:cNvPr id="3" name="">
            <a:extLst xmlns:a="http://schemas.openxmlformats.org/drawingml/2006/main">
              <a:ext uri="{FF2B5EF4-FFF2-40B4-BE49-F238E27FC236}">
                <a16:creationId xmlns:a16="http://schemas.microsoft.com/office/drawing/2014/main" id="{F4861F8E-B323-4D84-B486-64D60CAF646C}"/>
              </a:ext>
            </a:extLst>
          </p:cNvPr>
          <p:cNvSpPr>
            <a:spLocks xmlns:a="http://schemas.openxmlformats.org/drawingml/2006/main" noGrp="1"/>
          </p:cNvSpPr>
          <p:nvPr/>
        </p:nvSpPr>
        <p:spPr>
          <a:xfrm xmlns:a="http://schemas.openxmlformats.org/drawingml/2006/main">
            <a:off x="523875" y="1619250"/>
            <a:ext cx="11049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51515"/>
                </a:solidFill>
                <a:latin typeface="Arial"/>
                <a:ea typeface="Arial"/>
                <a:cs typeface="Arial"/>
              </a:defRPr>
            </a:defPPr>
            <a:lvl1pPr algn="l">
              <a:defRPr sz="2250" b="0">
                <a:solidFill>
                  <a:srgbClr val="151515"/>
                </a:solidFill>
                <a:latin typeface="Arial"/>
                <a:ea typeface="Arial"/>
                <a:cs typeface="Arial"/>
              </a:defRPr>
            </a:lvl1pPr>
            <a:lvl2pPr algn="l">
              <a:defRPr sz="2250" b="0">
                <a:solidFill>
                  <a:srgbClr val="151515"/>
                </a:solidFill>
                <a:latin typeface="Arial"/>
                <a:ea typeface="Arial"/>
                <a:cs typeface="Arial"/>
              </a:defRPr>
            </a:lvl2pPr>
            <a:lvl3pPr algn="l">
              <a:defRPr sz="2250" b="0">
                <a:solidFill>
                  <a:srgbClr val="151515"/>
                </a:solidFill>
                <a:latin typeface="Arial"/>
                <a:ea typeface="Arial"/>
                <a:cs typeface="Arial"/>
              </a:defRPr>
            </a:lvl3pPr>
            <a:lvl4pPr algn="l">
              <a:defRPr sz="2250" b="0">
                <a:solidFill>
                  <a:srgbClr val="151515"/>
                </a:solidFill>
                <a:latin typeface="Arial"/>
                <a:ea typeface="Arial"/>
                <a:cs typeface="Arial"/>
              </a:defRPr>
            </a:lvl4pPr>
            <a:lvl5pPr algn="l">
              <a:defRPr sz="2250" b="0">
                <a:solidFill>
                  <a:srgbClr val="151515"/>
                </a:solidFill>
                <a:latin typeface="Arial"/>
                <a:ea typeface="Arial"/>
                <a:cs typeface="Arial"/>
              </a:defRPr>
            </a:lvl5pPr>
            <a:lvl6pPr algn="l">
              <a:defRPr sz="2250" b="0">
                <a:solidFill>
                  <a:srgbClr val="151515"/>
                </a:solidFill>
                <a:latin typeface="Arial"/>
                <a:ea typeface="Arial"/>
                <a:cs typeface="Arial"/>
              </a:defRPr>
            </a:lvl6pPr>
            <a:lvl7pPr algn="l">
              <a:defRPr sz="2250" b="0">
                <a:solidFill>
                  <a:srgbClr val="151515"/>
                </a:solidFill>
                <a:latin typeface="Arial"/>
                <a:ea typeface="Arial"/>
                <a:cs typeface="Arial"/>
              </a:defRPr>
            </a:lvl7pPr>
            <a:lvl8pPr algn="l">
              <a:defRPr sz="2250" b="0">
                <a:solidFill>
                  <a:srgbClr val="151515"/>
                </a:solidFill>
                <a:latin typeface="Arial"/>
                <a:ea typeface="Arial"/>
                <a:cs typeface="Arial"/>
              </a:defRPr>
            </a:lvl8pPr>
            <a:lvl9pPr algn="l">
              <a:defRPr sz="2250" b="0">
                <a:solidFill>
                  <a:srgbClr val="151515"/>
                </a:solidFill>
                <a:latin typeface="Arial"/>
                <a:ea typeface="Arial"/>
                <a:cs typeface="Arial"/>
              </a:defRPr>
            </a:lvl9pPr>
          </a:lstStyle>
          <a:p xmlns:a="http://schemas.openxmlformats.org/drawingml/2006/main">
            <a:pPr marL="317500" indent="-165100" algn="l">
              <a:spcAft>
                <a:spcPts val="1800"/>
              </a:spcAft>
              <a:buChar char="•"/>
              <a:defRPr sz="2250" b="0">
                <a:solidFill>
                  <a:srgbClr val="151515"/>
                </a:solidFill>
                <a:latin typeface="Arial"/>
                <a:ea typeface="Arial"/>
                <a:cs typeface="Arial"/>
              </a:defRPr>
            </a:pPr>
            <a:r>
              <a:rPr sz="2250">
                <a:solidFill>
                  <a:srgbClr val="151515"/>
                </a:solidFill>
                <a:latin typeface="Arial"/>
                <a:ea typeface="Arial"/>
                <a:cs typeface="Arial"/>
              </a:rPr>
              <a:t>A conformal layer adds spatially varying uncertainty bands to a fixed GNO without retraining.</a:t>
            </a:r>
          </a:p>
          <a:p xmlns:a="http://schemas.openxmlformats.org/drawingml/2006/main">
            <a:pPr marL="317500" indent="-165100" algn="l">
              <a:spcAft>
                <a:spcPts val="1800"/>
              </a:spcAft>
              <a:buChar char="•"/>
              <a:defRPr sz="2250" b="0">
                <a:solidFill>
                  <a:srgbClr val="151515"/>
                </a:solidFill>
                <a:latin typeface="Arial"/>
                <a:ea typeface="Arial"/>
                <a:cs typeface="Arial"/>
              </a:defRPr>
            </a:pPr>
            <a:r>
              <a:rPr sz="2250">
                <a:solidFill>
                  <a:srgbClr val="151515"/>
                </a:solidFill>
                <a:latin typeface="Arial"/>
                <a:ea typeface="Arial"/>
                <a:cs typeface="Arial"/>
              </a:rPr>
              <a:t>Score B achieves 92.86% mean coverage with a mean IV width of 0.027187 after projection.</a:t>
            </a:r>
          </a:p>
          <a:p xmlns:a="http://schemas.openxmlformats.org/drawingml/2006/main">
            <a:pPr marL="317500" indent="-165100" algn="l">
              <a:spcAft>
                <a:spcPts val="1800"/>
              </a:spcAft>
              <a:buChar char="•"/>
              <a:defRPr sz="2250" b="0">
                <a:solidFill>
                  <a:srgbClr val="151515"/>
                </a:solidFill>
                <a:latin typeface="Arial"/>
                <a:ea typeface="Arial"/>
                <a:cs typeface="Arial"/>
              </a:defRPr>
            </a:pPr>
            <a:r>
              <a:rPr sz="2250">
                <a:solidFill>
                  <a:srgbClr val="151515"/>
                </a:solidFill>
                <a:latin typeface="Arial"/>
                <a:ea typeface="Arial"/>
                <a:cs typeface="Arial"/>
              </a:rPr>
              <a:t>The joint projection meets its enforced grid conditions. Regional undercoverage and the butterfly diagnostic remain open issues.</a:t>
            </a:r>
          </a:p>
        </p:txBody>
      </p:sp>
      <p:sp>
        <p:nvSpPr>
          <p:cNvPr id="4" name="Contribution: empirically evaluated uncertain">
            <a:extLst xmlns:a="http://schemas.openxmlformats.org/drawingml/2006/main">
              <a:ext uri="{FF2B5EF4-FFF2-40B4-BE49-F238E27FC236}">
                <a16:creationId xmlns:a16="http://schemas.microsoft.com/office/drawing/2014/main" id="{A2C6B0FA-69FA-40D7-9C67-55264D915A18}"/>
              </a:ext>
            </a:extLst>
          </p:cNvPr>
          <p:cNvSpPr>
            <a:spLocks xmlns:a="http://schemas.openxmlformats.org/drawingml/2006/main" noGrp="1"/>
          </p:cNvSpPr>
          <p:nvPr/>
        </p:nvSpPr>
        <p:spPr>
          <a:xfrm xmlns:a="http://schemas.openxmlformats.org/drawingml/2006/main">
            <a:off x="619125" y="56007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4776C9"/>
                </a:solidFill>
                <a:latin typeface="Arial"/>
                <a:ea typeface="Arial"/>
                <a:cs typeface="Arial"/>
              </a:defRPr>
            </a:defPPr>
            <a:lvl1pPr algn="l">
              <a:defRPr sz="2250" b="1">
                <a:solidFill>
                  <a:srgbClr val="4776C9"/>
                </a:solidFill>
                <a:latin typeface="Arial"/>
                <a:ea typeface="Arial"/>
                <a:cs typeface="Arial"/>
              </a:defRPr>
            </a:lvl1pPr>
            <a:lvl2pPr algn="l">
              <a:defRPr sz="2250" b="1">
                <a:solidFill>
                  <a:srgbClr val="4776C9"/>
                </a:solidFill>
                <a:latin typeface="Arial"/>
                <a:ea typeface="Arial"/>
                <a:cs typeface="Arial"/>
              </a:defRPr>
            </a:lvl2pPr>
            <a:lvl3pPr algn="l">
              <a:defRPr sz="2250" b="1">
                <a:solidFill>
                  <a:srgbClr val="4776C9"/>
                </a:solidFill>
                <a:latin typeface="Arial"/>
                <a:ea typeface="Arial"/>
                <a:cs typeface="Arial"/>
              </a:defRPr>
            </a:lvl3pPr>
            <a:lvl4pPr algn="l">
              <a:defRPr sz="2250" b="1">
                <a:solidFill>
                  <a:srgbClr val="4776C9"/>
                </a:solidFill>
                <a:latin typeface="Arial"/>
                <a:ea typeface="Arial"/>
                <a:cs typeface="Arial"/>
              </a:defRPr>
            </a:lvl4pPr>
            <a:lvl5pPr algn="l">
              <a:defRPr sz="2250" b="1">
                <a:solidFill>
                  <a:srgbClr val="4776C9"/>
                </a:solidFill>
                <a:latin typeface="Arial"/>
                <a:ea typeface="Arial"/>
                <a:cs typeface="Arial"/>
              </a:defRPr>
            </a:lvl5pPr>
            <a:lvl6pPr algn="l">
              <a:defRPr sz="2250" b="1">
                <a:solidFill>
                  <a:srgbClr val="4776C9"/>
                </a:solidFill>
                <a:latin typeface="Arial"/>
                <a:ea typeface="Arial"/>
                <a:cs typeface="Arial"/>
              </a:defRPr>
            </a:lvl6pPr>
            <a:lvl7pPr algn="l">
              <a:defRPr sz="2250" b="1">
                <a:solidFill>
                  <a:srgbClr val="4776C9"/>
                </a:solidFill>
                <a:latin typeface="Arial"/>
                <a:ea typeface="Arial"/>
                <a:cs typeface="Arial"/>
              </a:defRPr>
            </a:lvl7pPr>
            <a:lvl8pPr algn="l">
              <a:defRPr sz="2250" b="1">
                <a:solidFill>
                  <a:srgbClr val="4776C9"/>
                </a:solidFill>
                <a:latin typeface="Arial"/>
                <a:ea typeface="Arial"/>
                <a:cs typeface="Arial"/>
              </a:defRPr>
            </a:lvl8pPr>
            <a:lvl9pPr algn="l">
              <a:defRPr sz="2250" b="1">
                <a:solidFill>
                  <a:srgbClr val="4776C9"/>
                </a:solidFill>
                <a:latin typeface="Arial"/>
                <a:ea typeface="Arial"/>
                <a:cs typeface="Arial"/>
              </a:defRPr>
            </a:lvl9pPr>
          </a:lstStyle>
          <a:p xmlns:a="http://schemas.openxmlformats.org/drawingml/2006/main">
            <a:pPr algn="l">
              <a:defRPr sz="2250" b="1">
                <a:solidFill>
                  <a:srgbClr val="4776C9"/>
                </a:solidFill>
                <a:latin typeface="Arial"/>
                <a:ea typeface="Arial"/>
                <a:cs typeface="Arial"/>
              </a:defRPr>
            </a:pPr>
            <a:r>
              <a:rPr sz="2250" b="1">
                <a:solidFill>
                  <a:srgbClr val="4776C9"/>
                </a:solidFill>
                <a:latin typeface="Arial"/>
                <a:ea typeface="Arial"/>
                <a:cs typeface="Arial"/>
              </a:rPr>
              <a:t>Contribution: empirically evaluated uncertainty for neural-operator surface reconstruction</a:t>
            </a:r>
          </a:p>
        </p:txBody>
      </p:sp>
      <p:sp>
        <p:nvSpPr>
          <p:cNvPr id="5" name="source-line">
            <a:extLst xmlns:a="http://schemas.openxmlformats.org/drawingml/2006/main">
              <a:ext uri="{FF2B5EF4-FFF2-40B4-BE49-F238E27FC236}">
                <a16:creationId xmlns:a16="http://schemas.microsoft.com/office/drawing/2014/main" id="{652A3B12-E15F-4D78-82D1-725DA8F679B0}"/>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thesis Ch. 7 and verified notebook outputs</a:t>
            </a:r>
          </a:p>
        </p:txBody>
      </p:sp>
      <p:sp>
        <p:nvSpPr>
          <p:cNvPr id="6" name="slide-number">
            <a:extLst xmlns:a="http://schemas.openxmlformats.org/drawingml/2006/main">
              <a:ext uri="{FF2B5EF4-FFF2-40B4-BE49-F238E27FC236}">
                <a16:creationId xmlns:a16="http://schemas.microsoft.com/office/drawing/2014/main" id="{F5363336-F9D6-4ABD-968E-12E54288EC45}"/>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23</a:t>
            </a:r>
          </a:p>
        </p:txBody>
      </p:sp>
    </p:spTree>
    <p:extLst>
      <p:ext uri="{BB962C8B-B14F-4D97-AF65-F5344CB8AC3E}">
        <p14:creationId xmlns:p14="http://schemas.microsoft.com/office/powerpoint/2010/main" val="195453726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7B4D084-748F-48E7-8B20-16C03E38FE9A}"/>
              </a:ext>
            </a:extLst>
          </p:cNvPr>
          <p:cNvPicPr>
            <a:picLocks xmlns:a="http://schemas.openxmlformats.org/drawingml/2006/main" noChangeAspect="1"/>
          </p:cNvPicPr>
          <p:nvPr/>
        </p:nvPicPr>
        <p:blipFill>
          <a:blip xmlns:r="http://schemas.openxmlformats.org/officeDocument/2006/relationships" xmlns:a="http://schemas.openxmlformats.org/drawingml/2006/main" r:embed="R213497180eae462c"/>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42ED9323-7242-42D9-AF2E-E530CBD9BCF9}"/>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r>
              <a:t/>
            </a:r>
          </a:p>
        </p:txBody>
      </p:sp>
      <p:sp>
        <p:nvSpPr>
          <p:cNvPr id="3" name="Thank you">
            <a:extLst xmlns:a="http://schemas.openxmlformats.org/drawingml/2006/main">
              <a:ext uri="{FF2B5EF4-FFF2-40B4-BE49-F238E27FC236}">
                <a16:creationId xmlns:a16="http://schemas.microsoft.com/office/drawing/2014/main" id="{54B98AFA-3605-406C-9D54-964D0F869E47}"/>
              </a:ext>
            </a:extLst>
          </p:cNvPr>
          <p:cNvSpPr>
            <a:spLocks xmlns:a="http://schemas.openxmlformats.org/drawingml/2006/main" noGrp="1"/>
          </p:cNvSpPr>
          <p:nvPr/>
        </p:nvSpPr>
        <p:spPr>
          <a:xfrm xmlns:a="http://schemas.openxmlformats.org/drawingml/2006/main">
            <a:off x="1905000" y="2714625"/>
            <a:ext cx="838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4776C9"/>
                </a:solidFill>
                <a:latin typeface="Arial"/>
                <a:ea typeface="Arial"/>
                <a:cs typeface="Arial"/>
              </a:defRPr>
            </a:defPPr>
            <a:lvl1pPr algn="ctr">
              <a:defRPr sz="5700" b="1">
                <a:solidFill>
                  <a:srgbClr val="4776C9"/>
                </a:solidFill>
                <a:latin typeface="Arial"/>
                <a:ea typeface="Arial"/>
                <a:cs typeface="Arial"/>
              </a:defRPr>
            </a:lvl1pPr>
            <a:lvl2pPr algn="ctr">
              <a:defRPr sz="5700" b="1">
                <a:solidFill>
                  <a:srgbClr val="4776C9"/>
                </a:solidFill>
                <a:latin typeface="Arial"/>
                <a:ea typeface="Arial"/>
                <a:cs typeface="Arial"/>
              </a:defRPr>
            </a:lvl2pPr>
            <a:lvl3pPr algn="ctr">
              <a:defRPr sz="5700" b="1">
                <a:solidFill>
                  <a:srgbClr val="4776C9"/>
                </a:solidFill>
                <a:latin typeface="Arial"/>
                <a:ea typeface="Arial"/>
                <a:cs typeface="Arial"/>
              </a:defRPr>
            </a:lvl3pPr>
            <a:lvl4pPr algn="ctr">
              <a:defRPr sz="5700" b="1">
                <a:solidFill>
                  <a:srgbClr val="4776C9"/>
                </a:solidFill>
                <a:latin typeface="Arial"/>
                <a:ea typeface="Arial"/>
                <a:cs typeface="Arial"/>
              </a:defRPr>
            </a:lvl4pPr>
            <a:lvl5pPr algn="ctr">
              <a:defRPr sz="5700" b="1">
                <a:solidFill>
                  <a:srgbClr val="4776C9"/>
                </a:solidFill>
                <a:latin typeface="Arial"/>
                <a:ea typeface="Arial"/>
                <a:cs typeface="Arial"/>
              </a:defRPr>
            </a:lvl5pPr>
            <a:lvl6pPr algn="ctr">
              <a:defRPr sz="5700" b="1">
                <a:solidFill>
                  <a:srgbClr val="4776C9"/>
                </a:solidFill>
                <a:latin typeface="Arial"/>
                <a:ea typeface="Arial"/>
                <a:cs typeface="Arial"/>
              </a:defRPr>
            </a:lvl6pPr>
            <a:lvl7pPr algn="ctr">
              <a:defRPr sz="5700" b="1">
                <a:solidFill>
                  <a:srgbClr val="4776C9"/>
                </a:solidFill>
                <a:latin typeface="Arial"/>
                <a:ea typeface="Arial"/>
                <a:cs typeface="Arial"/>
              </a:defRPr>
            </a:lvl7pPr>
            <a:lvl8pPr algn="ctr">
              <a:defRPr sz="5700" b="1">
                <a:solidFill>
                  <a:srgbClr val="4776C9"/>
                </a:solidFill>
                <a:latin typeface="Arial"/>
                <a:ea typeface="Arial"/>
                <a:cs typeface="Arial"/>
              </a:defRPr>
            </a:lvl8pPr>
            <a:lvl9pPr algn="ctr">
              <a:defRPr sz="5700" b="1">
                <a:solidFill>
                  <a:srgbClr val="4776C9"/>
                </a:solidFill>
                <a:latin typeface="Arial"/>
                <a:ea typeface="Arial"/>
                <a:cs typeface="Arial"/>
              </a:defRPr>
            </a:lvl9pPr>
          </a:lstStyle>
          <a:p xmlns:a="http://schemas.openxmlformats.org/drawingml/2006/main">
            <a:pPr algn="ctr">
              <a:defRPr sz="5700" b="1">
                <a:solidFill>
                  <a:srgbClr val="4776C9"/>
                </a:solidFill>
                <a:latin typeface="Arial"/>
                <a:ea typeface="Arial"/>
                <a:cs typeface="Arial"/>
              </a:defRPr>
            </a:pPr>
            <a:r>
              <a:rPr sz="5700" b="1">
                <a:solidFill>
                  <a:srgbClr val="4776C9"/>
                </a:solidFill>
                <a:latin typeface="Arial"/>
                <a:ea typeface="Arial"/>
                <a:cs typeface="Arial"/>
              </a:rPr>
              <a:t>Thank you</a:t>
            </a:r>
          </a:p>
        </p:txBody>
      </p:sp>
      <p:sp>
        <p:nvSpPr>
          <p:cNvPr id="4" name="Questions and discussion">
            <a:extLst xmlns:a="http://schemas.openxmlformats.org/drawingml/2006/main">
              <a:ext uri="{FF2B5EF4-FFF2-40B4-BE49-F238E27FC236}">
                <a16:creationId xmlns:a16="http://schemas.microsoft.com/office/drawing/2014/main" id="{39E9EC59-1EA9-4233-BCA5-475E6F630E19}"/>
              </a:ext>
            </a:extLst>
          </p:cNvPr>
          <p:cNvSpPr>
            <a:spLocks xmlns:a="http://schemas.openxmlformats.org/drawingml/2006/main" noGrp="1"/>
          </p:cNvSpPr>
          <p:nvPr/>
        </p:nvSpPr>
        <p:spPr>
          <a:xfrm xmlns:a="http://schemas.openxmlformats.org/drawingml/2006/main">
            <a:off x="1905000" y="3971925"/>
            <a:ext cx="838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400" b="0">
                <a:solidFill>
                  <a:srgbClr val="505050"/>
                </a:solidFill>
                <a:latin typeface="Arial"/>
                <a:ea typeface="Arial"/>
                <a:cs typeface="Arial"/>
              </a:defRPr>
            </a:defPPr>
            <a:lvl1pPr algn="ctr">
              <a:defRPr sz="2400" b="0">
                <a:solidFill>
                  <a:srgbClr val="505050"/>
                </a:solidFill>
                <a:latin typeface="Arial"/>
                <a:ea typeface="Arial"/>
                <a:cs typeface="Arial"/>
              </a:defRPr>
            </a:lvl1pPr>
            <a:lvl2pPr algn="ctr">
              <a:defRPr sz="2400" b="0">
                <a:solidFill>
                  <a:srgbClr val="505050"/>
                </a:solidFill>
                <a:latin typeface="Arial"/>
                <a:ea typeface="Arial"/>
                <a:cs typeface="Arial"/>
              </a:defRPr>
            </a:lvl2pPr>
            <a:lvl3pPr algn="ctr">
              <a:defRPr sz="2400" b="0">
                <a:solidFill>
                  <a:srgbClr val="505050"/>
                </a:solidFill>
                <a:latin typeface="Arial"/>
                <a:ea typeface="Arial"/>
                <a:cs typeface="Arial"/>
              </a:defRPr>
            </a:lvl3pPr>
            <a:lvl4pPr algn="ctr">
              <a:defRPr sz="2400" b="0">
                <a:solidFill>
                  <a:srgbClr val="505050"/>
                </a:solidFill>
                <a:latin typeface="Arial"/>
                <a:ea typeface="Arial"/>
                <a:cs typeface="Arial"/>
              </a:defRPr>
            </a:lvl4pPr>
            <a:lvl5pPr algn="ctr">
              <a:defRPr sz="2400" b="0">
                <a:solidFill>
                  <a:srgbClr val="505050"/>
                </a:solidFill>
                <a:latin typeface="Arial"/>
                <a:ea typeface="Arial"/>
                <a:cs typeface="Arial"/>
              </a:defRPr>
            </a:lvl5pPr>
            <a:lvl6pPr algn="ctr">
              <a:defRPr sz="2400" b="0">
                <a:solidFill>
                  <a:srgbClr val="505050"/>
                </a:solidFill>
                <a:latin typeface="Arial"/>
                <a:ea typeface="Arial"/>
                <a:cs typeface="Arial"/>
              </a:defRPr>
            </a:lvl6pPr>
            <a:lvl7pPr algn="ctr">
              <a:defRPr sz="2400" b="0">
                <a:solidFill>
                  <a:srgbClr val="505050"/>
                </a:solidFill>
                <a:latin typeface="Arial"/>
                <a:ea typeface="Arial"/>
                <a:cs typeface="Arial"/>
              </a:defRPr>
            </a:lvl7pPr>
            <a:lvl8pPr algn="ctr">
              <a:defRPr sz="2400" b="0">
                <a:solidFill>
                  <a:srgbClr val="505050"/>
                </a:solidFill>
                <a:latin typeface="Arial"/>
                <a:ea typeface="Arial"/>
                <a:cs typeface="Arial"/>
              </a:defRPr>
            </a:lvl8pPr>
            <a:lvl9pPr algn="ctr">
              <a:defRPr sz="2400" b="0">
                <a:solidFill>
                  <a:srgbClr val="505050"/>
                </a:solidFill>
                <a:latin typeface="Arial"/>
                <a:ea typeface="Arial"/>
                <a:cs typeface="Arial"/>
              </a:defRPr>
            </a:lvl9pPr>
          </a:lstStyle>
          <a:p xmlns:a="http://schemas.openxmlformats.org/drawingml/2006/main">
            <a:pPr algn="ctr">
              <a:defRPr sz="2400" b="0">
                <a:solidFill>
                  <a:srgbClr val="505050"/>
                </a:solidFill>
                <a:latin typeface="Arial"/>
                <a:ea typeface="Arial"/>
                <a:cs typeface="Arial"/>
              </a:defRPr>
            </a:pPr>
            <a:r>
              <a:rPr sz="2400" b="0">
                <a:solidFill>
                  <a:srgbClr val="505050"/>
                </a:solidFill>
                <a:latin typeface="Arial"/>
                <a:ea typeface="Arial"/>
                <a:cs typeface="Arial"/>
              </a:rPr>
              <a:t>Questions and discussion</a:t>
            </a:r>
          </a:p>
        </p:txBody>
      </p:sp>
      <p:sp>
        <p:nvSpPr>
          <p:cNvPr id="5" name="slide-number">
            <a:extLst xmlns:a="http://schemas.openxmlformats.org/drawingml/2006/main">
              <a:ext uri="{FF2B5EF4-FFF2-40B4-BE49-F238E27FC236}">
                <a16:creationId xmlns:a16="http://schemas.microsoft.com/office/drawing/2014/main" id="{8EA21CA7-C7E5-4057-BF09-16E96DCD48A1}"/>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24</a:t>
            </a:r>
          </a:p>
        </p:txBody>
      </p:sp>
    </p:spTree>
    <p:extLst>
      <p:ext uri="{BB962C8B-B14F-4D97-AF65-F5344CB8AC3E}">
        <p14:creationId xmlns:p14="http://schemas.microsoft.com/office/powerpoint/2010/main" val="56332426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E47FF5B-57E8-4598-A351-61C1EE249F0C}"/>
              </a:ext>
            </a:extLst>
          </p:cNvPr>
          <p:cNvPicPr>
            <a:picLocks xmlns:a="http://schemas.openxmlformats.org/drawingml/2006/main" noChangeAspect="1"/>
          </p:cNvPicPr>
          <p:nvPr/>
        </p:nvPicPr>
        <p:blipFill>
          <a:blip xmlns:r="http://schemas.openxmlformats.org/officeDocument/2006/relationships" xmlns:a="http://schemas.openxmlformats.org/drawingml/2006/main" r:embed="Rab1183e7c0d94040"/>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6018047E-788B-4637-B45E-14180643199D}"/>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Selected references</a:t>
            </a:r>
          </a:p>
        </p:txBody>
      </p:sp>
      <p:sp>
        <p:nvSpPr>
          <p:cNvPr id="3" name="Gonon, L., Jacquier, A. and Wiedemann, R. (20">
            <a:extLst xmlns:a="http://schemas.openxmlformats.org/drawingml/2006/main">
              <a:ext uri="{FF2B5EF4-FFF2-40B4-BE49-F238E27FC236}">
                <a16:creationId xmlns:a16="http://schemas.microsoft.com/office/drawing/2014/main" id="{2BFF96DD-74FD-4421-8C46-FEACED8D5705}"/>
              </a:ext>
            </a:extLst>
          </p:cNvPr>
          <p:cNvSpPr>
            <a:spLocks xmlns:a="http://schemas.openxmlformats.org/drawingml/2006/main" noGrp="1"/>
          </p:cNvSpPr>
          <p:nvPr/>
        </p:nvSpPr>
        <p:spPr>
          <a:xfrm xmlns:a="http://schemas.openxmlformats.org/drawingml/2006/main">
            <a:off x="523875" y="15430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4776C9"/>
                </a:solidFill>
                <a:latin typeface="Arial"/>
                <a:ea typeface="Arial"/>
                <a:cs typeface="Arial"/>
              </a:defRPr>
            </a:defPPr>
            <a:lvl1pPr algn="l">
              <a:defRPr sz="1950" b="1">
                <a:solidFill>
                  <a:srgbClr val="4776C9"/>
                </a:solidFill>
                <a:latin typeface="Arial"/>
                <a:ea typeface="Arial"/>
                <a:cs typeface="Arial"/>
              </a:defRPr>
            </a:lvl1pPr>
            <a:lvl2pPr algn="l">
              <a:defRPr sz="1950" b="1">
                <a:solidFill>
                  <a:srgbClr val="4776C9"/>
                </a:solidFill>
                <a:latin typeface="Arial"/>
                <a:ea typeface="Arial"/>
                <a:cs typeface="Arial"/>
              </a:defRPr>
            </a:lvl2pPr>
            <a:lvl3pPr algn="l">
              <a:defRPr sz="1950" b="1">
                <a:solidFill>
                  <a:srgbClr val="4776C9"/>
                </a:solidFill>
                <a:latin typeface="Arial"/>
                <a:ea typeface="Arial"/>
                <a:cs typeface="Arial"/>
              </a:defRPr>
            </a:lvl3pPr>
            <a:lvl4pPr algn="l">
              <a:defRPr sz="1950" b="1">
                <a:solidFill>
                  <a:srgbClr val="4776C9"/>
                </a:solidFill>
                <a:latin typeface="Arial"/>
                <a:ea typeface="Arial"/>
                <a:cs typeface="Arial"/>
              </a:defRPr>
            </a:lvl4pPr>
            <a:lvl5pPr algn="l">
              <a:defRPr sz="1950" b="1">
                <a:solidFill>
                  <a:srgbClr val="4776C9"/>
                </a:solidFill>
                <a:latin typeface="Arial"/>
                <a:ea typeface="Arial"/>
                <a:cs typeface="Arial"/>
              </a:defRPr>
            </a:lvl5pPr>
            <a:lvl6pPr algn="l">
              <a:defRPr sz="1950" b="1">
                <a:solidFill>
                  <a:srgbClr val="4776C9"/>
                </a:solidFill>
                <a:latin typeface="Arial"/>
                <a:ea typeface="Arial"/>
                <a:cs typeface="Arial"/>
              </a:defRPr>
            </a:lvl6pPr>
            <a:lvl7pPr algn="l">
              <a:defRPr sz="1950" b="1">
                <a:solidFill>
                  <a:srgbClr val="4776C9"/>
                </a:solidFill>
                <a:latin typeface="Arial"/>
                <a:ea typeface="Arial"/>
                <a:cs typeface="Arial"/>
              </a:defRPr>
            </a:lvl7pPr>
            <a:lvl8pPr algn="l">
              <a:defRPr sz="1950" b="1">
                <a:solidFill>
                  <a:srgbClr val="4776C9"/>
                </a:solidFill>
                <a:latin typeface="Arial"/>
                <a:ea typeface="Arial"/>
                <a:cs typeface="Arial"/>
              </a:defRPr>
            </a:lvl8pPr>
            <a:lvl9pPr algn="l">
              <a:defRPr sz="1950" b="1">
                <a:solidFill>
                  <a:srgbClr val="4776C9"/>
                </a:solidFill>
                <a:latin typeface="Arial"/>
                <a:ea typeface="Arial"/>
                <a:cs typeface="Arial"/>
              </a:defRPr>
            </a:lvl9pPr>
          </a:lstStyle>
          <a:p xmlns:a="http://schemas.openxmlformats.org/drawingml/2006/main">
            <a:pPr algn="l">
              <a:defRPr sz="1950" b="1">
                <a:solidFill>
                  <a:srgbClr val="4776C9"/>
                </a:solidFill>
                <a:latin typeface="Arial"/>
                <a:ea typeface="Arial"/>
                <a:cs typeface="Arial"/>
              </a:defRPr>
            </a:pPr>
            <a:r>
              <a:rPr sz="1950" b="1">
                <a:solidFill>
                  <a:srgbClr val="4776C9"/>
                </a:solidFill>
                <a:latin typeface="Arial"/>
                <a:ea typeface="Arial"/>
                <a:cs typeface="Arial"/>
              </a:rPr>
              <a:t>Gonon, L., Jacquier, A. and Wiedemann, R. (2024)</a:t>
            </a:r>
          </a:p>
        </p:txBody>
      </p:sp>
      <p:sp>
        <p:nvSpPr>
          <p:cNvPr id="4" name="Operator Deep Smoothing for Implied Volatilit">
            <a:extLst xmlns:a="http://schemas.openxmlformats.org/drawingml/2006/main">
              <a:ext uri="{FF2B5EF4-FFF2-40B4-BE49-F238E27FC236}">
                <a16:creationId xmlns:a16="http://schemas.microsoft.com/office/drawing/2014/main" id="{99BDDAA8-93C9-4ED0-9AAC-9859DAF4EE7F}"/>
              </a:ext>
            </a:extLst>
          </p:cNvPr>
          <p:cNvSpPr>
            <a:spLocks xmlns:a="http://schemas.openxmlformats.org/drawingml/2006/main" noGrp="1"/>
          </p:cNvSpPr>
          <p:nvPr/>
        </p:nvSpPr>
        <p:spPr>
          <a:xfrm xmlns:a="http://schemas.openxmlformats.org/drawingml/2006/main">
            <a:off x="523875" y="20002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51515"/>
                </a:solidFill>
                <a:latin typeface="Arial"/>
                <a:ea typeface="Arial"/>
                <a:cs typeface="Arial"/>
              </a:defRPr>
            </a:defPPr>
            <a:lvl1pPr algn="l">
              <a:defRPr sz="1875" b="0">
                <a:solidFill>
                  <a:srgbClr val="151515"/>
                </a:solidFill>
                <a:latin typeface="Arial"/>
                <a:ea typeface="Arial"/>
                <a:cs typeface="Arial"/>
              </a:defRPr>
            </a:lvl1pPr>
            <a:lvl2pPr algn="l">
              <a:defRPr sz="1875" b="0">
                <a:solidFill>
                  <a:srgbClr val="151515"/>
                </a:solidFill>
                <a:latin typeface="Arial"/>
                <a:ea typeface="Arial"/>
                <a:cs typeface="Arial"/>
              </a:defRPr>
            </a:lvl2pPr>
            <a:lvl3pPr algn="l">
              <a:defRPr sz="1875" b="0">
                <a:solidFill>
                  <a:srgbClr val="151515"/>
                </a:solidFill>
                <a:latin typeface="Arial"/>
                <a:ea typeface="Arial"/>
                <a:cs typeface="Arial"/>
              </a:defRPr>
            </a:lvl3pPr>
            <a:lvl4pPr algn="l">
              <a:defRPr sz="1875" b="0">
                <a:solidFill>
                  <a:srgbClr val="151515"/>
                </a:solidFill>
                <a:latin typeface="Arial"/>
                <a:ea typeface="Arial"/>
                <a:cs typeface="Arial"/>
              </a:defRPr>
            </a:lvl4pPr>
            <a:lvl5pPr algn="l">
              <a:defRPr sz="1875" b="0">
                <a:solidFill>
                  <a:srgbClr val="151515"/>
                </a:solidFill>
                <a:latin typeface="Arial"/>
                <a:ea typeface="Arial"/>
                <a:cs typeface="Arial"/>
              </a:defRPr>
            </a:lvl5pPr>
            <a:lvl6pPr algn="l">
              <a:defRPr sz="1875" b="0">
                <a:solidFill>
                  <a:srgbClr val="151515"/>
                </a:solidFill>
                <a:latin typeface="Arial"/>
                <a:ea typeface="Arial"/>
                <a:cs typeface="Arial"/>
              </a:defRPr>
            </a:lvl6pPr>
            <a:lvl7pPr algn="l">
              <a:defRPr sz="1875" b="0">
                <a:solidFill>
                  <a:srgbClr val="151515"/>
                </a:solidFill>
                <a:latin typeface="Arial"/>
                <a:ea typeface="Arial"/>
                <a:cs typeface="Arial"/>
              </a:defRPr>
            </a:lvl7pPr>
            <a:lvl8pPr algn="l">
              <a:defRPr sz="1875" b="0">
                <a:solidFill>
                  <a:srgbClr val="151515"/>
                </a:solidFill>
                <a:latin typeface="Arial"/>
                <a:ea typeface="Arial"/>
                <a:cs typeface="Arial"/>
              </a:defRPr>
            </a:lvl8pPr>
            <a:lvl9pPr algn="l">
              <a:defRPr sz="1875" b="0">
                <a:solidFill>
                  <a:srgbClr val="151515"/>
                </a:solidFill>
                <a:latin typeface="Arial"/>
                <a:ea typeface="Arial"/>
                <a:cs typeface="Arial"/>
              </a:defRPr>
            </a:lvl9pPr>
          </a:lstStyle>
          <a:p xmlns:a="http://schemas.openxmlformats.org/drawingml/2006/main">
            <a:pPr algn="l">
              <a:defRPr sz="1875" b="0">
                <a:solidFill>
                  <a:srgbClr val="151515"/>
                </a:solidFill>
                <a:latin typeface="Arial"/>
                <a:ea typeface="Arial"/>
                <a:cs typeface="Arial"/>
              </a:defRPr>
            </a:pPr>
            <a:r>
              <a:rPr sz="1875" b="0">
                <a:solidFill>
                  <a:srgbClr val="151515"/>
                </a:solidFill>
                <a:latin typeface="Arial"/>
                <a:ea typeface="Arial"/>
                <a:cs typeface="Arial"/>
              </a:rPr>
              <a:t>Operator Deep Smoothing for Implied Volatility. arXiv:2406.11520v1.</a:t>
            </a:r>
          </a:p>
        </p:txBody>
      </p:sp>
      <p:sp>
        <p:nvSpPr>
          <p:cNvPr id="5" name="Angelopoulos, A. N. and Bates, S. (2023)">
            <a:extLst xmlns:a="http://schemas.openxmlformats.org/drawingml/2006/main">
              <a:ext uri="{FF2B5EF4-FFF2-40B4-BE49-F238E27FC236}">
                <a16:creationId xmlns:a16="http://schemas.microsoft.com/office/drawing/2014/main" id="{7DFD64AF-004C-4BCE-B7AB-6DC8792E0875}"/>
              </a:ext>
            </a:extLst>
          </p:cNvPr>
          <p:cNvSpPr>
            <a:spLocks xmlns:a="http://schemas.openxmlformats.org/drawingml/2006/main" noGrp="1"/>
          </p:cNvSpPr>
          <p:nvPr/>
        </p:nvSpPr>
        <p:spPr>
          <a:xfrm xmlns:a="http://schemas.openxmlformats.org/drawingml/2006/main">
            <a:off x="523875" y="275272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4776C9"/>
                </a:solidFill>
                <a:latin typeface="Arial"/>
                <a:ea typeface="Arial"/>
                <a:cs typeface="Arial"/>
              </a:defRPr>
            </a:defPPr>
            <a:lvl1pPr algn="l">
              <a:defRPr sz="1950" b="1">
                <a:solidFill>
                  <a:srgbClr val="4776C9"/>
                </a:solidFill>
                <a:latin typeface="Arial"/>
                <a:ea typeface="Arial"/>
                <a:cs typeface="Arial"/>
              </a:defRPr>
            </a:lvl1pPr>
            <a:lvl2pPr algn="l">
              <a:defRPr sz="1950" b="1">
                <a:solidFill>
                  <a:srgbClr val="4776C9"/>
                </a:solidFill>
                <a:latin typeface="Arial"/>
                <a:ea typeface="Arial"/>
                <a:cs typeface="Arial"/>
              </a:defRPr>
            </a:lvl2pPr>
            <a:lvl3pPr algn="l">
              <a:defRPr sz="1950" b="1">
                <a:solidFill>
                  <a:srgbClr val="4776C9"/>
                </a:solidFill>
                <a:latin typeface="Arial"/>
                <a:ea typeface="Arial"/>
                <a:cs typeface="Arial"/>
              </a:defRPr>
            </a:lvl3pPr>
            <a:lvl4pPr algn="l">
              <a:defRPr sz="1950" b="1">
                <a:solidFill>
                  <a:srgbClr val="4776C9"/>
                </a:solidFill>
                <a:latin typeface="Arial"/>
                <a:ea typeface="Arial"/>
                <a:cs typeface="Arial"/>
              </a:defRPr>
            </a:lvl4pPr>
            <a:lvl5pPr algn="l">
              <a:defRPr sz="1950" b="1">
                <a:solidFill>
                  <a:srgbClr val="4776C9"/>
                </a:solidFill>
                <a:latin typeface="Arial"/>
                <a:ea typeface="Arial"/>
                <a:cs typeface="Arial"/>
              </a:defRPr>
            </a:lvl5pPr>
            <a:lvl6pPr algn="l">
              <a:defRPr sz="1950" b="1">
                <a:solidFill>
                  <a:srgbClr val="4776C9"/>
                </a:solidFill>
                <a:latin typeface="Arial"/>
                <a:ea typeface="Arial"/>
                <a:cs typeface="Arial"/>
              </a:defRPr>
            </a:lvl6pPr>
            <a:lvl7pPr algn="l">
              <a:defRPr sz="1950" b="1">
                <a:solidFill>
                  <a:srgbClr val="4776C9"/>
                </a:solidFill>
                <a:latin typeface="Arial"/>
                <a:ea typeface="Arial"/>
                <a:cs typeface="Arial"/>
              </a:defRPr>
            </a:lvl7pPr>
            <a:lvl8pPr algn="l">
              <a:defRPr sz="1950" b="1">
                <a:solidFill>
                  <a:srgbClr val="4776C9"/>
                </a:solidFill>
                <a:latin typeface="Arial"/>
                <a:ea typeface="Arial"/>
                <a:cs typeface="Arial"/>
              </a:defRPr>
            </a:lvl8pPr>
            <a:lvl9pPr algn="l">
              <a:defRPr sz="1950" b="1">
                <a:solidFill>
                  <a:srgbClr val="4776C9"/>
                </a:solidFill>
                <a:latin typeface="Arial"/>
                <a:ea typeface="Arial"/>
                <a:cs typeface="Arial"/>
              </a:defRPr>
            </a:lvl9pPr>
          </a:lstStyle>
          <a:p xmlns:a="http://schemas.openxmlformats.org/drawingml/2006/main">
            <a:pPr algn="l">
              <a:defRPr sz="1950" b="1">
                <a:solidFill>
                  <a:srgbClr val="4776C9"/>
                </a:solidFill>
                <a:latin typeface="Arial"/>
                <a:ea typeface="Arial"/>
                <a:cs typeface="Arial"/>
              </a:defRPr>
            </a:pPr>
            <a:r>
              <a:rPr sz="1950" b="1">
                <a:solidFill>
                  <a:srgbClr val="4776C9"/>
                </a:solidFill>
                <a:latin typeface="Arial"/>
                <a:ea typeface="Arial"/>
                <a:cs typeface="Arial"/>
              </a:rPr>
              <a:t>Angelopoulos, A. N. and Bates, S. (2023)</a:t>
            </a:r>
          </a:p>
        </p:txBody>
      </p:sp>
      <p:sp>
        <p:nvSpPr>
          <p:cNvPr id="6" name="Conformal Prediction: A Gentle Introduction. ">
            <a:extLst xmlns:a="http://schemas.openxmlformats.org/drawingml/2006/main">
              <a:ext uri="{FF2B5EF4-FFF2-40B4-BE49-F238E27FC236}">
                <a16:creationId xmlns:a16="http://schemas.microsoft.com/office/drawing/2014/main" id="{A08619DB-2EED-4103-B1ED-6716B91AF754}"/>
              </a:ext>
            </a:extLst>
          </p:cNvPr>
          <p:cNvSpPr>
            <a:spLocks xmlns:a="http://schemas.openxmlformats.org/drawingml/2006/main" noGrp="1"/>
          </p:cNvSpPr>
          <p:nvPr/>
        </p:nvSpPr>
        <p:spPr>
          <a:xfrm xmlns:a="http://schemas.openxmlformats.org/drawingml/2006/main">
            <a:off x="523875" y="31908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51515"/>
                </a:solidFill>
                <a:latin typeface="Arial"/>
                <a:ea typeface="Arial"/>
                <a:cs typeface="Arial"/>
              </a:defRPr>
            </a:defPPr>
            <a:lvl1pPr algn="l">
              <a:defRPr sz="1875" b="0">
                <a:solidFill>
                  <a:srgbClr val="151515"/>
                </a:solidFill>
                <a:latin typeface="Arial"/>
                <a:ea typeface="Arial"/>
                <a:cs typeface="Arial"/>
              </a:defRPr>
            </a:lvl1pPr>
            <a:lvl2pPr algn="l">
              <a:defRPr sz="1875" b="0">
                <a:solidFill>
                  <a:srgbClr val="151515"/>
                </a:solidFill>
                <a:latin typeface="Arial"/>
                <a:ea typeface="Arial"/>
                <a:cs typeface="Arial"/>
              </a:defRPr>
            </a:lvl2pPr>
            <a:lvl3pPr algn="l">
              <a:defRPr sz="1875" b="0">
                <a:solidFill>
                  <a:srgbClr val="151515"/>
                </a:solidFill>
                <a:latin typeface="Arial"/>
                <a:ea typeface="Arial"/>
                <a:cs typeface="Arial"/>
              </a:defRPr>
            </a:lvl3pPr>
            <a:lvl4pPr algn="l">
              <a:defRPr sz="1875" b="0">
                <a:solidFill>
                  <a:srgbClr val="151515"/>
                </a:solidFill>
                <a:latin typeface="Arial"/>
                <a:ea typeface="Arial"/>
                <a:cs typeface="Arial"/>
              </a:defRPr>
            </a:lvl4pPr>
            <a:lvl5pPr algn="l">
              <a:defRPr sz="1875" b="0">
                <a:solidFill>
                  <a:srgbClr val="151515"/>
                </a:solidFill>
                <a:latin typeface="Arial"/>
                <a:ea typeface="Arial"/>
                <a:cs typeface="Arial"/>
              </a:defRPr>
            </a:lvl5pPr>
            <a:lvl6pPr algn="l">
              <a:defRPr sz="1875" b="0">
                <a:solidFill>
                  <a:srgbClr val="151515"/>
                </a:solidFill>
                <a:latin typeface="Arial"/>
                <a:ea typeface="Arial"/>
                <a:cs typeface="Arial"/>
              </a:defRPr>
            </a:lvl6pPr>
            <a:lvl7pPr algn="l">
              <a:defRPr sz="1875" b="0">
                <a:solidFill>
                  <a:srgbClr val="151515"/>
                </a:solidFill>
                <a:latin typeface="Arial"/>
                <a:ea typeface="Arial"/>
                <a:cs typeface="Arial"/>
              </a:defRPr>
            </a:lvl7pPr>
            <a:lvl8pPr algn="l">
              <a:defRPr sz="1875" b="0">
                <a:solidFill>
                  <a:srgbClr val="151515"/>
                </a:solidFill>
                <a:latin typeface="Arial"/>
                <a:ea typeface="Arial"/>
                <a:cs typeface="Arial"/>
              </a:defRPr>
            </a:lvl8pPr>
            <a:lvl9pPr algn="l">
              <a:defRPr sz="1875" b="0">
                <a:solidFill>
                  <a:srgbClr val="151515"/>
                </a:solidFill>
                <a:latin typeface="Arial"/>
                <a:ea typeface="Arial"/>
                <a:cs typeface="Arial"/>
              </a:defRPr>
            </a:lvl9pPr>
          </a:lstStyle>
          <a:p xmlns:a="http://schemas.openxmlformats.org/drawingml/2006/main">
            <a:pPr algn="l">
              <a:defRPr sz="1875" b="0">
                <a:solidFill>
                  <a:srgbClr val="151515"/>
                </a:solidFill>
                <a:latin typeface="Arial"/>
                <a:ea typeface="Arial"/>
                <a:cs typeface="Arial"/>
              </a:defRPr>
            </a:pPr>
            <a:r>
              <a:rPr sz="1875" b="0">
                <a:solidFill>
                  <a:srgbClr val="151515"/>
                </a:solidFill>
                <a:latin typeface="Arial"/>
                <a:ea typeface="Arial"/>
                <a:cs typeface="Arial"/>
              </a:rPr>
              <a:t>Conformal Prediction: A Gentle Introduction. Foundations and Trends in Machine Learning, 16(4), 494–591.</a:t>
            </a:r>
          </a:p>
        </p:txBody>
      </p:sp>
      <p:sp>
        <p:nvSpPr>
          <p:cNvPr id="7" name="Barber, R. F., Candès, E. J., Ramdas, A. and ">
            <a:extLst xmlns:a="http://schemas.openxmlformats.org/drawingml/2006/main">
              <a:ext uri="{FF2B5EF4-FFF2-40B4-BE49-F238E27FC236}">
                <a16:creationId xmlns:a16="http://schemas.microsoft.com/office/drawing/2014/main" id="{5B0CD06C-6519-449C-9F4C-CEB7C1DB5A8C}"/>
              </a:ext>
            </a:extLst>
          </p:cNvPr>
          <p:cNvSpPr>
            <a:spLocks xmlns:a="http://schemas.openxmlformats.org/drawingml/2006/main" noGrp="1"/>
          </p:cNvSpPr>
          <p:nvPr/>
        </p:nvSpPr>
        <p:spPr>
          <a:xfrm xmlns:a="http://schemas.openxmlformats.org/drawingml/2006/main">
            <a:off x="523875" y="41910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4776C9"/>
                </a:solidFill>
                <a:latin typeface="Arial"/>
                <a:ea typeface="Arial"/>
                <a:cs typeface="Arial"/>
              </a:defRPr>
            </a:defPPr>
            <a:lvl1pPr algn="l">
              <a:defRPr sz="1875" b="1">
                <a:solidFill>
                  <a:srgbClr val="4776C9"/>
                </a:solidFill>
                <a:latin typeface="Arial"/>
                <a:ea typeface="Arial"/>
                <a:cs typeface="Arial"/>
              </a:defRPr>
            </a:lvl1pPr>
            <a:lvl2pPr algn="l">
              <a:defRPr sz="1875" b="1">
                <a:solidFill>
                  <a:srgbClr val="4776C9"/>
                </a:solidFill>
                <a:latin typeface="Arial"/>
                <a:ea typeface="Arial"/>
                <a:cs typeface="Arial"/>
              </a:defRPr>
            </a:lvl2pPr>
            <a:lvl3pPr algn="l">
              <a:defRPr sz="1875" b="1">
                <a:solidFill>
                  <a:srgbClr val="4776C9"/>
                </a:solidFill>
                <a:latin typeface="Arial"/>
                <a:ea typeface="Arial"/>
                <a:cs typeface="Arial"/>
              </a:defRPr>
            </a:lvl3pPr>
            <a:lvl4pPr algn="l">
              <a:defRPr sz="1875" b="1">
                <a:solidFill>
                  <a:srgbClr val="4776C9"/>
                </a:solidFill>
                <a:latin typeface="Arial"/>
                <a:ea typeface="Arial"/>
                <a:cs typeface="Arial"/>
              </a:defRPr>
            </a:lvl4pPr>
            <a:lvl5pPr algn="l">
              <a:defRPr sz="1875" b="1">
                <a:solidFill>
                  <a:srgbClr val="4776C9"/>
                </a:solidFill>
                <a:latin typeface="Arial"/>
                <a:ea typeface="Arial"/>
                <a:cs typeface="Arial"/>
              </a:defRPr>
            </a:lvl5pPr>
            <a:lvl6pPr algn="l">
              <a:defRPr sz="1875" b="1">
                <a:solidFill>
                  <a:srgbClr val="4776C9"/>
                </a:solidFill>
                <a:latin typeface="Arial"/>
                <a:ea typeface="Arial"/>
                <a:cs typeface="Arial"/>
              </a:defRPr>
            </a:lvl6pPr>
            <a:lvl7pPr algn="l">
              <a:defRPr sz="1875" b="1">
                <a:solidFill>
                  <a:srgbClr val="4776C9"/>
                </a:solidFill>
                <a:latin typeface="Arial"/>
                <a:ea typeface="Arial"/>
                <a:cs typeface="Arial"/>
              </a:defRPr>
            </a:lvl7pPr>
            <a:lvl8pPr algn="l">
              <a:defRPr sz="1875" b="1">
                <a:solidFill>
                  <a:srgbClr val="4776C9"/>
                </a:solidFill>
                <a:latin typeface="Arial"/>
                <a:ea typeface="Arial"/>
                <a:cs typeface="Arial"/>
              </a:defRPr>
            </a:lvl8pPr>
            <a:lvl9pPr algn="l">
              <a:defRPr sz="1875" b="1">
                <a:solidFill>
                  <a:srgbClr val="4776C9"/>
                </a:solidFill>
                <a:latin typeface="Arial"/>
                <a:ea typeface="Arial"/>
                <a:cs typeface="Arial"/>
              </a:defRPr>
            </a:lvl9pPr>
          </a:lstStyle>
          <a:p xmlns:a="http://schemas.openxmlformats.org/drawingml/2006/main">
            <a:pPr algn="l">
              <a:defRPr sz="1875" b="1">
                <a:solidFill>
                  <a:srgbClr val="4776C9"/>
                </a:solidFill>
                <a:latin typeface="Arial"/>
                <a:ea typeface="Arial"/>
                <a:cs typeface="Arial"/>
              </a:defRPr>
            </a:pPr>
            <a:r>
              <a:rPr sz="1875" b="1">
                <a:solidFill>
                  <a:srgbClr val="4776C9"/>
                </a:solidFill>
                <a:latin typeface="Arial"/>
                <a:ea typeface="Arial"/>
                <a:cs typeface="Arial"/>
              </a:rPr>
              <a:t>Barber, R. F., Candès, E. J., Ramdas, A. and Tibshirani, R. J. (2023)</a:t>
            </a:r>
          </a:p>
        </p:txBody>
      </p:sp>
      <p:sp>
        <p:nvSpPr>
          <p:cNvPr id="8" name="Conformal prediction beyond exchangeability. ">
            <a:extLst xmlns:a="http://schemas.openxmlformats.org/drawingml/2006/main">
              <a:ext uri="{FF2B5EF4-FFF2-40B4-BE49-F238E27FC236}">
                <a16:creationId xmlns:a16="http://schemas.microsoft.com/office/drawing/2014/main" id="{89195F3C-2365-4449-AAD9-76CE50D82A3B}"/>
              </a:ext>
            </a:extLst>
          </p:cNvPr>
          <p:cNvSpPr>
            <a:spLocks xmlns:a="http://schemas.openxmlformats.org/drawingml/2006/main" noGrp="1"/>
          </p:cNvSpPr>
          <p:nvPr/>
        </p:nvSpPr>
        <p:spPr>
          <a:xfrm xmlns:a="http://schemas.openxmlformats.org/drawingml/2006/main">
            <a:off x="523875" y="4619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51515"/>
                </a:solidFill>
                <a:latin typeface="Arial"/>
                <a:ea typeface="Arial"/>
                <a:cs typeface="Arial"/>
              </a:defRPr>
            </a:defPPr>
            <a:lvl1pPr algn="l">
              <a:defRPr sz="1875" b="0">
                <a:solidFill>
                  <a:srgbClr val="151515"/>
                </a:solidFill>
                <a:latin typeface="Arial"/>
                <a:ea typeface="Arial"/>
                <a:cs typeface="Arial"/>
              </a:defRPr>
            </a:lvl1pPr>
            <a:lvl2pPr algn="l">
              <a:defRPr sz="1875" b="0">
                <a:solidFill>
                  <a:srgbClr val="151515"/>
                </a:solidFill>
                <a:latin typeface="Arial"/>
                <a:ea typeface="Arial"/>
                <a:cs typeface="Arial"/>
              </a:defRPr>
            </a:lvl2pPr>
            <a:lvl3pPr algn="l">
              <a:defRPr sz="1875" b="0">
                <a:solidFill>
                  <a:srgbClr val="151515"/>
                </a:solidFill>
                <a:latin typeface="Arial"/>
                <a:ea typeface="Arial"/>
                <a:cs typeface="Arial"/>
              </a:defRPr>
            </a:lvl3pPr>
            <a:lvl4pPr algn="l">
              <a:defRPr sz="1875" b="0">
                <a:solidFill>
                  <a:srgbClr val="151515"/>
                </a:solidFill>
                <a:latin typeface="Arial"/>
                <a:ea typeface="Arial"/>
                <a:cs typeface="Arial"/>
              </a:defRPr>
            </a:lvl4pPr>
            <a:lvl5pPr algn="l">
              <a:defRPr sz="1875" b="0">
                <a:solidFill>
                  <a:srgbClr val="151515"/>
                </a:solidFill>
                <a:latin typeface="Arial"/>
                <a:ea typeface="Arial"/>
                <a:cs typeface="Arial"/>
              </a:defRPr>
            </a:lvl5pPr>
            <a:lvl6pPr algn="l">
              <a:defRPr sz="1875" b="0">
                <a:solidFill>
                  <a:srgbClr val="151515"/>
                </a:solidFill>
                <a:latin typeface="Arial"/>
                <a:ea typeface="Arial"/>
                <a:cs typeface="Arial"/>
              </a:defRPr>
            </a:lvl6pPr>
            <a:lvl7pPr algn="l">
              <a:defRPr sz="1875" b="0">
                <a:solidFill>
                  <a:srgbClr val="151515"/>
                </a:solidFill>
                <a:latin typeface="Arial"/>
                <a:ea typeface="Arial"/>
                <a:cs typeface="Arial"/>
              </a:defRPr>
            </a:lvl7pPr>
            <a:lvl8pPr algn="l">
              <a:defRPr sz="1875" b="0">
                <a:solidFill>
                  <a:srgbClr val="151515"/>
                </a:solidFill>
                <a:latin typeface="Arial"/>
                <a:ea typeface="Arial"/>
                <a:cs typeface="Arial"/>
              </a:defRPr>
            </a:lvl8pPr>
            <a:lvl9pPr algn="l">
              <a:defRPr sz="1875" b="0">
                <a:solidFill>
                  <a:srgbClr val="151515"/>
                </a:solidFill>
                <a:latin typeface="Arial"/>
                <a:ea typeface="Arial"/>
                <a:cs typeface="Arial"/>
              </a:defRPr>
            </a:lvl9pPr>
          </a:lstStyle>
          <a:p xmlns:a="http://schemas.openxmlformats.org/drawingml/2006/main">
            <a:pPr algn="l">
              <a:defRPr sz="1875" b="0">
                <a:solidFill>
                  <a:srgbClr val="151515"/>
                </a:solidFill>
                <a:latin typeface="Arial"/>
                <a:ea typeface="Arial"/>
                <a:cs typeface="Arial"/>
              </a:defRPr>
            </a:pPr>
            <a:r>
              <a:rPr sz="1875" b="0">
                <a:solidFill>
                  <a:srgbClr val="151515"/>
                </a:solidFill>
                <a:latin typeface="Arial"/>
                <a:ea typeface="Arial"/>
                <a:cs typeface="Arial"/>
              </a:rPr>
              <a:t>Conformal prediction beyond exchangeability. The Annals of Statistics, 51(2), 816–845.</a:t>
            </a:r>
          </a:p>
        </p:txBody>
      </p:sp>
      <p:sp>
        <p:nvSpPr>
          <p:cNvPr id="9" name="Experimental evidence: thesis source, execute">
            <a:extLst xmlns:a="http://schemas.openxmlformats.org/drawingml/2006/main">
              <a:ext uri="{FF2B5EF4-FFF2-40B4-BE49-F238E27FC236}">
                <a16:creationId xmlns:a16="http://schemas.microsoft.com/office/drawing/2014/main" id="{F757C84A-C06F-452C-93F1-F285A828769D}"/>
              </a:ext>
            </a:extLst>
          </p:cNvPr>
          <p:cNvSpPr>
            <a:spLocks xmlns:a="http://schemas.openxmlformats.org/drawingml/2006/main" noGrp="1"/>
          </p:cNvSpPr>
          <p:nvPr/>
        </p:nvSpPr>
        <p:spPr>
          <a:xfrm xmlns:a="http://schemas.openxmlformats.org/drawingml/2006/main">
            <a:off x="523875" y="58483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05050"/>
                </a:solidFill>
                <a:latin typeface="Arial"/>
                <a:ea typeface="Arial"/>
                <a:cs typeface="Arial"/>
              </a:defRPr>
            </a:defPPr>
            <a:lvl1pPr algn="l">
              <a:defRPr sz="1800" b="0">
                <a:solidFill>
                  <a:srgbClr val="505050"/>
                </a:solidFill>
                <a:latin typeface="Arial"/>
                <a:ea typeface="Arial"/>
                <a:cs typeface="Arial"/>
              </a:defRPr>
            </a:lvl1pPr>
            <a:lvl2pPr algn="l">
              <a:defRPr sz="1800" b="0">
                <a:solidFill>
                  <a:srgbClr val="505050"/>
                </a:solidFill>
                <a:latin typeface="Arial"/>
                <a:ea typeface="Arial"/>
                <a:cs typeface="Arial"/>
              </a:defRPr>
            </a:lvl2pPr>
            <a:lvl3pPr algn="l">
              <a:defRPr sz="1800" b="0">
                <a:solidFill>
                  <a:srgbClr val="505050"/>
                </a:solidFill>
                <a:latin typeface="Arial"/>
                <a:ea typeface="Arial"/>
                <a:cs typeface="Arial"/>
              </a:defRPr>
            </a:lvl3pPr>
            <a:lvl4pPr algn="l">
              <a:defRPr sz="1800" b="0">
                <a:solidFill>
                  <a:srgbClr val="505050"/>
                </a:solidFill>
                <a:latin typeface="Arial"/>
                <a:ea typeface="Arial"/>
                <a:cs typeface="Arial"/>
              </a:defRPr>
            </a:lvl4pPr>
            <a:lvl5pPr algn="l">
              <a:defRPr sz="1800" b="0">
                <a:solidFill>
                  <a:srgbClr val="505050"/>
                </a:solidFill>
                <a:latin typeface="Arial"/>
                <a:ea typeface="Arial"/>
                <a:cs typeface="Arial"/>
              </a:defRPr>
            </a:lvl5pPr>
            <a:lvl6pPr algn="l">
              <a:defRPr sz="1800" b="0">
                <a:solidFill>
                  <a:srgbClr val="505050"/>
                </a:solidFill>
                <a:latin typeface="Arial"/>
                <a:ea typeface="Arial"/>
                <a:cs typeface="Arial"/>
              </a:defRPr>
            </a:lvl6pPr>
            <a:lvl7pPr algn="l">
              <a:defRPr sz="1800" b="0">
                <a:solidFill>
                  <a:srgbClr val="505050"/>
                </a:solidFill>
                <a:latin typeface="Arial"/>
                <a:ea typeface="Arial"/>
                <a:cs typeface="Arial"/>
              </a:defRPr>
            </a:lvl7pPr>
            <a:lvl8pPr algn="l">
              <a:defRPr sz="1800" b="0">
                <a:solidFill>
                  <a:srgbClr val="505050"/>
                </a:solidFill>
                <a:latin typeface="Arial"/>
                <a:ea typeface="Arial"/>
                <a:cs typeface="Arial"/>
              </a:defRPr>
            </a:lvl8pPr>
            <a:lvl9pPr algn="l">
              <a:defRPr sz="1800" b="0">
                <a:solidFill>
                  <a:srgbClr val="505050"/>
                </a:solidFill>
                <a:latin typeface="Arial"/>
                <a:ea typeface="Arial"/>
                <a:cs typeface="Arial"/>
              </a:defRPr>
            </a:lvl9pPr>
          </a:lstStyle>
          <a:p xmlns:a="http://schemas.openxmlformats.org/drawingml/2006/main">
            <a:pPr algn="l">
              <a:defRPr sz="1800" b="0">
                <a:solidFill>
                  <a:srgbClr val="505050"/>
                </a:solidFill>
                <a:latin typeface="Arial"/>
                <a:ea typeface="Arial"/>
                <a:cs typeface="Arial"/>
              </a:defRPr>
            </a:pPr>
            <a:r>
              <a:rPr sz="1800" b="0">
                <a:solidFill>
                  <a:srgbClr val="505050"/>
                </a:solidFill>
                <a:latin typeface="Arial"/>
                <a:ea typeface="Arial"/>
                <a:cs typeface="Arial"/>
              </a:rPr>
              <a:t>Experimental evidence: thesis source, executed notebooks and saved result tables.</a:t>
            </a:r>
          </a:p>
        </p:txBody>
      </p:sp>
      <p:sp>
        <p:nvSpPr>
          <p:cNvPr id="10" name="slide-number">
            <a:extLst xmlns:a="http://schemas.openxmlformats.org/drawingml/2006/main">
              <a:ext uri="{FF2B5EF4-FFF2-40B4-BE49-F238E27FC236}">
                <a16:creationId xmlns:a16="http://schemas.microsoft.com/office/drawing/2014/main" id="{1E24363B-975B-419B-9DE2-03D5724231A4}"/>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25</a:t>
            </a:r>
          </a:p>
        </p:txBody>
      </p:sp>
    </p:spTree>
    <p:extLst>
      <p:ext uri="{BB962C8B-B14F-4D97-AF65-F5344CB8AC3E}">
        <p14:creationId xmlns:p14="http://schemas.microsoft.com/office/powerpoint/2010/main" val="187771633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61BB3D7-C6D7-4558-A2B2-8CB98A93E720}"/>
              </a:ext>
            </a:extLst>
          </p:cNvPr>
          <p:cNvPicPr>
            <a:picLocks xmlns:a="http://schemas.openxmlformats.org/drawingml/2006/main" noChangeAspect="1"/>
          </p:cNvPicPr>
          <p:nvPr/>
        </p:nvPicPr>
        <p:blipFill>
          <a:blip xmlns:r="http://schemas.openxmlformats.org/officeDocument/2006/relationships" xmlns:a="http://schemas.openxmlformats.org/drawingml/2006/main" r:embed="Rf91e618ca76941f7"/>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1EAD7AF6-0DE2-4529-B3A7-6497DA690918}"/>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Backup: prediction-based Vega weights</a:t>
            </a:r>
          </a:p>
        </p:txBody>
      </p:sp>
      <p:sp>
        <p:nvSpPr>
          <p:cNvPr id="3" name="d₁ = −z / v̂ + 0.5 v̂ρ">
            <a:extLst xmlns:a="http://schemas.openxmlformats.org/drawingml/2006/main">
              <a:ext uri="{FF2B5EF4-FFF2-40B4-BE49-F238E27FC236}">
                <a16:creationId xmlns:a16="http://schemas.microsoft.com/office/drawing/2014/main" id="{E25B6335-E0C4-466A-8A74-3D115FF13EA8}"/>
              </a:ext>
            </a:extLst>
          </p:cNvPr>
          <p:cNvSpPr>
            <a:spLocks xmlns:a="http://schemas.openxmlformats.org/drawingml/2006/main" noGrp="1"/>
          </p:cNvSpPr>
          <p:nvPr/>
        </p:nvSpPr>
        <p:spPr>
          <a:xfrm xmlns:a="http://schemas.openxmlformats.org/drawingml/2006/main">
            <a:off x="619125" y="17526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151515"/>
                </a:solidFill>
                <a:latin typeface="Arial"/>
                <a:ea typeface="Arial"/>
                <a:cs typeface="Arial"/>
              </a:defRPr>
            </a:defPPr>
            <a:lvl1pPr algn="l">
              <a:defRPr sz="2400" b="0">
                <a:solidFill>
                  <a:srgbClr val="151515"/>
                </a:solidFill>
                <a:latin typeface="Arial"/>
                <a:ea typeface="Arial"/>
                <a:cs typeface="Arial"/>
              </a:defRPr>
            </a:lvl1pPr>
            <a:lvl2pPr algn="l">
              <a:defRPr sz="2400" b="0">
                <a:solidFill>
                  <a:srgbClr val="151515"/>
                </a:solidFill>
                <a:latin typeface="Arial"/>
                <a:ea typeface="Arial"/>
                <a:cs typeface="Arial"/>
              </a:defRPr>
            </a:lvl2pPr>
            <a:lvl3pPr algn="l">
              <a:defRPr sz="2400" b="0">
                <a:solidFill>
                  <a:srgbClr val="151515"/>
                </a:solidFill>
                <a:latin typeface="Arial"/>
                <a:ea typeface="Arial"/>
                <a:cs typeface="Arial"/>
              </a:defRPr>
            </a:lvl3pPr>
            <a:lvl4pPr algn="l">
              <a:defRPr sz="2400" b="0">
                <a:solidFill>
                  <a:srgbClr val="151515"/>
                </a:solidFill>
                <a:latin typeface="Arial"/>
                <a:ea typeface="Arial"/>
                <a:cs typeface="Arial"/>
              </a:defRPr>
            </a:lvl4pPr>
            <a:lvl5pPr algn="l">
              <a:defRPr sz="2400" b="0">
                <a:solidFill>
                  <a:srgbClr val="151515"/>
                </a:solidFill>
                <a:latin typeface="Arial"/>
                <a:ea typeface="Arial"/>
                <a:cs typeface="Arial"/>
              </a:defRPr>
            </a:lvl5pPr>
            <a:lvl6pPr algn="l">
              <a:defRPr sz="2400" b="0">
                <a:solidFill>
                  <a:srgbClr val="151515"/>
                </a:solidFill>
                <a:latin typeface="Arial"/>
                <a:ea typeface="Arial"/>
                <a:cs typeface="Arial"/>
              </a:defRPr>
            </a:lvl6pPr>
            <a:lvl7pPr algn="l">
              <a:defRPr sz="2400" b="0">
                <a:solidFill>
                  <a:srgbClr val="151515"/>
                </a:solidFill>
                <a:latin typeface="Arial"/>
                <a:ea typeface="Arial"/>
                <a:cs typeface="Arial"/>
              </a:defRPr>
            </a:lvl7pPr>
            <a:lvl8pPr algn="l">
              <a:defRPr sz="2400" b="0">
                <a:solidFill>
                  <a:srgbClr val="151515"/>
                </a:solidFill>
                <a:latin typeface="Arial"/>
                <a:ea typeface="Arial"/>
                <a:cs typeface="Arial"/>
              </a:defRPr>
            </a:lvl8pPr>
            <a:lvl9pPr algn="l">
              <a:defRPr sz="2400" b="0">
                <a:solidFill>
                  <a:srgbClr val="151515"/>
                </a:solidFill>
                <a:latin typeface="Arial"/>
                <a:ea typeface="Arial"/>
                <a:cs typeface="Arial"/>
              </a:defRPr>
            </a:lvl9pPr>
          </a:lstStyle>
          <a:p xmlns:a="http://schemas.openxmlformats.org/drawingml/2006/main">
            <a:pPr algn="l">
              <a:defRPr sz="2400" b="0">
                <a:solidFill>
                  <a:srgbClr val="151515"/>
                </a:solidFill>
                <a:latin typeface="Arial"/>
                <a:ea typeface="Arial"/>
                <a:cs typeface="Arial"/>
              </a:defRPr>
            </a:pPr>
            <a:r>
              <a:rPr sz="2400" b="0">
                <a:solidFill>
                  <a:srgbClr val="151515"/>
                </a:solidFill>
                <a:latin typeface="Arial"/>
                <a:ea typeface="Arial"/>
                <a:cs typeface="Arial"/>
              </a:rPr>
              <a:t>d₁ = −z / v̂ + 0.5 v̂ρ</a:t>
            </a:r>
          </a:p>
        </p:txBody>
      </p:sp>
      <p:sp>
        <p:nvSpPr>
          <p:cNvPr id="4" name="V(v̂) = ρ φ(d₁)">
            <a:extLst xmlns:a="http://schemas.openxmlformats.org/drawingml/2006/main">
              <a:ext uri="{FF2B5EF4-FFF2-40B4-BE49-F238E27FC236}">
                <a16:creationId xmlns:a16="http://schemas.microsoft.com/office/drawing/2014/main" id="{63F63AFA-CE04-4CA9-A020-0477991F3F06}"/>
              </a:ext>
            </a:extLst>
          </p:cNvPr>
          <p:cNvSpPr>
            <a:spLocks xmlns:a="http://schemas.openxmlformats.org/drawingml/2006/main" noGrp="1"/>
          </p:cNvSpPr>
          <p:nvPr/>
        </p:nvSpPr>
        <p:spPr>
          <a:xfrm xmlns:a="http://schemas.openxmlformats.org/drawingml/2006/main">
            <a:off x="619125" y="25622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151515"/>
                </a:solidFill>
                <a:latin typeface="Arial"/>
                <a:ea typeface="Arial"/>
                <a:cs typeface="Arial"/>
              </a:defRPr>
            </a:defPPr>
            <a:lvl1pPr algn="l">
              <a:defRPr sz="2400" b="0">
                <a:solidFill>
                  <a:srgbClr val="151515"/>
                </a:solidFill>
                <a:latin typeface="Arial"/>
                <a:ea typeface="Arial"/>
                <a:cs typeface="Arial"/>
              </a:defRPr>
            </a:lvl1pPr>
            <a:lvl2pPr algn="l">
              <a:defRPr sz="2400" b="0">
                <a:solidFill>
                  <a:srgbClr val="151515"/>
                </a:solidFill>
                <a:latin typeface="Arial"/>
                <a:ea typeface="Arial"/>
                <a:cs typeface="Arial"/>
              </a:defRPr>
            </a:lvl2pPr>
            <a:lvl3pPr algn="l">
              <a:defRPr sz="2400" b="0">
                <a:solidFill>
                  <a:srgbClr val="151515"/>
                </a:solidFill>
                <a:latin typeface="Arial"/>
                <a:ea typeface="Arial"/>
                <a:cs typeface="Arial"/>
              </a:defRPr>
            </a:lvl3pPr>
            <a:lvl4pPr algn="l">
              <a:defRPr sz="2400" b="0">
                <a:solidFill>
                  <a:srgbClr val="151515"/>
                </a:solidFill>
                <a:latin typeface="Arial"/>
                <a:ea typeface="Arial"/>
                <a:cs typeface="Arial"/>
              </a:defRPr>
            </a:lvl4pPr>
            <a:lvl5pPr algn="l">
              <a:defRPr sz="2400" b="0">
                <a:solidFill>
                  <a:srgbClr val="151515"/>
                </a:solidFill>
                <a:latin typeface="Arial"/>
                <a:ea typeface="Arial"/>
                <a:cs typeface="Arial"/>
              </a:defRPr>
            </a:lvl5pPr>
            <a:lvl6pPr algn="l">
              <a:defRPr sz="2400" b="0">
                <a:solidFill>
                  <a:srgbClr val="151515"/>
                </a:solidFill>
                <a:latin typeface="Arial"/>
                <a:ea typeface="Arial"/>
                <a:cs typeface="Arial"/>
              </a:defRPr>
            </a:lvl6pPr>
            <a:lvl7pPr algn="l">
              <a:defRPr sz="2400" b="0">
                <a:solidFill>
                  <a:srgbClr val="151515"/>
                </a:solidFill>
                <a:latin typeface="Arial"/>
                <a:ea typeface="Arial"/>
                <a:cs typeface="Arial"/>
              </a:defRPr>
            </a:lvl7pPr>
            <a:lvl8pPr algn="l">
              <a:defRPr sz="2400" b="0">
                <a:solidFill>
                  <a:srgbClr val="151515"/>
                </a:solidFill>
                <a:latin typeface="Arial"/>
                <a:ea typeface="Arial"/>
                <a:cs typeface="Arial"/>
              </a:defRPr>
            </a:lvl8pPr>
            <a:lvl9pPr algn="l">
              <a:defRPr sz="2400" b="0">
                <a:solidFill>
                  <a:srgbClr val="151515"/>
                </a:solidFill>
                <a:latin typeface="Arial"/>
                <a:ea typeface="Arial"/>
                <a:cs typeface="Arial"/>
              </a:defRPr>
            </a:lvl9pPr>
          </a:lstStyle>
          <a:p xmlns:a="http://schemas.openxmlformats.org/drawingml/2006/main">
            <a:pPr algn="l">
              <a:defRPr sz="2400" b="0">
                <a:solidFill>
                  <a:srgbClr val="151515"/>
                </a:solidFill>
                <a:latin typeface="Arial"/>
                <a:ea typeface="Arial"/>
                <a:cs typeface="Arial"/>
              </a:defRPr>
            </a:pPr>
            <a:r>
              <a:rPr sz="2400" b="0">
                <a:solidFill>
                  <a:srgbClr val="151515"/>
                </a:solidFill>
                <a:latin typeface="Arial"/>
                <a:ea typeface="Arial"/>
                <a:cs typeface="Arial"/>
              </a:rPr>
              <a:t>V(v̂) = ρ φ(d₁)</a:t>
            </a:r>
          </a:p>
        </p:txBody>
      </p:sp>
      <p:sp>
        <p:nvSpPr>
          <p:cNvPr id="5" name="w(v̂) = max(V(v̂) / max(mean(V(v̂)), 10⁻¹²), ">
            <a:extLst xmlns:a="http://schemas.openxmlformats.org/drawingml/2006/main">
              <a:ext uri="{FF2B5EF4-FFF2-40B4-BE49-F238E27FC236}">
                <a16:creationId xmlns:a16="http://schemas.microsoft.com/office/drawing/2014/main" id="{13D8DBF3-960B-41A6-8354-52F98CC68937}"/>
              </a:ext>
            </a:extLst>
          </p:cNvPr>
          <p:cNvSpPr>
            <a:spLocks xmlns:a="http://schemas.openxmlformats.org/drawingml/2006/main" noGrp="1"/>
          </p:cNvSpPr>
          <p:nvPr/>
        </p:nvSpPr>
        <p:spPr>
          <a:xfrm xmlns:a="http://schemas.openxmlformats.org/drawingml/2006/main">
            <a:off x="619125" y="33718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51515"/>
                </a:solidFill>
                <a:latin typeface="Arial"/>
                <a:ea typeface="Arial"/>
                <a:cs typeface="Arial"/>
              </a:defRPr>
            </a:defPPr>
            <a:lvl1pPr algn="l">
              <a:defRPr sz="2325" b="0">
                <a:solidFill>
                  <a:srgbClr val="151515"/>
                </a:solidFill>
                <a:latin typeface="Arial"/>
                <a:ea typeface="Arial"/>
                <a:cs typeface="Arial"/>
              </a:defRPr>
            </a:lvl1pPr>
            <a:lvl2pPr algn="l">
              <a:defRPr sz="2325" b="0">
                <a:solidFill>
                  <a:srgbClr val="151515"/>
                </a:solidFill>
                <a:latin typeface="Arial"/>
                <a:ea typeface="Arial"/>
                <a:cs typeface="Arial"/>
              </a:defRPr>
            </a:lvl2pPr>
            <a:lvl3pPr algn="l">
              <a:defRPr sz="2325" b="0">
                <a:solidFill>
                  <a:srgbClr val="151515"/>
                </a:solidFill>
                <a:latin typeface="Arial"/>
                <a:ea typeface="Arial"/>
                <a:cs typeface="Arial"/>
              </a:defRPr>
            </a:lvl3pPr>
            <a:lvl4pPr algn="l">
              <a:defRPr sz="2325" b="0">
                <a:solidFill>
                  <a:srgbClr val="151515"/>
                </a:solidFill>
                <a:latin typeface="Arial"/>
                <a:ea typeface="Arial"/>
                <a:cs typeface="Arial"/>
              </a:defRPr>
            </a:lvl4pPr>
            <a:lvl5pPr algn="l">
              <a:defRPr sz="2325" b="0">
                <a:solidFill>
                  <a:srgbClr val="151515"/>
                </a:solidFill>
                <a:latin typeface="Arial"/>
                <a:ea typeface="Arial"/>
                <a:cs typeface="Arial"/>
              </a:defRPr>
            </a:lvl5pPr>
            <a:lvl6pPr algn="l">
              <a:defRPr sz="2325" b="0">
                <a:solidFill>
                  <a:srgbClr val="151515"/>
                </a:solidFill>
                <a:latin typeface="Arial"/>
                <a:ea typeface="Arial"/>
                <a:cs typeface="Arial"/>
              </a:defRPr>
            </a:lvl6pPr>
            <a:lvl7pPr algn="l">
              <a:defRPr sz="2325" b="0">
                <a:solidFill>
                  <a:srgbClr val="151515"/>
                </a:solidFill>
                <a:latin typeface="Arial"/>
                <a:ea typeface="Arial"/>
                <a:cs typeface="Arial"/>
              </a:defRPr>
            </a:lvl7pPr>
            <a:lvl8pPr algn="l">
              <a:defRPr sz="2325" b="0">
                <a:solidFill>
                  <a:srgbClr val="151515"/>
                </a:solidFill>
                <a:latin typeface="Arial"/>
                <a:ea typeface="Arial"/>
                <a:cs typeface="Arial"/>
              </a:defRPr>
            </a:lvl8pPr>
            <a:lvl9pPr algn="l">
              <a:defRPr sz="2325" b="0">
                <a:solidFill>
                  <a:srgbClr val="151515"/>
                </a:solidFill>
                <a:latin typeface="Arial"/>
                <a:ea typeface="Arial"/>
                <a:cs typeface="Arial"/>
              </a:defRPr>
            </a:lvl9pPr>
          </a:lstStyle>
          <a:p xmlns:a="http://schemas.openxmlformats.org/drawingml/2006/main">
            <a:pPr algn="l">
              <a:defRPr sz="2325" b="0">
                <a:solidFill>
                  <a:srgbClr val="151515"/>
                </a:solidFill>
                <a:latin typeface="Arial"/>
                <a:ea typeface="Arial"/>
                <a:cs typeface="Arial"/>
              </a:defRPr>
            </a:pPr>
            <a:r>
              <a:rPr sz="2325" b="0">
                <a:solidFill>
                  <a:srgbClr val="151515"/>
                </a:solidFill>
                <a:latin typeface="Arial"/>
                <a:ea typeface="Arial"/>
                <a:cs typeface="Arial"/>
              </a:rPr>
              <a:t>w(v̂) = max(V(v̂) / max(mean(V(v̂)), 10⁻¹²), 1)</a:t>
            </a:r>
          </a:p>
        </p:txBody>
      </p:sp>
      <p:sp>
        <p:nvSpPr>
          <p:cNvPr id="6" name="">
            <a:extLst xmlns:a="http://schemas.openxmlformats.org/drawingml/2006/main">
              <a:ext uri="{FF2B5EF4-FFF2-40B4-BE49-F238E27FC236}">
                <a16:creationId xmlns:a16="http://schemas.microsoft.com/office/drawing/2014/main" id="{1A089B94-4517-493A-ADD8-41150055D1E1}"/>
              </a:ext>
            </a:extLst>
          </p:cNvPr>
          <p:cNvSpPr>
            <a:spLocks xmlns:a="http://schemas.openxmlformats.org/drawingml/2006/main" noGrp="1"/>
          </p:cNvSpPr>
          <p:nvPr/>
        </p:nvSpPr>
        <p:spPr>
          <a:xfrm xmlns:a="http://schemas.openxmlformats.org/drawingml/2006/main">
            <a:off x="619125" y="4495800"/>
            <a:ext cx="10763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51515"/>
                </a:solidFill>
                <a:latin typeface="Arial"/>
                <a:ea typeface="Arial"/>
                <a:cs typeface="Arial"/>
              </a:defRPr>
            </a:defPPr>
            <a:lvl1pPr algn="l">
              <a:defRPr sz="1950" b="0">
                <a:solidFill>
                  <a:srgbClr val="151515"/>
                </a:solidFill>
                <a:latin typeface="Arial"/>
                <a:ea typeface="Arial"/>
                <a:cs typeface="Arial"/>
              </a:defRPr>
            </a:lvl1pPr>
            <a:lvl2pPr algn="l">
              <a:defRPr sz="1950" b="0">
                <a:solidFill>
                  <a:srgbClr val="151515"/>
                </a:solidFill>
                <a:latin typeface="Arial"/>
                <a:ea typeface="Arial"/>
                <a:cs typeface="Arial"/>
              </a:defRPr>
            </a:lvl2pPr>
            <a:lvl3pPr algn="l">
              <a:defRPr sz="1950" b="0">
                <a:solidFill>
                  <a:srgbClr val="151515"/>
                </a:solidFill>
                <a:latin typeface="Arial"/>
                <a:ea typeface="Arial"/>
                <a:cs typeface="Arial"/>
              </a:defRPr>
            </a:lvl3pPr>
            <a:lvl4pPr algn="l">
              <a:defRPr sz="1950" b="0">
                <a:solidFill>
                  <a:srgbClr val="151515"/>
                </a:solidFill>
                <a:latin typeface="Arial"/>
                <a:ea typeface="Arial"/>
                <a:cs typeface="Arial"/>
              </a:defRPr>
            </a:lvl4pPr>
            <a:lvl5pPr algn="l">
              <a:defRPr sz="1950" b="0">
                <a:solidFill>
                  <a:srgbClr val="151515"/>
                </a:solidFill>
                <a:latin typeface="Arial"/>
                <a:ea typeface="Arial"/>
                <a:cs typeface="Arial"/>
              </a:defRPr>
            </a:lvl5pPr>
            <a:lvl6pPr algn="l">
              <a:defRPr sz="1950" b="0">
                <a:solidFill>
                  <a:srgbClr val="151515"/>
                </a:solidFill>
                <a:latin typeface="Arial"/>
                <a:ea typeface="Arial"/>
                <a:cs typeface="Arial"/>
              </a:defRPr>
            </a:lvl6pPr>
            <a:lvl7pPr algn="l">
              <a:defRPr sz="1950" b="0">
                <a:solidFill>
                  <a:srgbClr val="151515"/>
                </a:solidFill>
                <a:latin typeface="Arial"/>
                <a:ea typeface="Arial"/>
                <a:cs typeface="Arial"/>
              </a:defRPr>
            </a:lvl7pPr>
            <a:lvl8pPr algn="l">
              <a:defRPr sz="1950" b="0">
                <a:solidFill>
                  <a:srgbClr val="151515"/>
                </a:solidFill>
                <a:latin typeface="Arial"/>
                <a:ea typeface="Arial"/>
                <a:cs typeface="Arial"/>
              </a:defRPr>
            </a:lvl8pPr>
            <a:lvl9pPr algn="l">
              <a:defRPr sz="1950" b="0">
                <a:solidFill>
                  <a:srgbClr val="151515"/>
                </a:solidFill>
                <a:latin typeface="Arial"/>
                <a:ea typeface="Arial"/>
                <a:cs typeface="Arial"/>
              </a:defRPr>
            </a:lvl9pPr>
          </a:lstStyle>
          <a:p xmlns:a="http://schemas.openxmlformats.org/drawingml/2006/main">
            <a:pPr marL="317500" indent="-165100" algn="l">
              <a:spcAft>
                <a:spcPts val="900"/>
              </a:spcAft>
              <a:buChar char="•"/>
              <a:defRPr sz="1950" b="0">
                <a:solidFill>
                  <a:srgbClr val="151515"/>
                </a:solidFill>
                <a:latin typeface="Arial"/>
                <a:ea typeface="Arial"/>
                <a:cs typeface="Arial"/>
              </a:defRPr>
            </a:pPr>
            <a:r>
              <a:rPr sz="1950">
                <a:solidFill>
                  <a:srgbClr val="151515"/>
                </a:solidFill>
                <a:latin typeface="Arial"/>
                <a:ea typeface="Arial"/>
                <a:cs typeface="Arial"/>
              </a:rPr>
              <a:t>Mean Vega uses the target coordinates of the same surface.</a:t>
            </a:r>
          </a:p>
          <a:p xmlns:a="http://schemas.openxmlformats.org/drawingml/2006/main">
            <a:pPr marL="317500" indent="-165100" algn="l">
              <a:spcAft>
                <a:spcPts val="900"/>
              </a:spcAft>
              <a:buChar char="•"/>
              <a:defRPr sz="1950" b="0">
                <a:solidFill>
                  <a:srgbClr val="151515"/>
                </a:solidFill>
                <a:latin typeface="Arial"/>
                <a:ea typeface="Arial"/>
                <a:cs typeface="Arial"/>
              </a:defRPr>
            </a:pPr>
            <a:r>
              <a:rPr sz="1950">
                <a:solidFill>
                  <a:srgbClr val="151515"/>
                </a:solidFill>
                <a:latin typeface="Arial"/>
                <a:ea typeface="Arial"/>
                <a:cs typeface="Arial"/>
              </a:rPr>
              <a:t>Calibration score: w(v̂) × abs(v̂ − v).</a:t>
            </a:r>
          </a:p>
          <a:p xmlns:a="http://schemas.openxmlformats.org/drawingml/2006/main">
            <a:pPr marL="317500" indent="-165100" algn="l">
              <a:spcAft>
                <a:spcPts val="900"/>
              </a:spcAft>
              <a:buChar char="•"/>
              <a:defRPr sz="1950" b="0">
                <a:solidFill>
                  <a:srgbClr val="151515"/>
                </a:solidFill>
                <a:latin typeface="Arial"/>
                <a:ea typeface="Arial"/>
                <a:cs typeface="Arial"/>
              </a:defRPr>
            </a:pPr>
            <a:r>
              <a:rPr sz="1950">
                <a:solidFill>
                  <a:srgbClr val="151515"/>
                </a:solidFill>
                <a:latin typeface="Arial"/>
                <a:ea typeface="Arial"/>
                <a:cs typeface="Arial"/>
              </a:rPr>
              <a:t>Prediction half-width: q / w(v̂).</a:t>
            </a:r>
          </a:p>
        </p:txBody>
      </p:sp>
      <p:sp>
        <p:nvSpPr>
          <p:cNvPr id="7" name="source-line">
            <a:extLst xmlns:a="http://schemas.openxmlformats.org/drawingml/2006/main">
              <a:ext uri="{FF2B5EF4-FFF2-40B4-BE49-F238E27FC236}">
                <a16:creationId xmlns:a16="http://schemas.microsoft.com/office/drawing/2014/main" id="{C62B5AAE-278E-43A0-ABC9-0B0C4F968593}"/>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prediction_vega_weights, VegaNormalizedScore, notebook vega_iv_bands</a:t>
            </a:r>
          </a:p>
        </p:txBody>
      </p:sp>
      <p:sp>
        <p:nvSpPr>
          <p:cNvPr id="8" name="slide-number">
            <a:extLst xmlns:a="http://schemas.openxmlformats.org/drawingml/2006/main">
              <a:ext uri="{FF2B5EF4-FFF2-40B4-BE49-F238E27FC236}">
                <a16:creationId xmlns:a16="http://schemas.microsoft.com/office/drawing/2014/main" id="{327F682A-EC34-4C93-9541-FC5A2F71F937}"/>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26</a:t>
            </a:r>
          </a:p>
        </p:txBody>
      </p:sp>
    </p:spTree>
    <p:extLst>
      <p:ext uri="{BB962C8B-B14F-4D97-AF65-F5344CB8AC3E}">
        <p14:creationId xmlns:p14="http://schemas.microsoft.com/office/powerpoint/2010/main" val="208039664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BCF2F09-A76C-433E-9861-034D0F610D37}"/>
              </a:ext>
            </a:extLst>
          </p:cNvPr>
          <p:cNvPicPr>
            <a:picLocks xmlns:a="http://schemas.openxmlformats.org/drawingml/2006/main" noChangeAspect="1"/>
          </p:cNvPicPr>
          <p:nvPr/>
        </p:nvPicPr>
        <p:blipFill>
          <a:blip xmlns:r="http://schemas.openxmlformats.org/officeDocument/2006/relationships" xmlns:a="http://schemas.openxmlformats.org/drawingml/2006/main" r:embed="R28a063b13b2449c5"/>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F882BB1C-BED9-4B04-8E3E-6254E310154A}"/>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Backup: exact conformal order statistic</a:t>
            </a:r>
          </a:p>
        </p:txBody>
      </p:sp>
      <p:sp>
        <p:nvSpPr>
          <p:cNvPr id="3" name="n calibration scores, sorted as s₍₁₎ ≤ … ≤ s₍">
            <a:extLst xmlns:a="http://schemas.openxmlformats.org/drawingml/2006/main">
              <a:ext uri="{FF2B5EF4-FFF2-40B4-BE49-F238E27FC236}">
                <a16:creationId xmlns:a16="http://schemas.microsoft.com/office/drawing/2014/main" id="{A35660C6-DB44-48B9-9E9E-0BBA1E8AF2C5}"/>
              </a:ext>
            </a:extLst>
          </p:cNvPr>
          <p:cNvSpPr>
            <a:spLocks xmlns:a="http://schemas.openxmlformats.org/drawingml/2006/main" noGrp="1"/>
          </p:cNvSpPr>
          <p:nvPr/>
        </p:nvSpPr>
        <p:spPr>
          <a:xfrm xmlns:a="http://schemas.openxmlformats.org/drawingml/2006/main">
            <a:off x="619125" y="16764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51515"/>
                </a:solidFill>
                <a:latin typeface="Arial"/>
                <a:ea typeface="Arial"/>
                <a:cs typeface="Arial"/>
              </a:defRPr>
            </a:defPPr>
            <a:lvl1pPr algn="l">
              <a:defRPr sz="2325" b="0">
                <a:solidFill>
                  <a:srgbClr val="151515"/>
                </a:solidFill>
                <a:latin typeface="Arial"/>
                <a:ea typeface="Arial"/>
                <a:cs typeface="Arial"/>
              </a:defRPr>
            </a:lvl1pPr>
            <a:lvl2pPr algn="l">
              <a:defRPr sz="2325" b="0">
                <a:solidFill>
                  <a:srgbClr val="151515"/>
                </a:solidFill>
                <a:latin typeface="Arial"/>
                <a:ea typeface="Arial"/>
                <a:cs typeface="Arial"/>
              </a:defRPr>
            </a:lvl2pPr>
            <a:lvl3pPr algn="l">
              <a:defRPr sz="2325" b="0">
                <a:solidFill>
                  <a:srgbClr val="151515"/>
                </a:solidFill>
                <a:latin typeface="Arial"/>
                <a:ea typeface="Arial"/>
                <a:cs typeface="Arial"/>
              </a:defRPr>
            </a:lvl3pPr>
            <a:lvl4pPr algn="l">
              <a:defRPr sz="2325" b="0">
                <a:solidFill>
                  <a:srgbClr val="151515"/>
                </a:solidFill>
                <a:latin typeface="Arial"/>
                <a:ea typeface="Arial"/>
                <a:cs typeface="Arial"/>
              </a:defRPr>
            </a:lvl4pPr>
            <a:lvl5pPr algn="l">
              <a:defRPr sz="2325" b="0">
                <a:solidFill>
                  <a:srgbClr val="151515"/>
                </a:solidFill>
                <a:latin typeface="Arial"/>
                <a:ea typeface="Arial"/>
                <a:cs typeface="Arial"/>
              </a:defRPr>
            </a:lvl5pPr>
            <a:lvl6pPr algn="l">
              <a:defRPr sz="2325" b="0">
                <a:solidFill>
                  <a:srgbClr val="151515"/>
                </a:solidFill>
                <a:latin typeface="Arial"/>
                <a:ea typeface="Arial"/>
                <a:cs typeface="Arial"/>
              </a:defRPr>
            </a:lvl6pPr>
            <a:lvl7pPr algn="l">
              <a:defRPr sz="2325" b="0">
                <a:solidFill>
                  <a:srgbClr val="151515"/>
                </a:solidFill>
                <a:latin typeface="Arial"/>
                <a:ea typeface="Arial"/>
                <a:cs typeface="Arial"/>
              </a:defRPr>
            </a:lvl7pPr>
            <a:lvl8pPr algn="l">
              <a:defRPr sz="2325" b="0">
                <a:solidFill>
                  <a:srgbClr val="151515"/>
                </a:solidFill>
                <a:latin typeface="Arial"/>
                <a:ea typeface="Arial"/>
                <a:cs typeface="Arial"/>
              </a:defRPr>
            </a:lvl8pPr>
            <a:lvl9pPr algn="l">
              <a:defRPr sz="2325" b="0">
                <a:solidFill>
                  <a:srgbClr val="151515"/>
                </a:solidFill>
                <a:latin typeface="Arial"/>
                <a:ea typeface="Arial"/>
                <a:cs typeface="Arial"/>
              </a:defRPr>
            </a:lvl9pPr>
          </a:lstStyle>
          <a:p xmlns:a="http://schemas.openxmlformats.org/drawingml/2006/main">
            <a:pPr algn="l">
              <a:defRPr sz="2325" b="0">
                <a:solidFill>
                  <a:srgbClr val="151515"/>
                </a:solidFill>
                <a:latin typeface="Arial"/>
                <a:ea typeface="Arial"/>
                <a:cs typeface="Arial"/>
              </a:defRPr>
            </a:pPr>
            <a:r>
              <a:rPr sz="2325" b="0">
                <a:solidFill>
                  <a:srgbClr val="151515"/>
                </a:solidFill>
                <a:latin typeface="Arial"/>
                <a:ea typeface="Arial"/>
                <a:cs typeface="Arial"/>
              </a:rPr>
              <a:t>n calibration scores, sorted as s₍₁₎ ≤ … ≤ s₍ₙ₎</a:t>
            </a:r>
          </a:p>
        </p:txBody>
      </p:sp>
      <p:sp>
        <p:nvSpPr>
          <p:cNvPr id="4" name="r = ceil((n + 1)(1 − α))">
            <a:extLst xmlns:a="http://schemas.openxmlformats.org/drawingml/2006/main">
              <a:ext uri="{FF2B5EF4-FFF2-40B4-BE49-F238E27FC236}">
                <a16:creationId xmlns:a16="http://schemas.microsoft.com/office/drawing/2014/main" id="{864F597D-7FAF-4A82-9A8F-81C2303ED98B}"/>
              </a:ext>
            </a:extLst>
          </p:cNvPr>
          <p:cNvSpPr>
            <a:spLocks xmlns:a="http://schemas.openxmlformats.org/drawingml/2006/main" noGrp="1"/>
          </p:cNvSpPr>
          <p:nvPr/>
        </p:nvSpPr>
        <p:spPr>
          <a:xfrm xmlns:a="http://schemas.openxmlformats.org/drawingml/2006/main">
            <a:off x="619125" y="25622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4776C9"/>
                </a:solidFill>
                <a:latin typeface="Arial"/>
                <a:ea typeface="Arial"/>
                <a:cs typeface="Arial"/>
              </a:defRPr>
            </a:defPPr>
            <a:lvl1pPr algn="l">
              <a:defRPr sz="2550" b="1">
                <a:solidFill>
                  <a:srgbClr val="4776C9"/>
                </a:solidFill>
                <a:latin typeface="Arial"/>
                <a:ea typeface="Arial"/>
                <a:cs typeface="Arial"/>
              </a:defRPr>
            </a:lvl1pPr>
            <a:lvl2pPr algn="l">
              <a:defRPr sz="2550" b="1">
                <a:solidFill>
                  <a:srgbClr val="4776C9"/>
                </a:solidFill>
                <a:latin typeface="Arial"/>
                <a:ea typeface="Arial"/>
                <a:cs typeface="Arial"/>
              </a:defRPr>
            </a:lvl2pPr>
            <a:lvl3pPr algn="l">
              <a:defRPr sz="2550" b="1">
                <a:solidFill>
                  <a:srgbClr val="4776C9"/>
                </a:solidFill>
                <a:latin typeface="Arial"/>
                <a:ea typeface="Arial"/>
                <a:cs typeface="Arial"/>
              </a:defRPr>
            </a:lvl3pPr>
            <a:lvl4pPr algn="l">
              <a:defRPr sz="2550" b="1">
                <a:solidFill>
                  <a:srgbClr val="4776C9"/>
                </a:solidFill>
                <a:latin typeface="Arial"/>
                <a:ea typeface="Arial"/>
                <a:cs typeface="Arial"/>
              </a:defRPr>
            </a:lvl4pPr>
            <a:lvl5pPr algn="l">
              <a:defRPr sz="2550" b="1">
                <a:solidFill>
                  <a:srgbClr val="4776C9"/>
                </a:solidFill>
                <a:latin typeface="Arial"/>
                <a:ea typeface="Arial"/>
                <a:cs typeface="Arial"/>
              </a:defRPr>
            </a:lvl5pPr>
            <a:lvl6pPr algn="l">
              <a:defRPr sz="2550" b="1">
                <a:solidFill>
                  <a:srgbClr val="4776C9"/>
                </a:solidFill>
                <a:latin typeface="Arial"/>
                <a:ea typeface="Arial"/>
                <a:cs typeface="Arial"/>
              </a:defRPr>
            </a:lvl6pPr>
            <a:lvl7pPr algn="l">
              <a:defRPr sz="2550" b="1">
                <a:solidFill>
                  <a:srgbClr val="4776C9"/>
                </a:solidFill>
                <a:latin typeface="Arial"/>
                <a:ea typeface="Arial"/>
                <a:cs typeface="Arial"/>
              </a:defRPr>
            </a:lvl7pPr>
            <a:lvl8pPr algn="l">
              <a:defRPr sz="2550" b="1">
                <a:solidFill>
                  <a:srgbClr val="4776C9"/>
                </a:solidFill>
                <a:latin typeface="Arial"/>
                <a:ea typeface="Arial"/>
                <a:cs typeface="Arial"/>
              </a:defRPr>
            </a:lvl8pPr>
            <a:lvl9pPr algn="l">
              <a:defRPr sz="2550" b="1">
                <a:solidFill>
                  <a:srgbClr val="4776C9"/>
                </a:solidFill>
                <a:latin typeface="Arial"/>
                <a:ea typeface="Arial"/>
                <a:cs typeface="Arial"/>
              </a:defRPr>
            </a:lvl9pPr>
          </a:lstStyle>
          <a:p xmlns:a="http://schemas.openxmlformats.org/drawingml/2006/main">
            <a:pPr algn="l">
              <a:defRPr sz="2550" b="1">
                <a:solidFill>
                  <a:srgbClr val="4776C9"/>
                </a:solidFill>
                <a:latin typeface="Arial"/>
                <a:ea typeface="Arial"/>
                <a:cs typeface="Arial"/>
              </a:defRPr>
            </a:pPr>
            <a:r>
              <a:rPr sz="2550" b="1">
                <a:solidFill>
                  <a:srgbClr val="4776C9"/>
                </a:solidFill>
                <a:latin typeface="Arial"/>
                <a:ea typeface="Arial"/>
                <a:cs typeface="Arial"/>
              </a:rPr>
              <a:t>r = ceil((n + 1)(1 − α))</a:t>
            </a:r>
          </a:p>
        </p:txBody>
      </p:sp>
      <p:sp>
        <p:nvSpPr>
          <p:cNvPr id="5" name="q = s₍ᵣ₎ when r ≤ n, otherwise q = ∞">
            <a:extLst xmlns:a="http://schemas.openxmlformats.org/drawingml/2006/main">
              <a:ext uri="{FF2B5EF4-FFF2-40B4-BE49-F238E27FC236}">
                <a16:creationId xmlns:a16="http://schemas.microsoft.com/office/drawing/2014/main" id="{74DA41AC-A8A9-4DE2-88F7-54DD52415A5B}"/>
              </a:ext>
            </a:extLst>
          </p:cNvPr>
          <p:cNvSpPr>
            <a:spLocks xmlns:a="http://schemas.openxmlformats.org/drawingml/2006/main" noGrp="1"/>
          </p:cNvSpPr>
          <p:nvPr/>
        </p:nvSpPr>
        <p:spPr>
          <a:xfrm xmlns:a="http://schemas.openxmlformats.org/drawingml/2006/main">
            <a:off x="619125" y="34575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151515"/>
                </a:solidFill>
                <a:latin typeface="Arial"/>
                <a:ea typeface="Arial"/>
                <a:cs typeface="Arial"/>
              </a:defRPr>
            </a:defPPr>
            <a:lvl1pPr algn="l">
              <a:defRPr sz="2550" b="0">
                <a:solidFill>
                  <a:srgbClr val="151515"/>
                </a:solidFill>
                <a:latin typeface="Arial"/>
                <a:ea typeface="Arial"/>
                <a:cs typeface="Arial"/>
              </a:defRPr>
            </a:lvl1pPr>
            <a:lvl2pPr algn="l">
              <a:defRPr sz="2550" b="0">
                <a:solidFill>
                  <a:srgbClr val="151515"/>
                </a:solidFill>
                <a:latin typeface="Arial"/>
                <a:ea typeface="Arial"/>
                <a:cs typeface="Arial"/>
              </a:defRPr>
            </a:lvl2pPr>
            <a:lvl3pPr algn="l">
              <a:defRPr sz="2550" b="0">
                <a:solidFill>
                  <a:srgbClr val="151515"/>
                </a:solidFill>
                <a:latin typeface="Arial"/>
                <a:ea typeface="Arial"/>
                <a:cs typeface="Arial"/>
              </a:defRPr>
            </a:lvl3pPr>
            <a:lvl4pPr algn="l">
              <a:defRPr sz="2550" b="0">
                <a:solidFill>
                  <a:srgbClr val="151515"/>
                </a:solidFill>
                <a:latin typeface="Arial"/>
                <a:ea typeface="Arial"/>
                <a:cs typeface="Arial"/>
              </a:defRPr>
            </a:lvl4pPr>
            <a:lvl5pPr algn="l">
              <a:defRPr sz="2550" b="0">
                <a:solidFill>
                  <a:srgbClr val="151515"/>
                </a:solidFill>
                <a:latin typeface="Arial"/>
                <a:ea typeface="Arial"/>
                <a:cs typeface="Arial"/>
              </a:defRPr>
            </a:lvl5pPr>
            <a:lvl6pPr algn="l">
              <a:defRPr sz="2550" b="0">
                <a:solidFill>
                  <a:srgbClr val="151515"/>
                </a:solidFill>
                <a:latin typeface="Arial"/>
                <a:ea typeface="Arial"/>
                <a:cs typeface="Arial"/>
              </a:defRPr>
            </a:lvl6pPr>
            <a:lvl7pPr algn="l">
              <a:defRPr sz="2550" b="0">
                <a:solidFill>
                  <a:srgbClr val="151515"/>
                </a:solidFill>
                <a:latin typeface="Arial"/>
                <a:ea typeface="Arial"/>
                <a:cs typeface="Arial"/>
              </a:defRPr>
            </a:lvl7pPr>
            <a:lvl8pPr algn="l">
              <a:defRPr sz="2550" b="0">
                <a:solidFill>
                  <a:srgbClr val="151515"/>
                </a:solidFill>
                <a:latin typeface="Arial"/>
                <a:ea typeface="Arial"/>
                <a:cs typeface="Arial"/>
              </a:defRPr>
            </a:lvl8pPr>
            <a:lvl9pPr algn="l">
              <a:defRPr sz="2550" b="0">
                <a:solidFill>
                  <a:srgbClr val="151515"/>
                </a:solidFill>
                <a:latin typeface="Arial"/>
                <a:ea typeface="Arial"/>
                <a:cs typeface="Arial"/>
              </a:defRPr>
            </a:lvl9pPr>
          </a:lstStyle>
          <a:p xmlns:a="http://schemas.openxmlformats.org/drawingml/2006/main">
            <a:pPr algn="l">
              <a:defRPr sz="2550" b="0">
                <a:solidFill>
                  <a:srgbClr val="151515"/>
                </a:solidFill>
                <a:latin typeface="Arial"/>
                <a:ea typeface="Arial"/>
                <a:cs typeface="Arial"/>
              </a:defRPr>
            </a:pPr>
            <a:r>
              <a:rPr sz="2550" b="0">
                <a:solidFill>
                  <a:srgbClr val="151515"/>
                </a:solidFill>
                <a:latin typeface="Arial"/>
                <a:ea typeface="Arial"/>
                <a:cs typeface="Arial"/>
              </a:rPr>
              <a:t>q = s₍ᵣ₎ when r ≤ n, otherwise q = ∞</a:t>
            </a:r>
          </a:p>
        </p:txBody>
      </p:sp>
      <p:graphicFrame>
        <p:nvGraphicFramePr>
          <p:cNvPr id="6" name="">
            <a:extLst xmlns:a="http://schemas.openxmlformats.org/drawingml/2006/main">
              <a:ext uri="{FF2B5EF4-FFF2-40B4-BE49-F238E27FC236}">
                <a16:creationId xmlns:a16="http://schemas.microsoft.com/office/drawing/2014/main" id="{2C485B8D-369B-48B0-96EA-D892631E4706}"/>
              </a:ext>
            </a:extLst>
          </p:cNvPr>
          <p:cNvGraphicFramePr/>
          <p:nvPr/>
        </p:nvGraphicFramePr>
        <p:xfrm>
          <a:off xmlns:a="http://schemas.openxmlformats.org/drawingml/2006/main" x="619125" y="4619625"/>
          <a:ext xmlns:a="http://schemas.openxmlformats.org/drawingml/2006/main" cx="10763250" cy="1571625"/>
        </p:xfrm>
        <a:graphic xmlns:a="http://schemas.openxmlformats.org/drawingml/2006/main">
          <a:graphicData uri="http://schemas.openxmlformats.org/drawingml/2006/table">
            <a:tbl>
              <a:tblPr firstRow="0" bandRow="0"/>
              <a:tblGrid>
                <a:gridCol w="4762500"/>
                <a:gridCol w="2667000"/>
                <a:gridCol w="3333750"/>
              </a:tblGrid>
              <a:tr h="523875">
                <a:tc>
                  <a:txBody>
                    <a:bodyPr lIns="95250" tIns="95250" rIns="95250" bIns="95250">
                      <a:noAutofit/>
                    </a:bodyPr>
                    <a:lstStyle/>
                    <a:p>
                      <a:pPr algn="l"/>
                      <a:r>
                        <a:rPr sz="1875" b="1">
                          <a:solidFill>
                            <a:srgbClr val="4776C9"/>
                          </a:solidFill>
                          <a:latin typeface="Arial"/>
                          <a:ea typeface="Arial"/>
                          <a:cs typeface="Arial"/>
                        </a:rPr>
                        <a:t>Example at α = 0.1</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Required rank</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Threshold</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r>
              <a:tr h="523875">
                <a:tc>
                  <a:txBody>
                    <a:bodyPr lIns="95250" tIns="95250" rIns="95250" bIns="95250">
                      <a:noAutofit/>
                    </a:bodyPr>
                    <a:lstStyle/>
                    <a:p>
                      <a:pPr algn="l"/>
                      <a:r>
                        <a:rPr sz="1875" b="0">
                          <a:solidFill>
                            <a:srgbClr val="151515"/>
                          </a:solidFill>
                          <a:latin typeface="Arial"/>
                          <a:ea typeface="Arial"/>
                          <a:cs typeface="Arial"/>
                        </a:rPr>
                        <a:t>n = 8</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9</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523875">
                <a:tc>
                  <a:txBody>
                    <a:bodyPr lIns="95250" tIns="95250" rIns="95250" bIns="95250">
                      <a:noAutofit/>
                    </a:bodyPr>
                    <a:lstStyle/>
                    <a:p>
                      <a:pPr algn="l"/>
                      <a:r>
                        <a:rPr sz="1875" b="0">
                          <a:solidFill>
                            <a:srgbClr val="151515"/>
                          </a:solidFill>
                          <a:latin typeface="Arial"/>
                          <a:ea typeface="Arial"/>
                          <a:cs typeface="Arial"/>
                        </a:rPr>
                        <a:t>n = 9</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9</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Maximum score</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7" name="source-line">
            <a:extLst xmlns:a="http://schemas.openxmlformats.org/drawingml/2006/main">
              <a:ext uri="{FF2B5EF4-FFF2-40B4-BE49-F238E27FC236}">
                <a16:creationId xmlns:a16="http://schemas.microsoft.com/office/drawing/2014/main" id="{4CF33B76-8028-4186-B6C6-A83A6D79BF3C}"/>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notebook conformal_order_statistic, thesis Eq. (3.7)</a:t>
            </a:r>
          </a:p>
        </p:txBody>
      </p:sp>
      <p:sp>
        <p:nvSpPr>
          <p:cNvPr id="8" name="slide-number">
            <a:extLst xmlns:a="http://schemas.openxmlformats.org/drawingml/2006/main">
              <a:ext uri="{FF2B5EF4-FFF2-40B4-BE49-F238E27FC236}">
                <a16:creationId xmlns:a16="http://schemas.microsoft.com/office/drawing/2014/main" id="{6A4E59B3-5221-47C4-A4C8-561FBBD2D8CF}"/>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27</a:t>
            </a:r>
          </a:p>
        </p:txBody>
      </p:sp>
    </p:spTree>
    <p:extLst>
      <p:ext uri="{BB962C8B-B14F-4D97-AF65-F5344CB8AC3E}">
        <p14:creationId xmlns:p14="http://schemas.microsoft.com/office/powerpoint/2010/main" val="80860832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EA70CDD-C5D7-4FAB-AB9C-E54BDDDEB104}"/>
              </a:ext>
            </a:extLst>
          </p:cNvPr>
          <p:cNvPicPr>
            <a:picLocks xmlns:a="http://schemas.openxmlformats.org/drawingml/2006/main" noChangeAspect="1"/>
          </p:cNvPicPr>
          <p:nvPr/>
        </p:nvPicPr>
        <p:blipFill>
          <a:blip xmlns:r="http://schemas.openxmlformats.org/officeDocument/2006/relationships" xmlns:a="http://schemas.openxmlformats.org/drawingml/2006/main" r:embed="Rf4ae04c280004917"/>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8F13930D-3B0C-47E3-A2A9-6053F1679E34}"/>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Backup: maturity and forward estimates</a:t>
            </a:r>
          </a:p>
        </p:txBody>
      </p:sp>
      <p:sp>
        <p:nvSpPr>
          <p:cNvPr id="3" name="Time to maturity">
            <a:extLst xmlns:a="http://schemas.openxmlformats.org/drawingml/2006/main">
              <a:ext uri="{FF2B5EF4-FFF2-40B4-BE49-F238E27FC236}">
                <a16:creationId xmlns:a16="http://schemas.microsoft.com/office/drawing/2014/main" id="{F1F70A12-10C8-4D70-A894-858020FA5C47}"/>
              </a:ext>
            </a:extLst>
          </p:cNvPr>
          <p:cNvSpPr>
            <a:spLocks xmlns:a="http://schemas.openxmlformats.org/drawingml/2006/main" noGrp="1"/>
          </p:cNvSpPr>
          <p:nvPr/>
        </p:nvSpPr>
        <p:spPr>
          <a:xfrm xmlns:a="http://schemas.openxmlformats.org/drawingml/2006/main">
            <a:off x="523875" y="1571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4776C9"/>
                </a:solidFill>
                <a:latin typeface="Arial"/>
                <a:ea typeface="Arial"/>
                <a:cs typeface="Arial"/>
              </a:defRPr>
            </a:defPPr>
            <a:lvl1pPr algn="l">
              <a:defRPr sz="2175" b="1">
                <a:solidFill>
                  <a:srgbClr val="4776C9"/>
                </a:solidFill>
                <a:latin typeface="Arial"/>
                <a:ea typeface="Arial"/>
                <a:cs typeface="Arial"/>
              </a:defRPr>
            </a:lvl1pPr>
            <a:lvl2pPr algn="l">
              <a:defRPr sz="2175" b="1">
                <a:solidFill>
                  <a:srgbClr val="4776C9"/>
                </a:solidFill>
                <a:latin typeface="Arial"/>
                <a:ea typeface="Arial"/>
                <a:cs typeface="Arial"/>
              </a:defRPr>
            </a:lvl2pPr>
            <a:lvl3pPr algn="l">
              <a:defRPr sz="2175" b="1">
                <a:solidFill>
                  <a:srgbClr val="4776C9"/>
                </a:solidFill>
                <a:latin typeface="Arial"/>
                <a:ea typeface="Arial"/>
                <a:cs typeface="Arial"/>
              </a:defRPr>
            </a:lvl3pPr>
            <a:lvl4pPr algn="l">
              <a:defRPr sz="2175" b="1">
                <a:solidFill>
                  <a:srgbClr val="4776C9"/>
                </a:solidFill>
                <a:latin typeface="Arial"/>
                <a:ea typeface="Arial"/>
                <a:cs typeface="Arial"/>
              </a:defRPr>
            </a:lvl4pPr>
            <a:lvl5pPr algn="l">
              <a:defRPr sz="2175" b="1">
                <a:solidFill>
                  <a:srgbClr val="4776C9"/>
                </a:solidFill>
                <a:latin typeface="Arial"/>
                <a:ea typeface="Arial"/>
                <a:cs typeface="Arial"/>
              </a:defRPr>
            </a:lvl5pPr>
            <a:lvl6pPr algn="l">
              <a:defRPr sz="2175" b="1">
                <a:solidFill>
                  <a:srgbClr val="4776C9"/>
                </a:solidFill>
                <a:latin typeface="Arial"/>
                <a:ea typeface="Arial"/>
                <a:cs typeface="Arial"/>
              </a:defRPr>
            </a:lvl6pPr>
            <a:lvl7pPr algn="l">
              <a:defRPr sz="2175" b="1">
                <a:solidFill>
                  <a:srgbClr val="4776C9"/>
                </a:solidFill>
                <a:latin typeface="Arial"/>
                <a:ea typeface="Arial"/>
                <a:cs typeface="Arial"/>
              </a:defRPr>
            </a:lvl7pPr>
            <a:lvl8pPr algn="l">
              <a:defRPr sz="2175" b="1">
                <a:solidFill>
                  <a:srgbClr val="4776C9"/>
                </a:solidFill>
                <a:latin typeface="Arial"/>
                <a:ea typeface="Arial"/>
                <a:cs typeface="Arial"/>
              </a:defRPr>
            </a:lvl8pPr>
            <a:lvl9pPr algn="l">
              <a:defRPr sz="2175" b="1">
                <a:solidFill>
                  <a:srgbClr val="4776C9"/>
                </a:solidFill>
                <a:latin typeface="Arial"/>
                <a:ea typeface="Arial"/>
                <a:cs typeface="Arial"/>
              </a:defRPr>
            </a:lvl9pPr>
          </a:lstStyle>
          <a:p xmlns:a="http://schemas.openxmlformats.org/drawingml/2006/main">
            <a:pPr algn="l">
              <a:defRPr sz="2175" b="1">
                <a:solidFill>
                  <a:srgbClr val="4776C9"/>
                </a:solidFill>
                <a:latin typeface="Arial"/>
                <a:ea typeface="Arial"/>
                <a:cs typeface="Arial"/>
              </a:defRPr>
            </a:pPr>
            <a:r>
              <a:rPr sz="2175" b="1">
                <a:solidFill>
                  <a:srgbClr val="4776C9"/>
                </a:solidFill>
                <a:latin typeface="Arial"/>
                <a:ea typeface="Arial"/>
                <a:cs typeface="Arial"/>
              </a:rPr>
              <a:t>Time to maturity</a:t>
            </a:r>
          </a:p>
        </p:txBody>
      </p:sp>
      <p:sp>
        <p:nvSpPr>
          <p:cNvPr id="4" name="τ (years) = elapsed calendar days / 365">
            <a:extLst xmlns:a="http://schemas.openxmlformats.org/drawingml/2006/main">
              <a:ext uri="{FF2B5EF4-FFF2-40B4-BE49-F238E27FC236}">
                <a16:creationId xmlns:a16="http://schemas.microsoft.com/office/drawing/2014/main" id="{EF1C53B8-F079-4251-9A81-E3FF59D5EDB6}"/>
              </a:ext>
            </a:extLst>
          </p:cNvPr>
          <p:cNvSpPr>
            <a:spLocks xmlns:a="http://schemas.openxmlformats.org/drawingml/2006/main" noGrp="1"/>
          </p:cNvSpPr>
          <p:nvPr/>
        </p:nvSpPr>
        <p:spPr>
          <a:xfrm xmlns:a="http://schemas.openxmlformats.org/drawingml/2006/main">
            <a:off x="523875" y="212407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51515"/>
                </a:solidFill>
                <a:latin typeface="Arial"/>
                <a:ea typeface="Arial"/>
                <a:cs typeface="Arial"/>
              </a:defRPr>
            </a:defPPr>
            <a:lvl1pPr algn="l">
              <a:defRPr sz="2250" b="0">
                <a:solidFill>
                  <a:srgbClr val="151515"/>
                </a:solidFill>
                <a:latin typeface="Arial"/>
                <a:ea typeface="Arial"/>
                <a:cs typeface="Arial"/>
              </a:defRPr>
            </a:lvl1pPr>
            <a:lvl2pPr algn="l">
              <a:defRPr sz="2250" b="0">
                <a:solidFill>
                  <a:srgbClr val="151515"/>
                </a:solidFill>
                <a:latin typeface="Arial"/>
                <a:ea typeface="Arial"/>
                <a:cs typeface="Arial"/>
              </a:defRPr>
            </a:lvl2pPr>
            <a:lvl3pPr algn="l">
              <a:defRPr sz="2250" b="0">
                <a:solidFill>
                  <a:srgbClr val="151515"/>
                </a:solidFill>
                <a:latin typeface="Arial"/>
                <a:ea typeface="Arial"/>
                <a:cs typeface="Arial"/>
              </a:defRPr>
            </a:lvl3pPr>
            <a:lvl4pPr algn="l">
              <a:defRPr sz="2250" b="0">
                <a:solidFill>
                  <a:srgbClr val="151515"/>
                </a:solidFill>
                <a:latin typeface="Arial"/>
                <a:ea typeface="Arial"/>
                <a:cs typeface="Arial"/>
              </a:defRPr>
            </a:lvl4pPr>
            <a:lvl5pPr algn="l">
              <a:defRPr sz="2250" b="0">
                <a:solidFill>
                  <a:srgbClr val="151515"/>
                </a:solidFill>
                <a:latin typeface="Arial"/>
                <a:ea typeface="Arial"/>
                <a:cs typeface="Arial"/>
              </a:defRPr>
            </a:lvl5pPr>
            <a:lvl6pPr algn="l">
              <a:defRPr sz="2250" b="0">
                <a:solidFill>
                  <a:srgbClr val="151515"/>
                </a:solidFill>
                <a:latin typeface="Arial"/>
                <a:ea typeface="Arial"/>
                <a:cs typeface="Arial"/>
              </a:defRPr>
            </a:lvl6pPr>
            <a:lvl7pPr algn="l">
              <a:defRPr sz="2250" b="0">
                <a:solidFill>
                  <a:srgbClr val="151515"/>
                </a:solidFill>
                <a:latin typeface="Arial"/>
                <a:ea typeface="Arial"/>
                <a:cs typeface="Arial"/>
              </a:defRPr>
            </a:lvl7pPr>
            <a:lvl8pPr algn="l">
              <a:defRPr sz="2250" b="0">
                <a:solidFill>
                  <a:srgbClr val="151515"/>
                </a:solidFill>
                <a:latin typeface="Arial"/>
                <a:ea typeface="Arial"/>
                <a:cs typeface="Arial"/>
              </a:defRPr>
            </a:lvl8pPr>
            <a:lvl9pPr algn="l">
              <a:defRPr sz="2250" b="0">
                <a:solidFill>
                  <a:srgbClr val="151515"/>
                </a:solidFill>
                <a:latin typeface="Arial"/>
                <a:ea typeface="Arial"/>
                <a:cs typeface="Arial"/>
              </a:defRPr>
            </a:lvl9pPr>
          </a:lstStyle>
          <a:p xmlns:a="http://schemas.openxmlformats.org/drawingml/2006/main">
            <a:pPr algn="l">
              <a:defRPr sz="2250" b="0">
                <a:solidFill>
                  <a:srgbClr val="151515"/>
                </a:solidFill>
                <a:latin typeface="Arial"/>
                <a:ea typeface="Arial"/>
                <a:cs typeface="Arial"/>
              </a:defRPr>
            </a:pPr>
            <a:r>
              <a:rPr sz="2250" b="0">
                <a:solidFill>
                  <a:srgbClr val="151515"/>
                </a:solidFill>
                <a:latin typeface="Arial"/>
                <a:ea typeface="Arial"/>
                <a:cs typeface="Arial"/>
              </a:rPr>
              <a:t>τ (years) = elapsed calendar days / 365</a:t>
            </a:r>
          </a:p>
        </p:txBody>
      </p:sp>
      <p:sp>
        <p:nvSpPr>
          <p:cNvPr id="5" name="Date-only values use 00:00 without a time zon">
            <a:extLst xmlns:a="http://schemas.openxmlformats.org/drawingml/2006/main">
              <a:ext uri="{FF2B5EF4-FFF2-40B4-BE49-F238E27FC236}">
                <a16:creationId xmlns:a16="http://schemas.microsoft.com/office/drawing/2014/main" id="{E263DACF-8887-448C-A827-1DAE8C487A62}"/>
              </a:ext>
            </a:extLst>
          </p:cNvPr>
          <p:cNvSpPr>
            <a:spLocks xmlns:a="http://schemas.openxmlformats.org/drawingml/2006/main" noGrp="1"/>
          </p:cNvSpPr>
          <p:nvPr/>
        </p:nvSpPr>
        <p:spPr>
          <a:xfrm xmlns:a="http://schemas.openxmlformats.org/drawingml/2006/main">
            <a:off x="523875" y="28765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51515"/>
                </a:solidFill>
                <a:latin typeface="Arial"/>
                <a:ea typeface="Arial"/>
                <a:cs typeface="Arial"/>
              </a:defRPr>
            </a:defPPr>
            <a:lvl1pPr algn="l">
              <a:defRPr sz="1950" b="0">
                <a:solidFill>
                  <a:srgbClr val="151515"/>
                </a:solidFill>
                <a:latin typeface="Arial"/>
                <a:ea typeface="Arial"/>
                <a:cs typeface="Arial"/>
              </a:defRPr>
            </a:lvl1pPr>
            <a:lvl2pPr algn="l">
              <a:defRPr sz="1950" b="0">
                <a:solidFill>
                  <a:srgbClr val="151515"/>
                </a:solidFill>
                <a:latin typeface="Arial"/>
                <a:ea typeface="Arial"/>
                <a:cs typeface="Arial"/>
              </a:defRPr>
            </a:lvl2pPr>
            <a:lvl3pPr algn="l">
              <a:defRPr sz="1950" b="0">
                <a:solidFill>
                  <a:srgbClr val="151515"/>
                </a:solidFill>
                <a:latin typeface="Arial"/>
                <a:ea typeface="Arial"/>
                <a:cs typeface="Arial"/>
              </a:defRPr>
            </a:lvl3pPr>
            <a:lvl4pPr algn="l">
              <a:defRPr sz="1950" b="0">
                <a:solidFill>
                  <a:srgbClr val="151515"/>
                </a:solidFill>
                <a:latin typeface="Arial"/>
                <a:ea typeface="Arial"/>
                <a:cs typeface="Arial"/>
              </a:defRPr>
            </a:lvl4pPr>
            <a:lvl5pPr algn="l">
              <a:defRPr sz="1950" b="0">
                <a:solidFill>
                  <a:srgbClr val="151515"/>
                </a:solidFill>
                <a:latin typeface="Arial"/>
                <a:ea typeface="Arial"/>
                <a:cs typeface="Arial"/>
              </a:defRPr>
            </a:lvl5pPr>
            <a:lvl6pPr algn="l">
              <a:defRPr sz="1950" b="0">
                <a:solidFill>
                  <a:srgbClr val="151515"/>
                </a:solidFill>
                <a:latin typeface="Arial"/>
                <a:ea typeface="Arial"/>
                <a:cs typeface="Arial"/>
              </a:defRPr>
            </a:lvl6pPr>
            <a:lvl7pPr algn="l">
              <a:defRPr sz="1950" b="0">
                <a:solidFill>
                  <a:srgbClr val="151515"/>
                </a:solidFill>
                <a:latin typeface="Arial"/>
                <a:ea typeface="Arial"/>
                <a:cs typeface="Arial"/>
              </a:defRPr>
            </a:lvl7pPr>
            <a:lvl8pPr algn="l">
              <a:defRPr sz="1950" b="0">
                <a:solidFill>
                  <a:srgbClr val="151515"/>
                </a:solidFill>
                <a:latin typeface="Arial"/>
                <a:ea typeface="Arial"/>
                <a:cs typeface="Arial"/>
              </a:defRPr>
            </a:lvl8pPr>
            <a:lvl9pPr algn="l">
              <a:defRPr sz="1950" b="0">
                <a:solidFill>
                  <a:srgbClr val="151515"/>
                </a:solidFill>
                <a:latin typeface="Arial"/>
                <a:ea typeface="Arial"/>
                <a:cs typeface="Arial"/>
              </a:defRPr>
            </a:lvl9pPr>
          </a:lstStyle>
          <a:p xmlns:a="http://schemas.openxmlformats.org/drawingml/2006/main">
            <a:pPr algn="l">
              <a:defRPr sz="1950" b="0">
                <a:solidFill>
                  <a:srgbClr val="151515"/>
                </a:solidFill>
                <a:latin typeface="Arial"/>
                <a:ea typeface="Arial"/>
                <a:cs typeface="Arial"/>
              </a:defRPr>
            </a:pPr>
            <a:r>
              <a:rPr sz="1950" b="0">
                <a:solidFill>
                  <a:srgbClr val="151515"/>
                </a:solidFill>
                <a:latin typeface="Arial"/>
                <a:ea typeface="Arial"/>
                <a:cs typeface="Arial"/>
              </a:rPr>
              <a:t>Date-only values use 00:00 without a time zone as a computational convention.</a:t>
            </a:r>
          </a:p>
        </p:txBody>
      </p:sp>
      <p:sp>
        <p:nvSpPr>
          <p:cNvPr id="6" name="Forward and discount factor">
            <a:extLst xmlns:a="http://schemas.openxmlformats.org/drawingml/2006/main">
              <a:ext uri="{FF2B5EF4-FFF2-40B4-BE49-F238E27FC236}">
                <a16:creationId xmlns:a16="http://schemas.microsoft.com/office/drawing/2014/main" id="{F7BB55C6-D609-4F53-93D2-C2E69BBC8DB7}"/>
              </a:ext>
            </a:extLst>
          </p:cNvPr>
          <p:cNvSpPr>
            <a:spLocks xmlns:a="http://schemas.openxmlformats.org/drawingml/2006/main" noGrp="1"/>
          </p:cNvSpPr>
          <p:nvPr/>
        </p:nvSpPr>
        <p:spPr>
          <a:xfrm xmlns:a="http://schemas.openxmlformats.org/drawingml/2006/main">
            <a:off x="523875" y="3857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4776C9"/>
                </a:solidFill>
                <a:latin typeface="Arial"/>
                <a:ea typeface="Arial"/>
                <a:cs typeface="Arial"/>
              </a:defRPr>
            </a:defPPr>
            <a:lvl1pPr algn="l">
              <a:defRPr sz="2175" b="1">
                <a:solidFill>
                  <a:srgbClr val="4776C9"/>
                </a:solidFill>
                <a:latin typeface="Arial"/>
                <a:ea typeface="Arial"/>
                <a:cs typeface="Arial"/>
              </a:defRPr>
            </a:lvl1pPr>
            <a:lvl2pPr algn="l">
              <a:defRPr sz="2175" b="1">
                <a:solidFill>
                  <a:srgbClr val="4776C9"/>
                </a:solidFill>
                <a:latin typeface="Arial"/>
                <a:ea typeface="Arial"/>
                <a:cs typeface="Arial"/>
              </a:defRPr>
            </a:lvl2pPr>
            <a:lvl3pPr algn="l">
              <a:defRPr sz="2175" b="1">
                <a:solidFill>
                  <a:srgbClr val="4776C9"/>
                </a:solidFill>
                <a:latin typeface="Arial"/>
                <a:ea typeface="Arial"/>
                <a:cs typeface="Arial"/>
              </a:defRPr>
            </a:lvl3pPr>
            <a:lvl4pPr algn="l">
              <a:defRPr sz="2175" b="1">
                <a:solidFill>
                  <a:srgbClr val="4776C9"/>
                </a:solidFill>
                <a:latin typeface="Arial"/>
                <a:ea typeface="Arial"/>
                <a:cs typeface="Arial"/>
              </a:defRPr>
            </a:lvl4pPr>
            <a:lvl5pPr algn="l">
              <a:defRPr sz="2175" b="1">
                <a:solidFill>
                  <a:srgbClr val="4776C9"/>
                </a:solidFill>
                <a:latin typeface="Arial"/>
                <a:ea typeface="Arial"/>
                <a:cs typeface="Arial"/>
              </a:defRPr>
            </a:lvl5pPr>
            <a:lvl6pPr algn="l">
              <a:defRPr sz="2175" b="1">
                <a:solidFill>
                  <a:srgbClr val="4776C9"/>
                </a:solidFill>
                <a:latin typeface="Arial"/>
                <a:ea typeface="Arial"/>
                <a:cs typeface="Arial"/>
              </a:defRPr>
            </a:lvl6pPr>
            <a:lvl7pPr algn="l">
              <a:defRPr sz="2175" b="1">
                <a:solidFill>
                  <a:srgbClr val="4776C9"/>
                </a:solidFill>
                <a:latin typeface="Arial"/>
                <a:ea typeface="Arial"/>
                <a:cs typeface="Arial"/>
              </a:defRPr>
            </a:lvl7pPr>
            <a:lvl8pPr algn="l">
              <a:defRPr sz="2175" b="1">
                <a:solidFill>
                  <a:srgbClr val="4776C9"/>
                </a:solidFill>
                <a:latin typeface="Arial"/>
                <a:ea typeface="Arial"/>
                <a:cs typeface="Arial"/>
              </a:defRPr>
            </a:lvl8pPr>
            <a:lvl9pPr algn="l">
              <a:defRPr sz="2175" b="1">
                <a:solidFill>
                  <a:srgbClr val="4776C9"/>
                </a:solidFill>
                <a:latin typeface="Arial"/>
                <a:ea typeface="Arial"/>
                <a:cs typeface="Arial"/>
              </a:defRPr>
            </a:lvl9pPr>
          </a:lstStyle>
          <a:p xmlns:a="http://schemas.openxmlformats.org/drawingml/2006/main">
            <a:pPr algn="l">
              <a:defRPr sz="2175" b="1">
                <a:solidFill>
                  <a:srgbClr val="4776C9"/>
                </a:solidFill>
                <a:latin typeface="Arial"/>
                <a:ea typeface="Arial"/>
                <a:cs typeface="Arial"/>
              </a:defRPr>
            </a:pPr>
            <a:r>
              <a:rPr sz="2175" b="1">
                <a:solidFill>
                  <a:srgbClr val="4776C9"/>
                </a:solidFill>
                <a:latin typeface="Arial"/>
                <a:ea typeface="Arial"/>
                <a:cs typeface="Arial"/>
              </a:rPr>
              <a:t>Forward and discount factor</a:t>
            </a:r>
          </a:p>
        </p:txBody>
      </p:sp>
      <p:sp>
        <p:nvSpPr>
          <p:cNvPr id="7" name="Cmid(K) − Pmid(K) = a + bK,    D = −b,    F =">
            <a:extLst xmlns:a="http://schemas.openxmlformats.org/drawingml/2006/main">
              <a:ext uri="{FF2B5EF4-FFF2-40B4-BE49-F238E27FC236}">
                <a16:creationId xmlns:a16="http://schemas.microsoft.com/office/drawing/2014/main" id="{E1B60D3A-AC77-46FA-B7B0-D6B646877AE2}"/>
              </a:ext>
            </a:extLst>
          </p:cNvPr>
          <p:cNvSpPr>
            <a:spLocks xmlns:a="http://schemas.openxmlformats.org/drawingml/2006/main" noGrp="1"/>
          </p:cNvSpPr>
          <p:nvPr/>
        </p:nvSpPr>
        <p:spPr>
          <a:xfrm xmlns:a="http://schemas.openxmlformats.org/drawingml/2006/main">
            <a:off x="523875" y="442912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51515"/>
                </a:solidFill>
                <a:latin typeface="Arial"/>
                <a:ea typeface="Arial"/>
                <a:cs typeface="Arial"/>
              </a:defRPr>
            </a:defPPr>
            <a:lvl1pPr algn="l">
              <a:defRPr sz="2175" b="0">
                <a:solidFill>
                  <a:srgbClr val="151515"/>
                </a:solidFill>
                <a:latin typeface="Arial"/>
                <a:ea typeface="Arial"/>
                <a:cs typeface="Arial"/>
              </a:defRPr>
            </a:lvl1pPr>
            <a:lvl2pPr algn="l">
              <a:defRPr sz="2175" b="0">
                <a:solidFill>
                  <a:srgbClr val="151515"/>
                </a:solidFill>
                <a:latin typeface="Arial"/>
                <a:ea typeface="Arial"/>
                <a:cs typeface="Arial"/>
              </a:defRPr>
            </a:lvl2pPr>
            <a:lvl3pPr algn="l">
              <a:defRPr sz="2175" b="0">
                <a:solidFill>
                  <a:srgbClr val="151515"/>
                </a:solidFill>
                <a:latin typeface="Arial"/>
                <a:ea typeface="Arial"/>
                <a:cs typeface="Arial"/>
              </a:defRPr>
            </a:lvl3pPr>
            <a:lvl4pPr algn="l">
              <a:defRPr sz="2175" b="0">
                <a:solidFill>
                  <a:srgbClr val="151515"/>
                </a:solidFill>
                <a:latin typeface="Arial"/>
                <a:ea typeface="Arial"/>
                <a:cs typeface="Arial"/>
              </a:defRPr>
            </a:lvl4pPr>
            <a:lvl5pPr algn="l">
              <a:defRPr sz="2175" b="0">
                <a:solidFill>
                  <a:srgbClr val="151515"/>
                </a:solidFill>
                <a:latin typeface="Arial"/>
                <a:ea typeface="Arial"/>
                <a:cs typeface="Arial"/>
              </a:defRPr>
            </a:lvl5pPr>
            <a:lvl6pPr algn="l">
              <a:defRPr sz="2175" b="0">
                <a:solidFill>
                  <a:srgbClr val="151515"/>
                </a:solidFill>
                <a:latin typeface="Arial"/>
                <a:ea typeface="Arial"/>
                <a:cs typeface="Arial"/>
              </a:defRPr>
            </a:lvl6pPr>
            <a:lvl7pPr algn="l">
              <a:defRPr sz="2175" b="0">
                <a:solidFill>
                  <a:srgbClr val="151515"/>
                </a:solidFill>
                <a:latin typeface="Arial"/>
                <a:ea typeface="Arial"/>
                <a:cs typeface="Arial"/>
              </a:defRPr>
            </a:lvl7pPr>
            <a:lvl8pPr algn="l">
              <a:defRPr sz="2175" b="0">
                <a:solidFill>
                  <a:srgbClr val="151515"/>
                </a:solidFill>
                <a:latin typeface="Arial"/>
                <a:ea typeface="Arial"/>
                <a:cs typeface="Arial"/>
              </a:defRPr>
            </a:lvl8pPr>
            <a:lvl9pPr algn="l">
              <a:defRPr sz="2175" b="0">
                <a:solidFill>
                  <a:srgbClr val="151515"/>
                </a:solidFill>
                <a:latin typeface="Arial"/>
                <a:ea typeface="Arial"/>
                <a:cs typeface="Arial"/>
              </a:defRPr>
            </a:lvl9pPr>
          </a:lstStyle>
          <a:p xmlns:a="http://schemas.openxmlformats.org/drawingml/2006/main">
            <a:pPr algn="l">
              <a:defRPr sz="2175" b="0">
                <a:solidFill>
                  <a:srgbClr val="151515"/>
                </a:solidFill>
                <a:latin typeface="Arial"/>
                <a:ea typeface="Arial"/>
                <a:cs typeface="Arial"/>
              </a:defRPr>
            </a:pPr>
            <a:r>
              <a:rPr sz="2175" b="0">
                <a:solidFill>
                  <a:srgbClr val="151515"/>
                </a:solidFill>
                <a:latin typeface="Arial"/>
                <a:ea typeface="Arial"/>
                <a:cs typeface="Arial"/>
              </a:rPr>
              <a:t>Cmid(K) − Pmid(K) = a + bK,    D = −b,    F = a / D</a:t>
            </a:r>
          </a:p>
        </p:txBody>
      </p:sp>
      <p:sp>
        <p:nvSpPr>
          <p:cNvPr id="8" name="Paired quote midpoints estimate F and D. Actu">
            <a:extLst xmlns:a="http://schemas.openxmlformats.org/drawingml/2006/main">
              <a:ext uri="{FF2B5EF4-FFF2-40B4-BE49-F238E27FC236}">
                <a16:creationId xmlns:a16="http://schemas.microsoft.com/office/drawing/2014/main" id="{E1D6150B-EEC2-4A77-9AF4-0E074E40883B}"/>
              </a:ext>
            </a:extLst>
          </p:cNvPr>
          <p:cNvSpPr>
            <a:spLocks xmlns:a="http://schemas.openxmlformats.org/drawingml/2006/main" noGrp="1"/>
          </p:cNvSpPr>
          <p:nvPr/>
        </p:nvSpPr>
        <p:spPr>
          <a:xfrm xmlns:a="http://schemas.openxmlformats.org/drawingml/2006/main">
            <a:off x="523875" y="5476875"/>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51515"/>
                </a:solidFill>
                <a:latin typeface="Arial"/>
                <a:ea typeface="Arial"/>
                <a:cs typeface="Arial"/>
              </a:defRPr>
            </a:defPPr>
            <a:lvl1pPr algn="l">
              <a:defRPr sz="1950" b="0">
                <a:solidFill>
                  <a:srgbClr val="151515"/>
                </a:solidFill>
                <a:latin typeface="Arial"/>
                <a:ea typeface="Arial"/>
                <a:cs typeface="Arial"/>
              </a:defRPr>
            </a:lvl1pPr>
            <a:lvl2pPr algn="l">
              <a:defRPr sz="1950" b="0">
                <a:solidFill>
                  <a:srgbClr val="151515"/>
                </a:solidFill>
                <a:latin typeface="Arial"/>
                <a:ea typeface="Arial"/>
                <a:cs typeface="Arial"/>
              </a:defRPr>
            </a:lvl2pPr>
            <a:lvl3pPr algn="l">
              <a:defRPr sz="1950" b="0">
                <a:solidFill>
                  <a:srgbClr val="151515"/>
                </a:solidFill>
                <a:latin typeface="Arial"/>
                <a:ea typeface="Arial"/>
                <a:cs typeface="Arial"/>
              </a:defRPr>
            </a:lvl3pPr>
            <a:lvl4pPr algn="l">
              <a:defRPr sz="1950" b="0">
                <a:solidFill>
                  <a:srgbClr val="151515"/>
                </a:solidFill>
                <a:latin typeface="Arial"/>
                <a:ea typeface="Arial"/>
                <a:cs typeface="Arial"/>
              </a:defRPr>
            </a:lvl4pPr>
            <a:lvl5pPr algn="l">
              <a:defRPr sz="1950" b="0">
                <a:solidFill>
                  <a:srgbClr val="151515"/>
                </a:solidFill>
                <a:latin typeface="Arial"/>
                <a:ea typeface="Arial"/>
                <a:cs typeface="Arial"/>
              </a:defRPr>
            </a:lvl5pPr>
            <a:lvl6pPr algn="l">
              <a:defRPr sz="1950" b="0">
                <a:solidFill>
                  <a:srgbClr val="151515"/>
                </a:solidFill>
                <a:latin typeface="Arial"/>
                <a:ea typeface="Arial"/>
                <a:cs typeface="Arial"/>
              </a:defRPr>
            </a:lvl6pPr>
            <a:lvl7pPr algn="l">
              <a:defRPr sz="1950" b="0">
                <a:solidFill>
                  <a:srgbClr val="151515"/>
                </a:solidFill>
                <a:latin typeface="Arial"/>
                <a:ea typeface="Arial"/>
                <a:cs typeface="Arial"/>
              </a:defRPr>
            </a:lvl7pPr>
            <a:lvl8pPr algn="l">
              <a:defRPr sz="1950" b="0">
                <a:solidFill>
                  <a:srgbClr val="151515"/>
                </a:solidFill>
                <a:latin typeface="Arial"/>
                <a:ea typeface="Arial"/>
                <a:cs typeface="Arial"/>
              </a:defRPr>
            </a:lvl8pPr>
            <a:lvl9pPr algn="l">
              <a:defRPr sz="1950" b="0">
                <a:solidFill>
                  <a:srgbClr val="151515"/>
                </a:solidFill>
                <a:latin typeface="Arial"/>
                <a:ea typeface="Arial"/>
                <a:cs typeface="Arial"/>
              </a:defRPr>
            </a:lvl9pPr>
          </a:lstStyle>
          <a:p xmlns:a="http://schemas.openxmlformats.org/drawingml/2006/main">
            <a:pPr algn="l">
              <a:defRPr sz="1950" b="0">
                <a:solidFill>
                  <a:srgbClr val="151515"/>
                </a:solidFill>
                <a:latin typeface="Arial"/>
                <a:ea typeface="Arial"/>
                <a:cs typeface="Arial"/>
              </a:defRPr>
            </a:pPr>
            <a:r>
              <a:rPr sz="1950" b="0">
                <a:solidFill>
                  <a:srgbClr val="151515"/>
                </a:solidFill>
                <a:latin typeface="Arial"/>
                <a:ea typeface="Arial"/>
                <a:cs typeface="Arial"/>
              </a:rPr>
              <a:t>Paired quote midpoints estimate F and D. Actual quote times, settlement times and quote simultaneity are unavailable.</a:t>
            </a:r>
          </a:p>
        </p:txBody>
      </p:sp>
      <p:sp>
        <p:nvSpPr>
          <p:cNvPr id="9" name="source-line">
            <a:extLst xmlns:a="http://schemas.openxmlformats.org/drawingml/2006/main">
              <a:ext uri="{FF2B5EF4-FFF2-40B4-BE49-F238E27FC236}">
                <a16:creationId xmlns:a16="http://schemas.microsoft.com/office/drawing/2014/main" id="{6A87F50A-D30A-43ED-92C0-5386543F0D70}"/>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thesis §4.7 and the data loading implementation</a:t>
            </a:r>
          </a:p>
        </p:txBody>
      </p:sp>
      <p:sp>
        <p:nvSpPr>
          <p:cNvPr id="10" name="slide-number">
            <a:extLst xmlns:a="http://schemas.openxmlformats.org/drawingml/2006/main">
              <a:ext uri="{FF2B5EF4-FFF2-40B4-BE49-F238E27FC236}">
                <a16:creationId xmlns:a16="http://schemas.microsoft.com/office/drawing/2014/main" id="{6574AA3B-DD62-448B-A3A5-E0BCC4786E66}"/>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28</a:t>
            </a:r>
          </a:p>
        </p:txBody>
      </p:sp>
    </p:spTree>
    <p:extLst>
      <p:ext uri="{BB962C8B-B14F-4D97-AF65-F5344CB8AC3E}">
        <p14:creationId xmlns:p14="http://schemas.microsoft.com/office/powerpoint/2010/main" val="120882611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DAF12BA-5A10-4238-BD8D-CB29C0058929}"/>
              </a:ext>
            </a:extLst>
          </p:cNvPr>
          <p:cNvPicPr>
            <a:picLocks xmlns:a="http://schemas.openxmlformats.org/drawingml/2006/main" noChangeAspect="1"/>
          </p:cNvPicPr>
          <p:nvPr/>
        </p:nvPicPr>
        <p:blipFill>
          <a:blip xmlns:r="http://schemas.openxmlformats.org/officeDocument/2006/relationships" xmlns:a="http://schemas.openxmlformats.org/drawingml/2006/main" r:embed="R17596f33d3f8422b"/>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1310C781-6722-4012-A1D3-526733EA7E60}"/>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Backup: lowest-z coverage and widths</a:t>
            </a:r>
          </a:p>
        </p:txBody>
      </p:sp>
      <p:sp>
        <p:nvSpPr>
          <p:cNvPr id="3" name="Score B after projection, lowest-z bin [−1.5,">
            <a:extLst xmlns:a="http://schemas.openxmlformats.org/drawingml/2006/main">
              <a:ext uri="{FF2B5EF4-FFF2-40B4-BE49-F238E27FC236}">
                <a16:creationId xmlns:a16="http://schemas.microsoft.com/office/drawing/2014/main" id="{132B5E17-055E-491A-BAC6-C4E1912314CA}"/>
              </a:ext>
            </a:extLst>
          </p:cNvPr>
          <p:cNvSpPr>
            <a:spLocks xmlns:a="http://schemas.openxmlformats.org/drawingml/2006/main" noGrp="1"/>
          </p:cNvSpPr>
          <p:nvPr/>
        </p:nvSpPr>
        <p:spPr>
          <a:xfrm xmlns:a="http://schemas.openxmlformats.org/drawingml/2006/main">
            <a:off x="523875" y="153352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algn="l">
              <a:defRPr sz="2025" b="0">
                <a:solidFill>
                  <a:srgbClr val="151515"/>
                </a:solidFill>
                <a:latin typeface="Arial"/>
                <a:ea typeface="Arial"/>
                <a:cs typeface="Arial"/>
              </a:defRPr>
            </a:pPr>
            <a:r>
              <a:rPr sz="2025" b="0">
                <a:solidFill>
                  <a:srgbClr val="151515"/>
                </a:solidFill>
                <a:latin typeface="Arial"/>
                <a:ea typeface="Arial"/>
                <a:cs typeface="Arial"/>
              </a:rPr>
              <a:t>Score B after projection, lowest-z bin [−1.5, −1.0)</a:t>
            </a:r>
          </a:p>
        </p:txBody>
      </p:sp>
      <p:graphicFrame>
        <p:nvGraphicFramePr>
          <p:cNvPr id="4" name="">
            <a:extLst xmlns:a="http://schemas.openxmlformats.org/drawingml/2006/main">
              <a:ext uri="{FF2B5EF4-FFF2-40B4-BE49-F238E27FC236}">
                <a16:creationId xmlns:a16="http://schemas.microsoft.com/office/drawing/2014/main" id="{67D8BE5F-7C16-4F00-979F-B4DADB2FE20B}"/>
              </a:ext>
            </a:extLst>
          </p:cNvPr>
          <p:cNvGraphicFramePr/>
          <p:nvPr/>
        </p:nvGraphicFramePr>
        <p:xfrm>
          <a:off xmlns:a="http://schemas.openxmlformats.org/drawingml/2006/main" x="523875" y="2419350"/>
          <a:ext xmlns:a="http://schemas.openxmlformats.org/drawingml/2006/main" cx="11049000" cy="3143250"/>
        </p:xfrm>
        <a:graphic xmlns:a="http://schemas.openxmlformats.org/drawingml/2006/main">
          <a:graphicData uri="http://schemas.openxmlformats.org/drawingml/2006/table">
            <a:tbl>
              <a:tblPr firstRow="0" bandRow="0"/>
              <a:tblGrid>
                <a:gridCol w="2714625"/>
                <a:gridCol w="1381125"/>
                <a:gridCol w="1714500"/>
                <a:gridCol w="1809750"/>
                <a:gridCol w="1714500"/>
                <a:gridCol w="1714500"/>
              </a:tblGrid>
              <a:tr h="628650">
                <a:tc>
                  <a:txBody>
                    <a:bodyPr lIns="95250" tIns="95250" rIns="95250" bIns="95250">
                      <a:noAutofit/>
                    </a:bodyPr>
                    <a:lstStyle/>
                    <a:p>
                      <a:pPr algn="l"/>
                      <a:r>
                        <a:rPr sz="1725" b="1">
                          <a:solidFill>
                            <a:srgbClr val="4776C9"/>
                          </a:solidFill>
                          <a:latin typeface="Arial"/>
                          <a:ea typeface="Arial"/>
                          <a:cs typeface="Arial"/>
                        </a:rPr>
                        <a:t>ρ bin</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725" b="1">
                          <a:solidFill>
                            <a:srgbClr val="4776C9"/>
                          </a:solidFill>
                          <a:latin typeface="Arial"/>
                          <a:ea typeface="Arial"/>
                          <a:cs typeface="Arial"/>
                        </a:rPr>
                        <a:t>Targets</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725" b="1">
                          <a:solidFill>
                            <a:srgbClr val="4776C9"/>
                          </a:solidFill>
                          <a:latin typeface="Arial"/>
                          <a:ea typeface="Arial"/>
                          <a:cs typeface="Arial"/>
                        </a:rPr>
                        <a:t>Global</a:t>
                      </a:r>
                    </a:p>
                    <a:p>
                      <a:pPr algn="ctr"/>
                      <a:r>
                        <a:rPr sz="1725" b="1">
                          <a:solidFill>
                            <a:srgbClr val="4776C9"/>
                          </a:solidFill>
                          <a:latin typeface="Arial"/>
                          <a:ea typeface="Arial"/>
                          <a:cs typeface="Arial"/>
                        </a:rPr>
                        <a:t>coverage</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725" b="1">
                          <a:solidFill>
                            <a:srgbClr val="4776C9"/>
                          </a:solidFill>
                          <a:latin typeface="Arial"/>
                          <a:ea typeface="Arial"/>
                          <a:cs typeface="Arial"/>
                        </a:rPr>
                        <a:t>Mondrian</a:t>
                      </a:r>
                    </a:p>
                    <a:p>
                      <a:pPr algn="ctr"/>
                      <a:r>
                        <a:rPr sz="1725" b="1">
                          <a:solidFill>
                            <a:srgbClr val="4776C9"/>
                          </a:solidFill>
                          <a:latin typeface="Arial"/>
                          <a:ea typeface="Arial"/>
                          <a:cs typeface="Arial"/>
                        </a:rPr>
                        <a:t>coverage</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725" b="1">
                          <a:solidFill>
                            <a:srgbClr val="4776C9"/>
                          </a:solidFill>
                          <a:latin typeface="Arial"/>
                          <a:ea typeface="Arial"/>
                          <a:cs typeface="Arial"/>
                        </a:rPr>
                        <a:t>Global</a:t>
                      </a:r>
                    </a:p>
                    <a:p>
                      <a:pPr algn="ctr"/>
                      <a:r>
                        <a:rPr sz="1725" b="1">
                          <a:solidFill>
                            <a:srgbClr val="4776C9"/>
                          </a:solidFill>
                          <a:latin typeface="Arial"/>
                          <a:ea typeface="Arial"/>
                          <a:cs typeface="Arial"/>
                        </a:rPr>
                        <a:t>IV width</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725" b="1">
                          <a:solidFill>
                            <a:srgbClr val="4776C9"/>
                          </a:solidFill>
                          <a:latin typeface="Arial"/>
                          <a:ea typeface="Arial"/>
                          <a:cs typeface="Arial"/>
                        </a:rPr>
                        <a:t>Mondrian</a:t>
                      </a:r>
                    </a:p>
                    <a:p>
                      <a:pPr algn="ctr"/>
                      <a:r>
                        <a:rPr sz="1725" b="1">
                          <a:solidFill>
                            <a:srgbClr val="4776C9"/>
                          </a:solidFill>
                          <a:latin typeface="Arial"/>
                          <a:ea typeface="Arial"/>
                          <a:cs typeface="Arial"/>
                        </a:rPr>
                        <a:t>IV width</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r>
              <a:tr h="628650">
                <a:tc>
                  <a:txBody>
                    <a:bodyPr lIns="95250" tIns="95250" rIns="95250" bIns="95250">
                      <a:noAutofit/>
                    </a:bodyPr>
                    <a:lstStyle/>
                    <a:p>
                      <a:pPr algn="l"/>
                      <a:r>
                        <a:rPr sz="1725" b="0">
                          <a:solidFill>
                            <a:srgbClr val="151515"/>
                          </a:solidFill>
                          <a:latin typeface="Arial"/>
                          <a:ea typeface="Arial"/>
                          <a:cs typeface="Arial"/>
                        </a:rPr>
                        <a:t>0.0100–0.2575</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1,639</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63.50%</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84.38%</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0.03294</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0.05235</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28650">
                <a:tc>
                  <a:txBody>
                    <a:bodyPr lIns="95250" tIns="95250" rIns="95250" bIns="95250">
                      <a:noAutofit/>
                    </a:bodyPr>
                    <a:lstStyle/>
                    <a:p>
                      <a:pPr algn="l"/>
                      <a:r>
                        <a:rPr sz="1725" b="0">
                          <a:solidFill>
                            <a:srgbClr val="151515"/>
                          </a:solidFill>
                          <a:latin typeface="Arial"/>
                          <a:ea typeface="Arial"/>
                          <a:cs typeface="Arial"/>
                        </a:rPr>
                        <a:t>0.2575–0.5050</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1,085</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36.77%</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79.24%</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0.03298</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0.05587</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28650">
                <a:tc>
                  <a:txBody>
                    <a:bodyPr lIns="95250" tIns="95250" rIns="95250" bIns="95250">
                      <a:noAutofit/>
                    </a:bodyPr>
                    <a:lstStyle/>
                    <a:p>
                      <a:pPr algn="l"/>
                      <a:r>
                        <a:rPr sz="1725" b="0">
                          <a:solidFill>
                            <a:srgbClr val="151515"/>
                          </a:solidFill>
                          <a:latin typeface="Arial"/>
                          <a:ea typeface="Arial"/>
                          <a:cs typeface="Arial"/>
                        </a:rPr>
                        <a:t>0.5050–0.7525</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469</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10.16%</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69.51%</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0.03297</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0.06592</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28650">
                <a:tc>
                  <a:txBody>
                    <a:bodyPr lIns="95250" tIns="95250" rIns="95250" bIns="95250">
                      <a:noAutofit/>
                    </a:bodyPr>
                    <a:lstStyle/>
                    <a:p>
                      <a:pPr algn="l"/>
                      <a:r>
                        <a:rPr sz="1725" b="0">
                          <a:solidFill>
                            <a:srgbClr val="151515"/>
                          </a:solidFill>
                          <a:latin typeface="Arial"/>
                          <a:ea typeface="Arial"/>
                          <a:cs typeface="Arial"/>
                        </a:rPr>
                        <a:t>0.7525–1.0000</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279</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8.05%</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64.21%</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0.03295</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725" b="0">
                          <a:solidFill>
                            <a:srgbClr val="151515"/>
                          </a:solidFill>
                          <a:latin typeface="Arial"/>
                          <a:ea typeface="Arial"/>
                          <a:cs typeface="Arial"/>
                        </a:rPr>
                        <a:t>0.06287</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5" name="Wider regional bands improve coverage substan">
            <a:extLst xmlns:a="http://schemas.openxmlformats.org/drawingml/2006/main">
              <a:ext uri="{FF2B5EF4-FFF2-40B4-BE49-F238E27FC236}">
                <a16:creationId xmlns:a16="http://schemas.microsoft.com/office/drawing/2014/main" id="{AD684DE5-23DA-46D0-82EA-BBCAB6F93427}"/>
              </a:ext>
            </a:extLst>
          </p:cNvPr>
          <p:cNvSpPr>
            <a:spLocks xmlns:a="http://schemas.openxmlformats.org/drawingml/2006/main" noGrp="1"/>
          </p:cNvSpPr>
          <p:nvPr/>
        </p:nvSpPr>
        <p:spPr>
          <a:xfrm xmlns:a="http://schemas.openxmlformats.org/drawingml/2006/main">
            <a:off x="523875" y="59626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4776C9"/>
                </a:solidFill>
                <a:latin typeface="Arial"/>
                <a:ea typeface="Arial"/>
                <a:cs typeface="Arial"/>
              </a:defRPr>
            </a:defPPr>
            <a:lvl1pPr algn="l">
              <a:defRPr sz="1950" b="1">
                <a:solidFill>
                  <a:srgbClr val="4776C9"/>
                </a:solidFill>
                <a:latin typeface="Arial"/>
                <a:ea typeface="Arial"/>
                <a:cs typeface="Arial"/>
              </a:defRPr>
            </a:lvl1pPr>
            <a:lvl2pPr algn="l">
              <a:defRPr sz="1950" b="1">
                <a:solidFill>
                  <a:srgbClr val="4776C9"/>
                </a:solidFill>
                <a:latin typeface="Arial"/>
                <a:ea typeface="Arial"/>
                <a:cs typeface="Arial"/>
              </a:defRPr>
            </a:lvl2pPr>
            <a:lvl3pPr algn="l">
              <a:defRPr sz="1950" b="1">
                <a:solidFill>
                  <a:srgbClr val="4776C9"/>
                </a:solidFill>
                <a:latin typeface="Arial"/>
                <a:ea typeface="Arial"/>
                <a:cs typeface="Arial"/>
              </a:defRPr>
            </a:lvl3pPr>
            <a:lvl4pPr algn="l">
              <a:defRPr sz="1950" b="1">
                <a:solidFill>
                  <a:srgbClr val="4776C9"/>
                </a:solidFill>
                <a:latin typeface="Arial"/>
                <a:ea typeface="Arial"/>
                <a:cs typeface="Arial"/>
              </a:defRPr>
            </a:lvl4pPr>
            <a:lvl5pPr algn="l">
              <a:defRPr sz="1950" b="1">
                <a:solidFill>
                  <a:srgbClr val="4776C9"/>
                </a:solidFill>
                <a:latin typeface="Arial"/>
                <a:ea typeface="Arial"/>
                <a:cs typeface="Arial"/>
              </a:defRPr>
            </a:lvl5pPr>
            <a:lvl6pPr algn="l">
              <a:defRPr sz="1950" b="1">
                <a:solidFill>
                  <a:srgbClr val="4776C9"/>
                </a:solidFill>
                <a:latin typeface="Arial"/>
                <a:ea typeface="Arial"/>
                <a:cs typeface="Arial"/>
              </a:defRPr>
            </a:lvl6pPr>
            <a:lvl7pPr algn="l">
              <a:defRPr sz="1950" b="1">
                <a:solidFill>
                  <a:srgbClr val="4776C9"/>
                </a:solidFill>
                <a:latin typeface="Arial"/>
                <a:ea typeface="Arial"/>
                <a:cs typeface="Arial"/>
              </a:defRPr>
            </a:lvl7pPr>
            <a:lvl8pPr algn="l">
              <a:defRPr sz="1950" b="1">
                <a:solidFill>
                  <a:srgbClr val="4776C9"/>
                </a:solidFill>
                <a:latin typeface="Arial"/>
                <a:ea typeface="Arial"/>
                <a:cs typeface="Arial"/>
              </a:defRPr>
            </a:lvl8pPr>
            <a:lvl9pPr algn="l">
              <a:defRPr sz="1950" b="1">
                <a:solidFill>
                  <a:srgbClr val="4776C9"/>
                </a:solidFill>
                <a:latin typeface="Arial"/>
                <a:ea typeface="Arial"/>
                <a:cs typeface="Arial"/>
              </a:defRPr>
            </a:lvl9pPr>
          </a:lstStyle>
          <a:p xmlns:a="http://schemas.openxmlformats.org/drawingml/2006/main">
            <a:pPr algn="l">
              <a:defRPr sz="1950" b="1">
                <a:solidFill>
                  <a:srgbClr val="4776C9"/>
                </a:solidFill>
                <a:latin typeface="Arial"/>
                <a:ea typeface="Arial"/>
                <a:cs typeface="Arial"/>
              </a:defRPr>
            </a:pPr>
            <a:r>
              <a:rPr sz="1950" b="1">
                <a:solidFill>
                  <a:srgbClr val="4776C9"/>
                </a:solidFill>
                <a:latin typeface="Arial"/>
                <a:ea typeface="Arial"/>
                <a:cs typeface="Arial"/>
              </a:rPr>
              <a:t>Wider regional bands improve coverage substantially. All four bins remain below 90%.</a:t>
            </a:r>
          </a:p>
        </p:txBody>
      </p:sp>
      <p:sp>
        <p:nvSpPr>
          <p:cNvPr id="6" name="source-line">
            <a:extLst xmlns:a="http://schemas.openxmlformats.org/drawingml/2006/main">
              <a:ext uri="{FF2B5EF4-FFF2-40B4-BE49-F238E27FC236}">
                <a16:creationId xmlns:a16="http://schemas.microsoft.com/office/drawing/2014/main" id="{FC57D9D3-5BAB-466E-8515-AFE36CF8EA86}"/>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score_b_spatial_bins.csv, notebook cell 24</a:t>
            </a:r>
          </a:p>
        </p:txBody>
      </p:sp>
      <p:sp>
        <p:nvSpPr>
          <p:cNvPr id="7" name="slide-number">
            <a:extLst xmlns:a="http://schemas.openxmlformats.org/drawingml/2006/main">
              <a:ext uri="{FF2B5EF4-FFF2-40B4-BE49-F238E27FC236}">
                <a16:creationId xmlns:a16="http://schemas.microsoft.com/office/drawing/2014/main" id="{8DC3CF6C-057A-4F79-897C-8E82C38ADBA3}"/>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29</a:t>
            </a:r>
          </a:p>
        </p:txBody>
      </p:sp>
    </p:spTree>
    <p:extLst>
      <p:ext uri="{BB962C8B-B14F-4D97-AF65-F5344CB8AC3E}">
        <p14:creationId xmlns:p14="http://schemas.microsoft.com/office/powerpoint/2010/main" val="120716787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E5C05EF-62D1-407D-9116-BBF877BEB52B}"/>
              </a:ext>
            </a:extLst>
          </p:cNvPr>
          <p:cNvPicPr>
            <a:picLocks xmlns:a="http://schemas.openxmlformats.org/drawingml/2006/main" noChangeAspect="1"/>
          </p:cNvPicPr>
          <p:nvPr/>
        </p:nvPicPr>
        <p:blipFill>
          <a:blip xmlns:r="http://schemas.openxmlformats.org/officeDocument/2006/relationships" xmlns:a="http://schemas.openxmlformats.org/drawingml/2006/main" r:embed="Rd2ab414b9f0e453c"/>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4ADC3F2D-2EE2-4286-A3C8-7DCE441BCA54}"/>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Backup: endpoint shifts explain the loss</a:t>
            </a:r>
          </a:p>
        </p:txBody>
      </p:sp>
      <p:sp>
        <p:nvSpPr>
          <p:cNvPr id="3" name="Optimisation transition, after the interpolat">
            <a:extLst xmlns:a="http://schemas.openxmlformats.org/drawingml/2006/main">
              <a:ext uri="{FF2B5EF4-FFF2-40B4-BE49-F238E27FC236}">
                <a16:creationId xmlns:a16="http://schemas.microsoft.com/office/drawing/2014/main" id="{9076629E-CD77-477E-A16F-5DB1D6C09EA5}"/>
              </a:ext>
            </a:extLst>
          </p:cNvPr>
          <p:cNvSpPr>
            <a:spLocks xmlns:a="http://schemas.openxmlformats.org/drawingml/2006/main" noGrp="1"/>
          </p:cNvSpPr>
          <p:nvPr/>
        </p:nvSpPr>
        <p:spPr>
          <a:xfrm xmlns:a="http://schemas.openxmlformats.org/drawingml/2006/main">
            <a:off x="523875" y="155257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51515"/>
                </a:solidFill>
                <a:latin typeface="Arial"/>
                <a:ea typeface="Arial"/>
                <a:cs typeface="Arial"/>
              </a:defRPr>
            </a:defPPr>
            <a:lvl1pPr algn="l">
              <a:defRPr sz="2025" b="0">
                <a:solidFill>
                  <a:srgbClr val="151515"/>
                </a:solidFill>
                <a:latin typeface="Arial"/>
                <a:ea typeface="Arial"/>
                <a:cs typeface="Arial"/>
              </a:defRPr>
            </a:lvl1pPr>
            <a:lvl2pPr algn="l">
              <a:defRPr sz="2025" b="0">
                <a:solidFill>
                  <a:srgbClr val="151515"/>
                </a:solidFill>
                <a:latin typeface="Arial"/>
                <a:ea typeface="Arial"/>
                <a:cs typeface="Arial"/>
              </a:defRPr>
            </a:lvl2pPr>
            <a:lvl3pPr algn="l">
              <a:defRPr sz="2025" b="0">
                <a:solidFill>
                  <a:srgbClr val="151515"/>
                </a:solidFill>
                <a:latin typeface="Arial"/>
                <a:ea typeface="Arial"/>
                <a:cs typeface="Arial"/>
              </a:defRPr>
            </a:lvl3pPr>
            <a:lvl4pPr algn="l">
              <a:defRPr sz="2025" b="0">
                <a:solidFill>
                  <a:srgbClr val="151515"/>
                </a:solidFill>
                <a:latin typeface="Arial"/>
                <a:ea typeface="Arial"/>
                <a:cs typeface="Arial"/>
              </a:defRPr>
            </a:lvl4pPr>
            <a:lvl5pPr algn="l">
              <a:defRPr sz="2025" b="0">
                <a:solidFill>
                  <a:srgbClr val="151515"/>
                </a:solidFill>
                <a:latin typeface="Arial"/>
                <a:ea typeface="Arial"/>
                <a:cs typeface="Arial"/>
              </a:defRPr>
            </a:lvl5pPr>
            <a:lvl6pPr algn="l">
              <a:defRPr sz="2025" b="0">
                <a:solidFill>
                  <a:srgbClr val="151515"/>
                </a:solidFill>
                <a:latin typeface="Arial"/>
                <a:ea typeface="Arial"/>
                <a:cs typeface="Arial"/>
              </a:defRPr>
            </a:lvl6pPr>
            <a:lvl7pPr algn="l">
              <a:defRPr sz="2025" b="0">
                <a:solidFill>
                  <a:srgbClr val="151515"/>
                </a:solidFill>
                <a:latin typeface="Arial"/>
                <a:ea typeface="Arial"/>
                <a:cs typeface="Arial"/>
              </a:defRPr>
            </a:lvl7pPr>
            <a:lvl8pPr algn="l">
              <a:defRPr sz="2025" b="0">
                <a:solidFill>
                  <a:srgbClr val="151515"/>
                </a:solidFill>
                <a:latin typeface="Arial"/>
                <a:ea typeface="Arial"/>
                <a:cs typeface="Arial"/>
              </a:defRPr>
            </a:lvl8pPr>
            <a:lvl9pPr algn="l">
              <a:defRPr sz="2025" b="0">
                <a:solidFill>
                  <a:srgbClr val="151515"/>
                </a:solidFill>
                <a:latin typeface="Arial"/>
                <a:ea typeface="Arial"/>
                <a:cs typeface="Arial"/>
              </a:defRPr>
            </a:lvl9pPr>
          </a:lstStyle>
          <a:p xmlns:a="http://schemas.openxmlformats.org/drawingml/2006/main">
            <a:pPr algn="l">
              <a:defRPr sz="2025" b="0">
                <a:solidFill>
                  <a:srgbClr val="151515"/>
                </a:solidFill>
                <a:latin typeface="Arial"/>
                <a:ea typeface="Arial"/>
                <a:cs typeface="Arial"/>
              </a:defRPr>
            </a:pPr>
            <a:r>
              <a:rPr sz="2025" b="0">
                <a:solidFill>
                  <a:srgbClr val="151515"/>
                </a:solidFill>
                <a:latin typeface="Arial"/>
                <a:ea typeface="Arial"/>
                <a:cs typeface="Arial"/>
              </a:rPr>
              <a:t>Optimisation transition, after the interpolation-only round trip</a:t>
            </a:r>
          </a:p>
        </p:txBody>
      </p:sp>
      <p:graphicFrame>
        <p:nvGraphicFramePr>
          <p:cNvPr id="4" name="">
            <a:extLst xmlns:a="http://schemas.openxmlformats.org/drawingml/2006/main">
              <a:ext uri="{FF2B5EF4-FFF2-40B4-BE49-F238E27FC236}">
                <a16:creationId xmlns:a16="http://schemas.microsoft.com/office/drawing/2014/main" id="{550A2129-DA6D-4A24-ACB0-D6CD3AF7C2F1}"/>
              </a:ext>
            </a:extLst>
          </p:cNvPr>
          <p:cNvGraphicFramePr/>
          <p:nvPr/>
        </p:nvGraphicFramePr>
        <p:xfrm>
          <a:off xmlns:a="http://schemas.openxmlformats.org/drawingml/2006/main" x="523875" y="2419350"/>
          <a:ext xmlns:a="http://schemas.openxmlformats.org/drawingml/2006/main" cx="11049000" cy="3000375"/>
        </p:xfrm>
        <a:graphic xmlns:a="http://schemas.openxmlformats.org/drawingml/2006/main">
          <a:graphicData uri="http://schemas.openxmlformats.org/drawingml/2006/table">
            <a:tbl>
              <a:tblPr firstRow="0" bandRow="0"/>
              <a:tblGrid>
                <a:gridCol w="6667500"/>
                <a:gridCol w="2190750"/>
                <a:gridCol w="2190750"/>
              </a:tblGrid>
              <a:tr h="600075">
                <a:tc>
                  <a:txBody>
                    <a:bodyPr lIns="95250" tIns="95250" rIns="95250" bIns="95250">
                      <a:noAutofit/>
                    </a:bodyPr>
                    <a:lstStyle/>
                    <a:p>
                      <a:pPr algn="l"/>
                      <a:r>
                        <a:rPr sz="1875" b="1">
                          <a:solidFill>
                            <a:srgbClr val="4776C9"/>
                          </a:solidFill>
                          <a:latin typeface="Arial"/>
                          <a:ea typeface="Arial"/>
                          <a:cs typeface="Arial"/>
                        </a:rPr>
                        <a:t>Mean absolute endpoint shift in IV</a:t>
                      </a:r>
                    </a:p>
                  </a:txBody>
                  <a:tcPr marL="91440" marR="91440" marT="45720" marB="45720" anchor="ctr">
                    <a:lnL w="9525">
                      <a:solidFill>
                        <a:srgbClr val="D5DCE6"/>
                      </a:solidFill>
                      <a:prstDash val="solid"/>
                    </a:lnL>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Score A</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c>
                  <a:txBody>
                    <a:bodyPr lIns="95250" tIns="95250" rIns="95250" bIns="95250">
                      <a:noAutofit/>
                    </a:bodyPr>
                    <a:lstStyle/>
                    <a:p>
                      <a:pPr algn="ctr"/>
                      <a:r>
                        <a:rPr sz="1875" b="1">
                          <a:solidFill>
                            <a:srgbClr val="4776C9"/>
                          </a:solidFill>
                          <a:latin typeface="Arial"/>
                          <a:ea typeface="Arial"/>
                          <a:cs typeface="Arial"/>
                        </a:rPr>
                        <a:t>Score B</a:t>
                      </a:r>
                    </a:p>
                  </a:txBody>
                  <a:tcPr marL="91440" marR="91440" marT="45720" marB="45720" anchor="ctr">
                    <a:lnR w="9525">
                      <a:solidFill>
                        <a:srgbClr val="D5DCE6"/>
                      </a:solidFill>
                      <a:prstDash val="solid"/>
                    </a:lnR>
                    <a:lnT w="9525">
                      <a:solidFill>
                        <a:srgbClr val="D5DCE6"/>
                      </a:solidFill>
                      <a:prstDash val="solid"/>
                    </a:lnT>
                    <a:lnB w="9525">
                      <a:solidFill>
                        <a:srgbClr val="D5DCE6"/>
                      </a:solidFill>
                      <a:prstDash val="solid"/>
                    </a:lnB>
                    <a:solidFill>
                      <a:srgbClr val="E8EEF9"/>
                    </a:solidFill>
                  </a:tcPr>
                </a:tc>
              </a:tr>
              <a:tr h="600075">
                <a:tc>
                  <a:txBody>
                    <a:bodyPr lIns="95250" tIns="95250" rIns="95250" bIns="95250">
                      <a:noAutofit/>
                    </a:bodyPr>
                    <a:lstStyle/>
                    <a:p>
                      <a:pPr algn="l"/>
                      <a:r>
                        <a:rPr sz="1875" b="0">
                          <a:solidFill>
                            <a:srgbClr val="151515"/>
                          </a:solidFill>
                          <a:latin typeface="Arial"/>
                          <a:ea typeface="Arial"/>
                          <a:cs typeface="Arial"/>
                        </a:rPr>
                        <a:t>Lower endpoint</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0.028729</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0.000995</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00075">
                <a:tc>
                  <a:txBody>
                    <a:bodyPr lIns="95250" tIns="95250" rIns="95250" bIns="95250">
                      <a:noAutofit/>
                    </a:bodyPr>
                    <a:lstStyle/>
                    <a:p>
                      <a:pPr algn="l"/>
                      <a:r>
                        <a:rPr sz="1875" b="0">
                          <a:solidFill>
                            <a:srgbClr val="151515"/>
                          </a:solidFill>
                          <a:latin typeface="Arial"/>
                          <a:ea typeface="Arial"/>
                          <a:cs typeface="Arial"/>
                        </a:rPr>
                        <a:t>Upper endpoint</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0.001284</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0.000869</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00075">
                <a:tc>
                  <a:txBody>
                    <a:bodyPr lIns="95250" tIns="95250" rIns="95250" bIns="95250">
                      <a:noAutofit/>
                    </a:bodyPr>
                    <a:lstStyle/>
                    <a:p>
                      <a:pPr algn="l"/>
                      <a:r>
                        <a:rPr sz="1875" b="0">
                          <a:solidFill>
                            <a:srgbClr val="151515"/>
                          </a:solidFill>
                          <a:latin typeface="Arial"/>
                          <a:ea typeface="Arial"/>
                          <a:cs typeface="Arial"/>
                        </a:rPr>
                        <a:t>GNO containment before optimisation</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99.90%</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99.93%</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r h="600075">
                <a:tc>
                  <a:txBody>
                    <a:bodyPr lIns="95250" tIns="95250" rIns="95250" bIns="95250">
                      <a:noAutofit/>
                    </a:bodyPr>
                    <a:lstStyle/>
                    <a:p>
                      <a:pPr algn="l"/>
                      <a:r>
                        <a:rPr sz="1875" b="0">
                          <a:solidFill>
                            <a:srgbClr val="151515"/>
                          </a:solidFill>
                          <a:latin typeface="Arial"/>
                          <a:ea typeface="Arial"/>
                          <a:cs typeface="Arial"/>
                        </a:rPr>
                        <a:t>GNO containment after optimisation</a:t>
                      </a:r>
                    </a:p>
                  </a:txBody>
                  <a:tcPr marL="91440" marR="91440" marT="45720" marB="45720" anchor="ctr">
                    <a:lnL w="9525">
                      <a:solidFill>
                        <a:srgbClr val="D5DCE6"/>
                      </a:solidFill>
                      <a:prstDash val="solid"/>
                    </a:lnL>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91.03%</a:t>
                      </a:r>
                    </a:p>
                  </a:txBody>
                  <a:tcPr marL="91440" marR="91440" marT="45720" marB="45720" anchor="ctr">
                    <a:lnR w="9525">
                      <a:solidFill>
                        <a:srgbClr val="D5DCE6"/>
                      </a:solidFill>
                      <a:prstDash val="solid"/>
                    </a:lnR>
                    <a:lnB w="9525">
                      <a:solidFill>
                        <a:srgbClr val="D5DCE6"/>
                      </a:solidFill>
                      <a:prstDash val="solid"/>
                    </a:lnB>
                    <a:solidFill>
                      <a:srgbClr val="FFFFFF"/>
                    </a:solidFill>
                  </a:tcPr>
                </a:tc>
                <a:tc>
                  <a:txBody>
                    <a:bodyPr lIns="95250" tIns="95250" rIns="95250" bIns="95250">
                      <a:noAutofit/>
                    </a:bodyPr>
                    <a:lstStyle/>
                    <a:p>
                      <a:pPr algn="ctr"/>
                      <a:r>
                        <a:rPr sz="1875" b="0">
                          <a:solidFill>
                            <a:srgbClr val="151515"/>
                          </a:solidFill>
                          <a:latin typeface="Arial"/>
                          <a:ea typeface="Arial"/>
                          <a:cs typeface="Arial"/>
                        </a:rPr>
                        <a:t>99.85%</a:t>
                      </a:r>
                    </a:p>
                  </a:txBody>
                  <a:tcPr marL="91440" marR="91440" marT="45720" marB="45720" anchor="ctr">
                    <a:lnR w="9525">
                      <a:solidFill>
                        <a:srgbClr val="D5DCE6"/>
                      </a:solidFill>
                      <a:prstDash val="solid"/>
                    </a:lnR>
                    <a:lnB w="9525">
                      <a:solidFill>
                        <a:srgbClr val="D5DCE6"/>
                      </a:solidFill>
                      <a:prstDash val="solid"/>
                    </a:lnB>
                    <a:solidFill>
                      <a:srgbClr val="FFFFFF"/>
                    </a:solidFill>
                  </a:tcPr>
                </a:tc>
              </a:tr>
            </a:tbl>
          </a:graphicData>
        </a:graphic>
      </p:graphicFrame>
      <p:sp>
        <p:nvSpPr>
          <p:cNvPr id="5" name="Score A loses 6,116 covered market quotes and">
            <a:extLst xmlns:a="http://schemas.openxmlformats.org/drawingml/2006/main">
              <a:ext uri="{FF2B5EF4-FFF2-40B4-BE49-F238E27FC236}">
                <a16:creationId xmlns:a16="http://schemas.microsoft.com/office/drawing/2014/main" id="{C54F82FF-476C-494B-BA28-5A57EF60ACEA}"/>
              </a:ext>
            </a:extLst>
          </p:cNvPr>
          <p:cNvSpPr>
            <a:spLocks xmlns:a="http://schemas.openxmlformats.org/drawingml/2006/main" noGrp="1"/>
          </p:cNvSpPr>
          <p:nvPr/>
        </p:nvSpPr>
        <p:spPr>
          <a:xfrm xmlns:a="http://schemas.openxmlformats.org/drawingml/2006/main">
            <a:off x="523875" y="5848350"/>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4776C9"/>
                </a:solidFill>
                <a:latin typeface="Arial"/>
                <a:ea typeface="Arial"/>
                <a:cs typeface="Arial"/>
              </a:defRPr>
            </a:defPPr>
            <a:lvl1pPr algn="l">
              <a:defRPr sz="1950" b="1">
                <a:solidFill>
                  <a:srgbClr val="4776C9"/>
                </a:solidFill>
                <a:latin typeface="Arial"/>
                <a:ea typeface="Arial"/>
                <a:cs typeface="Arial"/>
              </a:defRPr>
            </a:lvl1pPr>
            <a:lvl2pPr algn="l">
              <a:defRPr sz="1950" b="1">
                <a:solidFill>
                  <a:srgbClr val="4776C9"/>
                </a:solidFill>
                <a:latin typeface="Arial"/>
                <a:ea typeface="Arial"/>
                <a:cs typeface="Arial"/>
              </a:defRPr>
            </a:lvl2pPr>
            <a:lvl3pPr algn="l">
              <a:defRPr sz="1950" b="1">
                <a:solidFill>
                  <a:srgbClr val="4776C9"/>
                </a:solidFill>
                <a:latin typeface="Arial"/>
                <a:ea typeface="Arial"/>
                <a:cs typeface="Arial"/>
              </a:defRPr>
            </a:lvl3pPr>
            <a:lvl4pPr algn="l">
              <a:defRPr sz="1950" b="1">
                <a:solidFill>
                  <a:srgbClr val="4776C9"/>
                </a:solidFill>
                <a:latin typeface="Arial"/>
                <a:ea typeface="Arial"/>
                <a:cs typeface="Arial"/>
              </a:defRPr>
            </a:lvl4pPr>
            <a:lvl5pPr algn="l">
              <a:defRPr sz="1950" b="1">
                <a:solidFill>
                  <a:srgbClr val="4776C9"/>
                </a:solidFill>
                <a:latin typeface="Arial"/>
                <a:ea typeface="Arial"/>
                <a:cs typeface="Arial"/>
              </a:defRPr>
            </a:lvl5pPr>
            <a:lvl6pPr algn="l">
              <a:defRPr sz="1950" b="1">
                <a:solidFill>
                  <a:srgbClr val="4776C9"/>
                </a:solidFill>
                <a:latin typeface="Arial"/>
                <a:ea typeface="Arial"/>
                <a:cs typeface="Arial"/>
              </a:defRPr>
            </a:lvl6pPr>
            <a:lvl7pPr algn="l">
              <a:defRPr sz="1950" b="1">
                <a:solidFill>
                  <a:srgbClr val="4776C9"/>
                </a:solidFill>
                <a:latin typeface="Arial"/>
                <a:ea typeface="Arial"/>
                <a:cs typeface="Arial"/>
              </a:defRPr>
            </a:lvl7pPr>
            <a:lvl8pPr algn="l">
              <a:defRPr sz="1950" b="1">
                <a:solidFill>
                  <a:srgbClr val="4776C9"/>
                </a:solidFill>
                <a:latin typeface="Arial"/>
                <a:ea typeface="Arial"/>
                <a:cs typeface="Arial"/>
              </a:defRPr>
            </a:lvl8pPr>
            <a:lvl9pPr algn="l">
              <a:defRPr sz="1950" b="1">
                <a:solidFill>
                  <a:srgbClr val="4776C9"/>
                </a:solidFill>
                <a:latin typeface="Arial"/>
                <a:ea typeface="Arial"/>
                <a:cs typeface="Arial"/>
              </a:defRPr>
            </a:lvl9pPr>
          </a:lstStyle>
          <a:p xmlns:a="http://schemas.openxmlformats.org/drawingml/2006/main">
            <a:pPr algn="l">
              <a:defRPr sz="1950" b="1">
                <a:solidFill>
                  <a:srgbClr val="4776C9"/>
                </a:solidFill>
                <a:latin typeface="Arial"/>
                <a:ea typeface="Arial"/>
                <a:cs typeface="Arial"/>
              </a:defRPr>
            </a:pPr>
            <a:r>
              <a:rPr sz="1950" b="1">
                <a:solidFill>
                  <a:srgbClr val="4776C9"/>
                </a:solidFill>
                <a:latin typeface="Arial"/>
                <a:ea typeface="Arial"/>
                <a:cs typeface="Arial"/>
              </a:rPr>
              <a:t>Score A loses 6,116 covered market quotes and gains 1,349 during optimisation.</a:t>
            </a:r>
          </a:p>
        </p:txBody>
      </p:sp>
      <p:sp>
        <p:nvSpPr>
          <p:cNvPr id="6" name="source-line">
            <a:extLst xmlns:a="http://schemas.openxmlformats.org/drawingml/2006/main">
              <a:ext uri="{FF2B5EF4-FFF2-40B4-BE49-F238E27FC236}">
                <a16:creationId xmlns:a16="http://schemas.microsoft.com/office/drawing/2014/main" id="{FCAAF927-04A4-4F15-92B6-F3380D98E4C7}"/>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notebook PROJECTION_STAGES_JSON and PROJECTION_MOVEMENTS_JSON</a:t>
            </a:r>
          </a:p>
        </p:txBody>
      </p:sp>
      <p:sp>
        <p:nvSpPr>
          <p:cNvPr id="7" name="slide-number">
            <a:extLst xmlns:a="http://schemas.openxmlformats.org/drawingml/2006/main">
              <a:ext uri="{FF2B5EF4-FFF2-40B4-BE49-F238E27FC236}">
                <a16:creationId xmlns:a16="http://schemas.microsoft.com/office/drawing/2014/main" id="{6C6DE912-9E81-459A-9884-B8F3404EA832}"/>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30</a:t>
            </a:r>
          </a:p>
        </p:txBody>
      </p:sp>
    </p:spTree>
    <p:extLst>
      <p:ext uri="{BB962C8B-B14F-4D97-AF65-F5344CB8AC3E}">
        <p14:creationId xmlns:p14="http://schemas.microsoft.com/office/powerpoint/2010/main" val="153502788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1246731-FC26-4E95-AC5B-24C9453418D8}"/>
              </a:ext>
            </a:extLst>
          </p:cNvPr>
          <p:cNvPicPr>
            <a:picLocks xmlns:a="http://schemas.openxmlformats.org/drawingml/2006/main" noChangeAspect="1"/>
          </p:cNvPicPr>
          <p:nvPr/>
        </p:nvPicPr>
        <p:blipFill>
          <a:blip xmlns:r="http://schemas.openxmlformats.org/officeDocument/2006/relationships" xmlns:a="http://schemas.openxmlformats.org/drawingml/2006/main" r:embed="R9d390c31d6c047ee"/>
          <a:stretch xmlns:a="http://schemas.openxmlformats.org/drawingml/2006/main"/>
        </p:blipFill>
        <p:spPr>
          <a:xfrm xmlns:a="http://schemas.openxmlformats.org/drawingml/2006/main">
            <a:off x="9620250" y="194050"/>
            <a:ext cx="2333625" cy="945399"/>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FEA427F2-94CA-4E75-8E4A-C25472CA3010}"/>
              </a:ext>
            </a:extLst>
          </p:cNvPr>
          <p:cNvSpPr>
            <a:spLocks xmlns:a="http://schemas.openxmlformats.org/drawingml/2006/main" noGrp="1"/>
          </p:cNvSpPr>
          <p:nvPr/>
        </p:nvSpPr>
        <p:spPr>
          <a:xfrm xmlns:a="http://schemas.openxmlformats.org/drawingml/2006/main">
            <a:off x="361950" y="628650"/>
            <a:ext cx="895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4776C9"/>
                </a:solidFill>
                <a:latin typeface="Arial"/>
                <a:ea typeface="Arial"/>
                <a:cs typeface="Arial"/>
              </a:defRPr>
            </a:defPPr>
            <a:lvl1pPr algn="l">
              <a:defRPr sz="2925" b="1">
                <a:solidFill>
                  <a:srgbClr val="4776C9"/>
                </a:solidFill>
                <a:latin typeface="Arial"/>
                <a:ea typeface="Arial"/>
                <a:cs typeface="Arial"/>
              </a:defRPr>
            </a:lvl1pPr>
            <a:lvl2pPr algn="l">
              <a:defRPr sz="2925" b="1">
                <a:solidFill>
                  <a:srgbClr val="4776C9"/>
                </a:solidFill>
                <a:latin typeface="Arial"/>
                <a:ea typeface="Arial"/>
                <a:cs typeface="Arial"/>
              </a:defRPr>
            </a:lvl2pPr>
            <a:lvl3pPr algn="l">
              <a:defRPr sz="2925" b="1">
                <a:solidFill>
                  <a:srgbClr val="4776C9"/>
                </a:solidFill>
                <a:latin typeface="Arial"/>
                <a:ea typeface="Arial"/>
                <a:cs typeface="Arial"/>
              </a:defRPr>
            </a:lvl3pPr>
            <a:lvl4pPr algn="l">
              <a:defRPr sz="2925" b="1">
                <a:solidFill>
                  <a:srgbClr val="4776C9"/>
                </a:solidFill>
                <a:latin typeface="Arial"/>
                <a:ea typeface="Arial"/>
                <a:cs typeface="Arial"/>
              </a:defRPr>
            </a:lvl4pPr>
            <a:lvl5pPr algn="l">
              <a:defRPr sz="2925" b="1">
                <a:solidFill>
                  <a:srgbClr val="4776C9"/>
                </a:solidFill>
                <a:latin typeface="Arial"/>
                <a:ea typeface="Arial"/>
                <a:cs typeface="Arial"/>
              </a:defRPr>
            </a:lvl5pPr>
            <a:lvl6pPr algn="l">
              <a:defRPr sz="2925" b="1">
                <a:solidFill>
                  <a:srgbClr val="4776C9"/>
                </a:solidFill>
                <a:latin typeface="Arial"/>
                <a:ea typeface="Arial"/>
                <a:cs typeface="Arial"/>
              </a:defRPr>
            </a:lvl6pPr>
            <a:lvl7pPr algn="l">
              <a:defRPr sz="2925" b="1">
                <a:solidFill>
                  <a:srgbClr val="4776C9"/>
                </a:solidFill>
                <a:latin typeface="Arial"/>
                <a:ea typeface="Arial"/>
                <a:cs typeface="Arial"/>
              </a:defRPr>
            </a:lvl7pPr>
            <a:lvl8pPr algn="l">
              <a:defRPr sz="2925" b="1">
                <a:solidFill>
                  <a:srgbClr val="4776C9"/>
                </a:solidFill>
                <a:latin typeface="Arial"/>
                <a:ea typeface="Arial"/>
                <a:cs typeface="Arial"/>
              </a:defRPr>
            </a:lvl8pPr>
            <a:lvl9pPr algn="l">
              <a:defRPr sz="2925" b="1">
                <a:solidFill>
                  <a:srgbClr val="4776C9"/>
                </a:solidFill>
                <a:latin typeface="Arial"/>
                <a:ea typeface="Arial"/>
                <a:cs typeface="Arial"/>
              </a:defRPr>
            </a:lvl9pPr>
          </a:lstStyle>
          <a:p xmlns:a="http://schemas.openxmlformats.org/drawingml/2006/main">
            <a:pPr algn="l">
              <a:defRPr sz="2925" b="1">
                <a:solidFill>
                  <a:srgbClr val="4776C9"/>
                </a:solidFill>
                <a:latin typeface="Arial"/>
                <a:ea typeface="Arial"/>
                <a:cs typeface="Arial"/>
              </a:defRPr>
            </a:pPr>
            <a:r>
              <a:rPr sz="2925" b="1">
                <a:solidFill>
                  <a:srgbClr val="4776C9"/>
                </a:solidFill>
                <a:latin typeface="Arial"/>
                <a:ea typeface="Arial"/>
                <a:cs typeface="Arial"/>
              </a:rPr>
              <a:t>Backup: metrics and numerical summaries</a:t>
            </a:r>
          </a:p>
        </p:txBody>
      </p:sp>
      <p:sp>
        <p:nvSpPr>
          <p:cNvPr id="3" name="">
            <a:extLst xmlns:a="http://schemas.openxmlformats.org/drawingml/2006/main">
              <a:ext uri="{FF2B5EF4-FFF2-40B4-BE49-F238E27FC236}">
                <a16:creationId xmlns:a16="http://schemas.microsoft.com/office/drawing/2014/main" id="{A887F4BB-961D-4FCC-A3CF-4D01C48C9009}"/>
              </a:ext>
            </a:extLst>
          </p:cNvPr>
          <p:cNvSpPr>
            <a:spLocks xmlns:a="http://schemas.openxmlformats.org/drawingml/2006/main" noGrp="1"/>
          </p:cNvSpPr>
          <p:nvPr/>
        </p:nvSpPr>
        <p:spPr>
          <a:xfrm xmlns:a="http://schemas.openxmlformats.org/drawingml/2006/main">
            <a:off x="523875" y="1619250"/>
            <a:ext cx="110490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51515"/>
                </a:solidFill>
                <a:latin typeface="Arial"/>
                <a:ea typeface="Arial"/>
                <a:cs typeface="Arial"/>
              </a:defRPr>
            </a:defPPr>
            <a:lvl1pPr algn="l">
              <a:defRPr sz="1950" b="0">
                <a:solidFill>
                  <a:srgbClr val="151515"/>
                </a:solidFill>
                <a:latin typeface="Arial"/>
                <a:ea typeface="Arial"/>
                <a:cs typeface="Arial"/>
              </a:defRPr>
            </a:lvl1pPr>
            <a:lvl2pPr algn="l">
              <a:defRPr sz="1950" b="0">
                <a:solidFill>
                  <a:srgbClr val="151515"/>
                </a:solidFill>
                <a:latin typeface="Arial"/>
                <a:ea typeface="Arial"/>
                <a:cs typeface="Arial"/>
              </a:defRPr>
            </a:lvl2pPr>
            <a:lvl3pPr algn="l">
              <a:defRPr sz="1950" b="0">
                <a:solidFill>
                  <a:srgbClr val="151515"/>
                </a:solidFill>
                <a:latin typeface="Arial"/>
                <a:ea typeface="Arial"/>
                <a:cs typeface="Arial"/>
              </a:defRPr>
            </a:lvl3pPr>
            <a:lvl4pPr algn="l">
              <a:defRPr sz="1950" b="0">
                <a:solidFill>
                  <a:srgbClr val="151515"/>
                </a:solidFill>
                <a:latin typeface="Arial"/>
                <a:ea typeface="Arial"/>
                <a:cs typeface="Arial"/>
              </a:defRPr>
            </a:lvl4pPr>
            <a:lvl5pPr algn="l">
              <a:defRPr sz="1950" b="0">
                <a:solidFill>
                  <a:srgbClr val="151515"/>
                </a:solidFill>
                <a:latin typeface="Arial"/>
                <a:ea typeface="Arial"/>
                <a:cs typeface="Arial"/>
              </a:defRPr>
            </a:lvl5pPr>
            <a:lvl6pPr algn="l">
              <a:defRPr sz="1950" b="0">
                <a:solidFill>
                  <a:srgbClr val="151515"/>
                </a:solidFill>
                <a:latin typeface="Arial"/>
                <a:ea typeface="Arial"/>
                <a:cs typeface="Arial"/>
              </a:defRPr>
            </a:lvl6pPr>
            <a:lvl7pPr algn="l">
              <a:defRPr sz="1950" b="0">
                <a:solidFill>
                  <a:srgbClr val="151515"/>
                </a:solidFill>
                <a:latin typeface="Arial"/>
                <a:ea typeface="Arial"/>
                <a:cs typeface="Arial"/>
              </a:defRPr>
            </a:lvl7pPr>
            <a:lvl8pPr algn="l">
              <a:defRPr sz="1950" b="0">
                <a:solidFill>
                  <a:srgbClr val="151515"/>
                </a:solidFill>
                <a:latin typeface="Arial"/>
                <a:ea typeface="Arial"/>
                <a:cs typeface="Arial"/>
              </a:defRPr>
            </a:lvl8pPr>
            <a:lvl9pPr algn="l">
              <a:defRPr sz="1950" b="0">
                <a:solidFill>
                  <a:srgbClr val="151515"/>
                </a:solidFill>
                <a:latin typeface="Arial"/>
                <a:ea typeface="Arial"/>
                <a:cs typeface="Arial"/>
              </a:defRPr>
            </a:lvl9pPr>
          </a:lstStyle>
          <a:p xmlns:a="http://schemas.openxmlformats.org/drawingml/2006/main">
            <a:pPr marL="317500" indent="-165100" algn="l">
              <a:spcAft>
                <a:spcPts val="1200"/>
              </a:spcAft>
              <a:buChar char="•"/>
              <a:defRPr sz="1950" b="0">
                <a:solidFill>
                  <a:srgbClr val="151515"/>
                </a:solidFill>
                <a:latin typeface="Arial"/>
                <a:ea typeface="Arial"/>
                <a:cs typeface="Arial"/>
              </a:defRPr>
            </a:pPr>
            <a:r>
              <a:rPr sz="1950">
                <a:solidFill>
                  <a:srgbClr val="151515"/>
                </a:solidFill>
                <a:latin typeface="Arial"/>
                <a:ea typeface="Arial"/>
                <a:cs typeface="Arial"/>
              </a:rPr>
              <a:t>Coverage: fraction of target IVs inside the band, computed per surface and then averaged.</a:t>
            </a:r>
          </a:p>
          <a:p xmlns:a="http://schemas.openxmlformats.org/drawingml/2006/main">
            <a:pPr marL="317500" indent="-165100" algn="l">
              <a:spcAft>
                <a:spcPts val="1200"/>
              </a:spcAft>
              <a:buChar char="•"/>
              <a:defRPr sz="1950" b="0">
                <a:solidFill>
                  <a:srgbClr val="151515"/>
                </a:solidFill>
                <a:latin typeface="Arial"/>
                <a:ea typeface="Arial"/>
                <a:cs typeface="Arial"/>
              </a:defRPr>
            </a:pPr>
            <a:r>
              <a:rPr sz="1950">
                <a:solidFill>
                  <a:srgbClr val="151515"/>
                </a:solidFill>
                <a:latin typeface="Arial"/>
                <a:ea typeface="Arial"/>
                <a:cs typeface="Arial"/>
              </a:rPr>
              <a:t>Mean width: upper IV minus lower IV, with the same equal-surface averaging.</a:t>
            </a:r>
          </a:p>
          <a:p xmlns:a="http://schemas.openxmlformats.org/drawingml/2006/main">
            <a:pPr marL="317500" indent="-165100" algn="l">
              <a:spcAft>
                <a:spcPts val="1200"/>
              </a:spcAft>
              <a:buChar char="•"/>
              <a:defRPr sz="1950" b="0">
                <a:solidFill>
                  <a:srgbClr val="151515"/>
                </a:solidFill>
                <a:latin typeface="Arial"/>
                <a:ea typeface="Arial"/>
                <a:cs typeface="Arial"/>
              </a:defRPr>
            </a:pPr>
            <a:r>
              <a:rPr sz="1950">
                <a:solidFill>
                  <a:srgbClr val="151515"/>
                </a:solidFill>
                <a:latin typeface="Arial"/>
                <a:ea typeface="Arial"/>
                <a:cs typeface="Arial"/>
              </a:rPr>
              <a:t>95% surface bootstrap interval for Score B final coverage: 92.20% to 93.54%.</a:t>
            </a:r>
          </a:p>
          <a:p xmlns:a="http://schemas.openxmlformats.org/drawingml/2006/main">
            <a:pPr marL="317500" indent="-165100" algn="l">
              <a:spcAft>
                <a:spcPts val="1200"/>
              </a:spcAft>
              <a:buChar char="•"/>
              <a:defRPr sz="1950" b="0">
                <a:solidFill>
                  <a:srgbClr val="151515"/>
                </a:solidFill>
                <a:latin typeface="Arial"/>
                <a:ea typeface="Arial"/>
                <a:cs typeface="Arial"/>
              </a:defRPr>
            </a:pPr>
            <a:r>
              <a:rPr sz="1950">
                <a:solidFill>
                  <a:srgbClr val="151515"/>
                </a:solidFill>
                <a:latin typeface="Arial"/>
                <a:ea typeface="Arial"/>
                <a:cs typeface="Arial"/>
              </a:rPr>
              <a:t>The bootstrap resamples 31 whole surfaces independently, with 2,000 resamples.</a:t>
            </a:r>
          </a:p>
        </p:txBody>
      </p:sp>
      <p:sp>
        <p:nvSpPr>
          <p:cNvPr id="4" name="Score A width increase: 9.88% as the mean of ">
            <a:extLst xmlns:a="http://schemas.openxmlformats.org/drawingml/2006/main">
              <a:ext uri="{FF2B5EF4-FFF2-40B4-BE49-F238E27FC236}">
                <a16:creationId xmlns:a16="http://schemas.microsoft.com/office/drawing/2014/main" id="{0C63E575-0B1F-420F-8D84-3680A8F90E1C}"/>
              </a:ext>
            </a:extLst>
          </p:cNvPr>
          <p:cNvSpPr>
            <a:spLocks xmlns:a="http://schemas.openxmlformats.org/drawingml/2006/main" noGrp="1"/>
          </p:cNvSpPr>
          <p:nvPr/>
        </p:nvSpPr>
        <p:spPr>
          <a:xfrm xmlns:a="http://schemas.openxmlformats.org/drawingml/2006/main">
            <a:off x="523875" y="517207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4776C9"/>
                </a:solidFill>
                <a:latin typeface="Arial"/>
                <a:ea typeface="Arial"/>
                <a:cs typeface="Arial"/>
              </a:defRPr>
            </a:defPPr>
            <a:lvl1pPr algn="l">
              <a:defRPr sz="1875" b="1">
                <a:solidFill>
                  <a:srgbClr val="4776C9"/>
                </a:solidFill>
                <a:latin typeface="Arial"/>
                <a:ea typeface="Arial"/>
                <a:cs typeface="Arial"/>
              </a:defRPr>
            </a:lvl1pPr>
            <a:lvl2pPr algn="l">
              <a:defRPr sz="1875" b="1">
                <a:solidFill>
                  <a:srgbClr val="4776C9"/>
                </a:solidFill>
                <a:latin typeface="Arial"/>
                <a:ea typeface="Arial"/>
                <a:cs typeface="Arial"/>
              </a:defRPr>
            </a:lvl2pPr>
            <a:lvl3pPr algn="l">
              <a:defRPr sz="1875" b="1">
                <a:solidFill>
                  <a:srgbClr val="4776C9"/>
                </a:solidFill>
                <a:latin typeface="Arial"/>
                <a:ea typeface="Arial"/>
                <a:cs typeface="Arial"/>
              </a:defRPr>
            </a:lvl3pPr>
            <a:lvl4pPr algn="l">
              <a:defRPr sz="1875" b="1">
                <a:solidFill>
                  <a:srgbClr val="4776C9"/>
                </a:solidFill>
                <a:latin typeface="Arial"/>
                <a:ea typeface="Arial"/>
                <a:cs typeface="Arial"/>
              </a:defRPr>
            </a:lvl4pPr>
            <a:lvl5pPr algn="l">
              <a:defRPr sz="1875" b="1">
                <a:solidFill>
                  <a:srgbClr val="4776C9"/>
                </a:solidFill>
                <a:latin typeface="Arial"/>
                <a:ea typeface="Arial"/>
                <a:cs typeface="Arial"/>
              </a:defRPr>
            </a:lvl5pPr>
            <a:lvl6pPr algn="l">
              <a:defRPr sz="1875" b="1">
                <a:solidFill>
                  <a:srgbClr val="4776C9"/>
                </a:solidFill>
                <a:latin typeface="Arial"/>
                <a:ea typeface="Arial"/>
                <a:cs typeface="Arial"/>
              </a:defRPr>
            </a:lvl6pPr>
            <a:lvl7pPr algn="l">
              <a:defRPr sz="1875" b="1">
                <a:solidFill>
                  <a:srgbClr val="4776C9"/>
                </a:solidFill>
                <a:latin typeface="Arial"/>
                <a:ea typeface="Arial"/>
                <a:cs typeface="Arial"/>
              </a:defRPr>
            </a:lvl7pPr>
            <a:lvl8pPr algn="l">
              <a:defRPr sz="1875" b="1">
                <a:solidFill>
                  <a:srgbClr val="4776C9"/>
                </a:solidFill>
                <a:latin typeface="Arial"/>
                <a:ea typeface="Arial"/>
                <a:cs typeface="Arial"/>
              </a:defRPr>
            </a:lvl8pPr>
            <a:lvl9pPr algn="l">
              <a:defRPr sz="1875" b="1">
                <a:solidFill>
                  <a:srgbClr val="4776C9"/>
                </a:solidFill>
                <a:latin typeface="Arial"/>
                <a:ea typeface="Arial"/>
                <a:cs typeface="Arial"/>
              </a:defRPr>
            </a:lvl9pPr>
          </a:lstStyle>
          <a:p xmlns:a="http://schemas.openxmlformats.org/drawingml/2006/main">
            <a:pPr algn="l">
              <a:defRPr sz="1875" b="1">
                <a:solidFill>
                  <a:srgbClr val="4776C9"/>
                </a:solidFill>
                <a:latin typeface="Arial"/>
                <a:ea typeface="Arial"/>
                <a:cs typeface="Arial"/>
              </a:defRPr>
            </a:pPr>
            <a:r>
              <a:rPr sz="1875" b="1">
                <a:solidFill>
                  <a:srgbClr val="4776C9"/>
                </a:solidFill>
                <a:latin typeface="Arial"/>
                <a:ea typeface="Arial"/>
                <a:cs typeface="Arial"/>
              </a:rPr>
              <a:t>Score A width increase: 9.88% as the mean of per-surface percentages.</a:t>
            </a:r>
          </a:p>
        </p:txBody>
      </p:sp>
      <p:sp>
        <p:nvSpPr>
          <p:cNvPr id="5" name="The ratio of mean widths gives 11.53%. These ">
            <a:extLst xmlns:a="http://schemas.openxmlformats.org/drawingml/2006/main">
              <a:ext uri="{FF2B5EF4-FFF2-40B4-BE49-F238E27FC236}">
                <a16:creationId xmlns:a16="http://schemas.microsoft.com/office/drawing/2014/main" id="{7E5BCE05-C9D9-44EB-9890-9B379B6DD3D5}"/>
              </a:ext>
            </a:extLst>
          </p:cNvPr>
          <p:cNvSpPr>
            <a:spLocks xmlns:a="http://schemas.openxmlformats.org/drawingml/2006/main" noGrp="1"/>
          </p:cNvSpPr>
          <p:nvPr/>
        </p:nvSpPr>
        <p:spPr>
          <a:xfrm xmlns:a="http://schemas.openxmlformats.org/drawingml/2006/main">
            <a:off x="523875" y="5743575"/>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51515"/>
                </a:solidFill>
                <a:latin typeface="Arial"/>
                <a:ea typeface="Arial"/>
                <a:cs typeface="Arial"/>
              </a:defRPr>
            </a:defPPr>
            <a:lvl1pPr algn="l">
              <a:defRPr sz="1875" b="0">
                <a:solidFill>
                  <a:srgbClr val="151515"/>
                </a:solidFill>
                <a:latin typeface="Arial"/>
                <a:ea typeface="Arial"/>
                <a:cs typeface="Arial"/>
              </a:defRPr>
            </a:lvl1pPr>
            <a:lvl2pPr algn="l">
              <a:defRPr sz="1875" b="0">
                <a:solidFill>
                  <a:srgbClr val="151515"/>
                </a:solidFill>
                <a:latin typeface="Arial"/>
                <a:ea typeface="Arial"/>
                <a:cs typeface="Arial"/>
              </a:defRPr>
            </a:lvl2pPr>
            <a:lvl3pPr algn="l">
              <a:defRPr sz="1875" b="0">
                <a:solidFill>
                  <a:srgbClr val="151515"/>
                </a:solidFill>
                <a:latin typeface="Arial"/>
                <a:ea typeface="Arial"/>
                <a:cs typeface="Arial"/>
              </a:defRPr>
            </a:lvl3pPr>
            <a:lvl4pPr algn="l">
              <a:defRPr sz="1875" b="0">
                <a:solidFill>
                  <a:srgbClr val="151515"/>
                </a:solidFill>
                <a:latin typeface="Arial"/>
                <a:ea typeface="Arial"/>
                <a:cs typeface="Arial"/>
              </a:defRPr>
            </a:lvl4pPr>
            <a:lvl5pPr algn="l">
              <a:defRPr sz="1875" b="0">
                <a:solidFill>
                  <a:srgbClr val="151515"/>
                </a:solidFill>
                <a:latin typeface="Arial"/>
                <a:ea typeface="Arial"/>
                <a:cs typeface="Arial"/>
              </a:defRPr>
            </a:lvl5pPr>
            <a:lvl6pPr algn="l">
              <a:defRPr sz="1875" b="0">
                <a:solidFill>
                  <a:srgbClr val="151515"/>
                </a:solidFill>
                <a:latin typeface="Arial"/>
                <a:ea typeface="Arial"/>
                <a:cs typeface="Arial"/>
              </a:defRPr>
            </a:lvl6pPr>
            <a:lvl7pPr algn="l">
              <a:defRPr sz="1875" b="0">
                <a:solidFill>
                  <a:srgbClr val="151515"/>
                </a:solidFill>
                <a:latin typeface="Arial"/>
                <a:ea typeface="Arial"/>
                <a:cs typeface="Arial"/>
              </a:defRPr>
            </a:lvl7pPr>
            <a:lvl8pPr algn="l">
              <a:defRPr sz="1875" b="0">
                <a:solidFill>
                  <a:srgbClr val="151515"/>
                </a:solidFill>
                <a:latin typeface="Arial"/>
                <a:ea typeface="Arial"/>
                <a:cs typeface="Arial"/>
              </a:defRPr>
            </a:lvl8pPr>
            <a:lvl9pPr algn="l">
              <a:defRPr sz="1875" b="0">
                <a:solidFill>
                  <a:srgbClr val="151515"/>
                </a:solidFill>
                <a:latin typeface="Arial"/>
                <a:ea typeface="Arial"/>
                <a:cs typeface="Arial"/>
              </a:defRPr>
            </a:lvl9pPr>
          </a:lstStyle>
          <a:p xmlns:a="http://schemas.openxmlformats.org/drawingml/2006/main">
            <a:pPr algn="l">
              <a:defRPr sz="1875" b="0">
                <a:solidFill>
                  <a:srgbClr val="151515"/>
                </a:solidFill>
                <a:latin typeface="Arial"/>
                <a:ea typeface="Arial"/>
                <a:cs typeface="Arial"/>
              </a:defRPr>
            </a:pPr>
            <a:r>
              <a:rPr sz="1875" b="0">
                <a:solidFill>
                  <a:srgbClr val="151515"/>
                </a:solidFill>
                <a:latin typeface="Arial"/>
                <a:ea typeface="Arial"/>
                <a:cs typeface="Arial"/>
              </a:rPr>
              <a:t>The ratio of mean widths gives 11.53%. These are different summaries.</a:t>
            </a:r>
          </a:p>
        </p:txBody>
      </p:sp>
      <p:sp>
        <p:nvSpPr>
          <p:cNvPr id="6" name="source-line">
            <a:extLst xmlns:a="http://schemas.openxmlformats.org/drawingml/2006/main">
              <a:ext uri="{FF2B5EF4-FFF2-40B4-BE49-F238E27FC236}">
                <a16:creationId xmlns:a16="http://schemas.microsoft.com/office/drawing/2014/main" id="{0A3096D5-F8E3-4AA6-85D5-23A05960B4C3}"/>
              </a:ext>
            </a:extLst>
          </p:cNvPr>
          <p:cNvSpPr>
            <a:spLocks xmlns:a="http://schemas.openxmlformats.org/drawingml/2006/main" noGrp="1"/>
          </p:cNvSpPr>
          <p:nvPr/>
        </p:nvSpPr>
        <p:spPr>
          <a:xfrm xmlns:a="http://schemas.openxmlformats.org/drawingml/2006/main">
            <a:off x="400050" y="6591300"/>
            <a:ext cx="1104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505050"/>
                </a:solidFill>
                <a:latin typeface="Arial"/>
                <a:ea typeface="Arial"/>
                <a:cs typeface="Arial"/>
              </a:defRPr>
            </a:defPPr>
            <a:lvl1pPr algn="l">
              <a:defRPr sz="1125" b="0">
                <a:solidFill>
                  <a:srgbClr val="505050"/>
                </a:solidFill>
                <a:latin typeface="Arial"/>
                <a:ea typeface="Arial"/>
                <a:cs typeface="Arial"/>
              </a:defRPr>
            </a:lvl1pPr>
            <a:lvl2pPr algn="l">
              <a:defRPr sz="1125" b="0">
                <a:solidFill>
                  <a:srgbClr val="505050"/>
                </a:solidFill>
                <a:latin typeface="Arial"/>
                <a:ea typeface="Arial"/>
                <a:cs typeface="Arial"/>
              </a:defRPr>
            </a:lvl2pPr>
            <a:lvl3pPr algn="l">
              <a:defRPr sz="1125" b="0">
                <a:solidFill>
                  <a:srgbClr val="505050"/>
                </a:solidFill>
                <a:latin typeface="Arial"/>
                <a:ea typeface="Arial"/>
                <a:cs typeface="Arial"/>
              </a:defRPr>
            </a:lvl3pPr>
            <a:lvl4pPr algn="l">
              <a:defRPr sz="1125" b="0">
                <a:solidFill>
                  <a:srgbClr val="505050"/>
                </a:solidFill>
                <a:latin typeface="Arial"/>
                <a:ea typeface="Arial"/>
                <a:cs typeface="Arial"/>
              </a:defRPr>
            </a:lvl4pPr>
            <a:lvl5pPr algn="l">
              <a:defRPr sz="1125" b="0">
                <a:solidFill>
                  <a:srgbClr val="505050"/>
                </a:solidFill>
                <a:latin typeface="Arial"/>
                <a:ea typeface="Arial"/>
                <a:cs typeface="Arial"/>
              </a:defRPr>
            </a:lvl5pPr>
            <a:lvl6pPr algn="l">
              <a:defRPr sz="1125" b="0">
                <a:solidFill>
                  <a:srgbClr val="505050"/>
                </a:solidFill>
                <a:latin typeface="Arial"/>
                <a:ea typeface="Arial"/>
                <a:cs typeface="Arial"/>
              </a:defRPr>
            </a:lvl6pPr>
            <a:lvl7pPr algn="l">
              <a:defRPr sz="1125" b="0">
                <a:solidFill>
                  <a:srgbClr val="505050"/>
                </a:solidFill>
                <a:latin typeface="Arial"/>
                <a:ea typeface="Arial"/>
                <a:cs typeface="Arial"/>
              </a:defRPr>
            </a:lvl7pPr>
            <a:lvl8pPr algn="l">
              <a:defRPr sz="1125" b="0">
                <a:solidFill>
                  <a:srgbClr val="505050"/>
                </a:solidFill>
                <a:latin typeface="Arial"/>
                <a:ea typeface="Arial"/>
                <a:cs typeface="Arial"/>
              </a:defRPr>
            </a:lvl8pPr>
            <a:lvl9pPr algn="l">
              <a:defRPr sz="1125" b="0">
                <a:solidFill>
                  <a:srgbClr val="505050"/>
                </a:solidFill>
                <a:latin typeface="Arial"/>
                <a:ea typeface="Arial"/>
                <a:cs typeface="Arial"/>
              </a:defRPr>
            </a:lvl9pPr>
          </a:lstStyle>
          <a:p xmlns:a="http://schemas.openxmlformats.org/drawingml/2006/main">
            <a:pPr algn="l">
              <a:defRPr sz="1125" b="0">
                <a:solidFill>
                  <a:srgbClr val="505050"/>
                </a:solidFill>
                <a:latin typeface="Arial"/>
                <a:ea typeface="Arial"/>
                <a:cs typeface="Arial"/>
              </a:defRPr>
            </a:pPr>
            <a:r>
              <a:rPr sz="1125" b="0">
                <a:solidFill>
                  <a:srgbClr val="505050"/>
                </a:solidFill>
                <a:latin typeface="Arial"/>
                <a:ea typeface="Arial"/>
                <a:cs typeface="Arial"/>
              </a:rPr>
              <a:t>Sources: notebook cell 21, evaluation.py, thesis §§3.6 and 5.4</a:t>
            </a:r>
          </a:p>
        </p:txBody>
      </p:sp>
      <p:sp>
        <p:nvSpPr>
          <p:cNvPr id="7" name="slide-number">
            <a:extLst xmlns:a="http://schemas.openxmlformats.org/drawingml/2006/main">
              <a:ext uri="{FF2B5EF4-FFF2-40B4-BE49-F238E27FC236}">
                <a16:creationId xmlns:a16="http://schemas.microsoft.com/office/drawing/2014/main" id="{8859AB19-692E-483F-A099-683191DEFE76}"/>
              </a:ext>
            </a:extLst>
          </p:cNvPr>
          <p:cNvSpPr>
            <a:spLocks xmlns:a="http://schemas.openxmlformats.org/drawingml/2006/main" noGrp="1"/>
          </p:cNvSpPr>
          <p:nvPr/>
        </p:nvSpPr>
        <p:spPr>
          <a:xfrm xmlns:a="http://schemas.openxmlformats.org/drawingml/2006/main">
            <a:off x="11582400" y="65913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125" b="0">
                <a:solidFill>
                  <a:srgbClr val="505050"/>
                </a:solidFill>
                <a:latin typeface="Arial"/>
                <a:ea typeface="Arial"/>
                <a:cs typeface="Arial"/>
              </a:defRPr>
            </a:defPPr>
            <a:lvl1pPr algn="r">
              <a:defRPr sz="1125" b="0">
                <a:solidFill>
                  <a:srgbClr val="505050"/>
                </a:solidFill>
                <a:latin typeface="Arial"/>
                <a:ea typeface="Arial"/>
                <a:cs typeface="Arial"/>
              </a:defRPr>
            </a:lvl1pPr>
            <a:lvl2pPr algn="r">
              <a:defRPr sz="1125" b="0">
                <a:solidFill>
                  <a:srgbClr val="505050"/>
                </a:solidFill>
                <a:latin typeface="Arial"/>
                <a:ea typeface="Arial"/>
                <a:cs typeface="Arial"/>
              </a:defRPr>
            </a:lvl2pPr>
            <a:lvl3pPr algn="r">
              <a:defRPr sz="1125" b="0">
                <a:solidFill>
                  <a:srgbClr val="505050"/>
                </a:solidFill>
                <a:latin typeface="Arial"/>
                <a:ea typeface="Arial"/>
                <a:cs typeface="Arial"/>
              </a:defRPr>
            </a:lvl3pPr>
            <a:lvl4pPr algn="r">
              <a:defRPr sz="1125" b="0">
                <a:solidFill>
                  <a:srgbClr val="505050"/>
                </a:solidFill>
                <a:latin typeface="Arial"/>
                <a:ea typeface="Arial"/>
                <a:cs typeface="Arial"/>
              </a:defRPr>
            </a:lvl4pPr>
            <a:lvl5pPr algn="r">
              <a:defRPr sz="1125" b="0">
                <a:solidFill>
                  <a:srgbClr val="505050"/>
                </a:solidFill>
                <a:latin typeface="Arial"/>
                <a:ea typeface="Arial"/>
                <a:cs typeface="Arial"/>
              </a:defRPr>
            </a:lvl5pPr>
            <a:lvl6pPr algn="r">
              <a:defRPr sz="1125" b="0">
                <a:solidFill>
                  <a:srgbClr val="505050"/>
                </a:solidFill>
                <a:latin typeface="Arial"/>
                <a:ea typeface="Arial"/>
                <a:cs typeface="Arial"/>
              </a:defRPr>
            </a:lvl6pPr>
            <a:lvl7pPr algn="r">
              <a:defRPr sz="1125" b="0">
                <a:solidFill>
                  <a:srgbClr val="505050"/>
                </a:solidFill>
                <a:latin typeface="Arial"/>
                <a:ea typeface="Arial"/>
                <a:cs typeface="Arial"/>
              </a:defRPr>
            </a:lvl7pPr>
            <a:lvl8pPr algn="r">
              <a:defRPr sz="1125" b="0">
                <a:solidFill>
                  <a:srgbClr val="505050"/>
                </a:solidFill>
                <a:latin typeface="Arial"/>
                <a:ea typeface="Arial"/>
                <a:cs typeface="Arial"/>
              </a:defRPr>
            </a:lvl8pPr>
            <a:lvl9pPr algn="r">
              <a:defRPr sz="1125" b="0">
                <a:solidFill>
                  <a:srgbClr val="505050"/>
                </a:solidFill>
                <a:latin typeface="Arial"/>
                <a:ea typeface="Arial"/>
                <a:cs typeface="Arial"/>
              </a:defRPr>
            </a:lvl9pPr>
          </a:lstStyle>
          <a:p xmlns:a="http://schemas.openxmlformats.org/drawingml/2006/main">
            <a:pPr algn="r">
              <a:defRPr sz="1125" b="0">
                <a:solidFill>
                  <a:srgbClr val="505050"/>
                </a:solidFill>
                <a:latin typeface="Arial"/>
                <a:ea typeface="Arial"/>
                <a:cs typeface="Arial"/>
              </a:defRPr>
            </a:pPr>
            <a:r>
              <a:rPr sz="1125" b="0">
                <a:solidFill>
                  <a:srgbClr val="505050"/>
                </a:solidFill>
                <a:latin typeface="Arial"/>
                <a:ea typeface="Arial"/>
                <a:cs typeface="Arial"/>
              </a:rPr>
              <a:t>31</a:t>
            </a:r>
          </a:p>
        </p:txBody>
      </p:sp>
    </p:spTree>
    <p:extLst>
      <p:ext uri="{BB962C8B-B14F-4D97-AF65-F5344CB8AC3E}">
        <p14:creationId xmlns:p14="http://schemas.microsoft.com/office/powerpoint/2010/main" val="798419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2026-10-21T20:08:47.9950000Z</dcterms:created>
  <dcterms:modified xsi:type="dcterms:W3CDTF">2026-10-21T20:08:47.9950000Z</dcterms:modified>
</coreProperties>
</file>